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Roboto" panose="02000000000000000000" pitchFamily="2" charset="0"/>
      <p:regular r:id="rId20"/>
      <p:bold r:id="rId21"/>
      <p:italic r:id="rId22"/>
      <p:boldItalic r:id="rId23"/>
    </p:embeddedFont>
    <p:embeddedFont>
      <p:font typeface="Roboto Black" panose="02000000000000000000" pitchFamily="2" charset="0"/>
      <p:bold r:id="rId24"/>
      <p:boldItalic r:id="rId25"/>
    </p:embeddedFont>
    <p:embeddedFont>
      <p:font typeface="Tahoma" panose="020B0604030504040204" pitchFamily="3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32272C-1F83-44C2-ACF6-4A252095521D}" v="8" dt="2026-01-03T11:18:30.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1260" y="2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an Biswas" userId="c77a8266-1d41-4303-9339-eb44c05dd8a5" providerId="ADAL" clId="{1EEFAF62-2201-4664-86A3-ECB2CF6C1B28}"/>
    <pc:docChg chg="undo custSel modSld">
      <pc:chgData name="Mohaan Biswas" userId="c77a8266-1d41-4303-9339-eb44c05dd8a5" providerId="ADAL" clId="{1EEFAF62-2201-4664-86A3-ECB2CF6C1B28}" dt="2026-01-03T11:23:05.240" v="82" actId="20577"/>
      <pc:docMkLst>
        <pc:docMk/>
      </pc:docMkLst>
      <pc:sldChg chg="addSp delSp modSp mod">
        <pc:chgData name="Mohaan Biswas" userId="c77a8266-1d41-4303-9339-eb44c05dd8a5" providerId="ADAL" clId="{1EEFAF62-2201-4664-86A3-ECB2CF6C1B28}" dt="2026-01-03T11:19:04.091" v="55" actId="20577"/>
        <pc:sldMkLst>
          <pc:docMk/>
          <pc:sldMk cId="0" sldId="256"/>
        </pc:sldMkLst>
        <pc:spChg chg="add mod">
          <ac:chgData name="Mohaan Biswas" userId="c77a8266-1d41-4303-9339-eb44c05dd8a5" providerId="ADAL" clId="{1EEFAF62-2201-4664-86A3-ECB2CF6C1B28}" dt="2026-01-03T11:18:00.843" v="0"/>
          <ac:spMkLst>
            <pc:docMk/>
            <pc:sldMk cId="0" sldId="256"/>
            <ac:spMk id="2" creationId="{02A7E7A5-3934-D42B-36DA-7F8343E781EF}"/>
          </ac:spMkLst>
        </pc:spChg>
        <pc:spChg chg="add mod">
          <ac:chgData name="Mohaan Biswas" userId="c77a8266-1d41-4303-9339-eb44c05dd8a5" providerId="ADAL" clId="{1EEFAF62-2201-4664-86A3-ECB2CF6C1B28}" dt="2026-01-03T11:18:00.843" v="0"/>
          <ac:spMkLst>
            <pc:docMk/>
            <pc:sldMk cId="0" sldId="256"/>
            <ac:spMk id="3" creationId="{648C692D-5F17-760E-9DCB-F7DAC31D070E}"/>
          </ac:spMkLst>
        </pc:spChg>
        <pc:spChg chg="add del mod">
          <ac:chgData name="Mohaan Biswas" userId="c77a8266-1d41-4303-9339-eb44c05dd8a5" providerId="ADAL" clId="{1EEFAF62-2201-4664-86A3-ECB2CF6C1B28}" dt="2026-01-03T11:18:06.140" v="10" actId="478"/>
          <ac:spMkLst>
            <pc:docMk/>
            <pc:sldMk cId="0" sldId="256"/>
            <ac:spMk id="4" creationId="{FDE177FE-C2F0-A62B-AC5C-C8ECC386ADB3}"/>
          </ac:spMkLst>
        </pc:spChg>
        <pc:spChg chg="add del mod">
          <ac:chgData name="Mohaan Biswas" userId="c77a8266-1d41-4303-9339-eb44c05dd8a5" providerId="ADAL" clId="{1EEFAF62-2201-4664-86A3-ECB2CF6C1B28}" dt="2026-01-03T11:18:13.160" v="12" actId="478"/>
          <ac:spMkLst>
            <pc:docMk/>
            <pc:sldMk cId="0" sldId="256"/>
            <ac:spMk id="5" creationId="{6D6C9FCC-A179-3E7C-348A-335AB83E5625}"/>
          </ac:spMkLst>
        </pc:spChg>
        <pc:spChg chg="add del mod">
          <ac:chgData name="Mohaan Biswas" userId="c77a8266-1d41-4303-9339-eb44c05dd8a5" providerId="ADAL" clId="{1EEFAF62-2201-4664-86A3-ECB2CF6C1B28}" dt="2026-01-03T11:18:22.555" v="18" actId="478"/>
          <ac:spMkLst>
            <pc:docMk/>
            <pc:sldMk cId="0" sldId="256"/>
            <ac:spMk id="6" creationId="{E59C9331-CDCB-9AEF-36D8-F08FD20466C3}"/>
          </ac:spMkLst>
        </pc:spChg>
        <pc:spChg chg="add del mod">
          <ac:chgData name="Mohaan Biswas" userId="c77a8266-1d41-4303-9339-eb44c05dd8a5" providerId="ADAL" clId="{1EEFAF62-2201-4664-86A3-ECB2CF6C1B28}" dt="2026-01-03T11:18:26.749" v="19" actId="478"/>
          <ac:spMkLst>
            <pc:docMk/>
            <pc:sldMk cId="0" sldId="256"/>
            <ac:spMk id="7" creationId="{788B50A8-9819-2420-1623-DD72031DBD7D}"/>
          </ac:spMkLst>
        </pc:spChg>
        <pc:spChg chg="add mod">
          <ac:chgData name="Mohaan Biswas" userId="c77a8266-1d41-4303-9339-eb44c05dd8a5" providerId="ADAL" clId="{1EEFAF62-2201-4664-86A3-ECB2CF6C1B28}" dt="2026-01-03T11:18:29.396" v="20"/>
          <ac:spMkLst>
            <pc:docMk/>
            <pc:sldMk cId="0" sldId="256"/>
            <ac:spMk id="8" creationId="{76CACCD5-E38D-045B-A7A0-582C74DA5E8A}"/>
          </ac:spMkLst>
        </pc:spChg>
        <pc:spChg chg="add mod">
          <ac:chgData name="Mohaan Biswas" userId="c77a8266-1d41-4303-9339-eb44c05dd8a5" providerId="ADAL" clId="{1EEFAF62-2201-4664-86A3-ECB2CF6C1B28}" dt="2026-01-03T11:18:29.396" v="20"/>
          <ac:spMkLst>
            <pc:docMk/>
            <pc:sldMk cId="0" sldId="256"/>
            <ac:spMk id="9" creationId="{7367713F-385D-B39C-295B-A3F642A3399D}"/>
          </ac:spMkLst>
        </pc:spChg>
        <pc:spChg chg="add del mod">
          <ac:chgData name="Mohaan Biswas" userId="c77a8266-1d41-4303-9339-eb44c05dd8a5" providerId="ADAL" clId="{1EEFAF62-2201-4664-86A3-ECB2CF6C1B28}" dt="2026-01-03T11:18:59.427" v="53" actId="1076"/>
          <ac:spMkLst>
            <pc:docMk/>
            <pc:sldMk cId="0" sldId="256"/>
            <ac:spMk id="10" creationId="{76974A41-3DA6-68D9-C0C0-F815678AE24D}"/>
          </ac:spMkLst>
        </pc:spChg>
        <pc:spChg chg="add del mod">
          <ac:chgData name="Mohaan Biswas" userId="c77a8266-1d41-4303-9339-eb44c05dd8a5" providerId="ADAL" clId="{1EEFAF62-2201-4664-86A3-ECB2CF6C1B28}" dt="2026-01-03T11:18:42.839" v="48" actId="478"/>
          <ac:spMkLst>
            <pc:docMk/>
            <pc:sldMk cId="0" sldId="256"/>
            <ac:spMk id="11" creationId="{1620F77F-C53E-382B-65E0-C24BCE596109}"/>
          </ac:spMkLst>
        </pc:spChg>
        <pc:spChg chg="add del">
          <ac:chgData name="Mohaan Biswas" userId="c77a8266-1d41-4303-9339-eb44c05dd8a5" providerId="ADAL" clId="{1EEFAF62-2201-4664-86A3-ECB2CF6C1B28}" dt="2026-01-03T11:18:55.007" v="52" actId="478"/>
          <ac:spMkLst>
            <pc:docMk/>
            <pc:sldMk cId="0" sldId="256"/>
            <ac:spMk id="118" creationId="{00000000-0000-0000-0000-000000000000}"/>
          </ac:spMkLst>
        </pc:spChg>
        <pc:spChg chg="mod">
          <ac:chgData name="Mohaan Biswas" userId="c77a8266-1d41-4303-9339-eb44c05dd8a5" providerId="ADAL" clId="{1EEFAF62-2201-4664-86A3-ECB2CF6C1B28}" dt="2026-01-03T11:19:04.091" v="55" actId="20577"/>
          <ac:spMkLst>
            <pc:docMk/>
            <pc:sldMk cId="0" sldId="256"/>
            <ac:spMk id="119" creationId="{00000000-0000-0000-0000-000000000000}"/>
          </ac:spMkLst>
        </pc:spChg>
      </pc:sldChg>
      <pc:sldChg chg="modSp mod">
        <pc:chgData name="Mohaan Biswas" userId="c77a8266-1d41-4303-9339-eb44c05dd8a5" providerId="ADAL" clId="{1EEFAF62-2201-4664-86A3-ECB2CF6C1B28}" dt="2026-01-03T11:18:18.951" v="16" actId="27636"/>
        <pc:sldMkLst>
          <pc:docMk/>
          <pc:sldMk cId="0" sldId="263"/>
        </pc:sldMkLst>
        <pc:spChg chg="mod">
          <ac:chgData name="Mohaan Biswas" userId="c77a8266-1d41-4303-9339-eb44c05dd8a5" providerId="ADAL" clId="{1EEFAF62-2201-4664-86A3-ECB2CF6C1B28}" dt="2026-01-03T11:18:18.951" v="16" actId="27636"/>
          <ac:spMkLst>
            <pc:docMk/>
            <pc:sldMk cId="0" sldId="263"/>
            <ac:spMk id="190" creationId="{00000000-0000-0000-0000-000000000000}"/>
          </ac:spMkLst>
        </pc:spChg>
      </pc:sldChg>
      <pc:sldChg chg="modSp mod">
        <pc:chgData name="Mohaan Biswas" userId="c77a8266-1d41-4303-9339-eb44c05dd8a5" providerId="ADAL" clId="{1EEFAF62-2201-4664-86A3-ECB2CF6C1B28}" dt="2026-01-03T11:23:05.240" v="82" actId="20577"/>
        <pc:sldMkLst>
          <pc:docMk/>
          <pc:sldMk cId="0" sldId="271"/>
        </pc:sldMkLst>
        <pc:spChg chg="mod">
          <ac:chgData name="Mohaan Biswas" userId="c77a8266-1d41-4303-9339-eb44c05dd8a5" providerId="ADAL" clId="{1EEFAF62-2201-4664-86A3-ECB2CF6C1B28}" dt="2026-01-03T11:23:05.240" v="82" actId="20577"/>
          <ac:spMkLst>
            <pc:docMk/>
            <pc:sldMk cId="0" sldId="271"/>
            <ac:spMk id="25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cb48515506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cb48515506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a4696b6c53_0_5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a4696b6c53_0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a4732bbf2e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g1a4732bbf2e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1a4732bbf2e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a4732bbf2e_0_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g1a4732bbf2e_0_1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Covering letters that create a good first impression are well constructed, don’t contain any spelling mistakes or bad grammar, and support what you are saying in your CV. A good letter makes an employer sit up, take notice and want to read your CV. It will have more of an impact if it shows the employer that you have done your research. This means showing you know what the job involves and what they are looking for in an employee. Your letter will need to convince an employer that you want the job and that you’re the best person for it. </a:t>
            </a:r>
            <a:endParaRPr/>
          </a:p>
          <a:p>
            <a:pPr marL="0" lvl="0" indent="0" algn="l" rtl="0">
              <a:spcBef>
                <a:spcPts val="0"/>
              </a:spcBef>
              <a:spcAft>
                <a:spcPts val="0"/>
              </a:spcAft>
              <a:buNone/>
            </a:pPr>
            <a:endParaRPr/>
          </a:p>
        </p:txBody>
      </p:sp>
      <p:sp>
        <p:nvSpPr>
          <p:cNvPr id="142" name="Google Shape;142;g1a4732bbf2e_0_1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a4732bbf2e_0_3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a4732bbf2e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a4732bbf2e_0_3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a4732bbf2e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a4732bbf2e_0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1a4732bbf2e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1a4732bbf2e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1a4732bbf2e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b="1"/>
              <a:t>Online application forms </a:t>
            </a:r>
            <a:r>
              <a:rPr lang="en-GB"/>
              <a:t>– Explain that if the form is online, draft your application offline first – in a word processing package like Word – and save it to your computer. This way you'll be able to run a spell check before you copy the information into the online system. It also means you'll have a back-up if there's a problem with the form. More and more sites offer the option of storing your application online and coming back to it. If you do this in more than one sitting, keep a record of any usernames and passwords so that you can get back in.</a:t>
            </a:r>
            <a:endParaRPr/>
          </a:p>
          <a:p>
            <a:pPr marL="0" lvl="0" indent="0" algn="l" rtl="0">
              <a:spcBef>
                <a:spcPts val="0"/>
              </a:spcBef>
              <a:spcAft>
                <a:spcPts val="0"/>
              </a:spcAft>
              <a:buNone/>
            </a:pPr>
            <a:endParaRPr/>
          </a:p>
          <a:p>
            <a:pPr marL="0" lvl="0" indent="0" algn="l" rtl="0">
              <a:spcBef>
                <a:spcPts val="0"/>
              </a:spcBef>
              <a:spcAft>
                <a:spcPts val="0"/>
              </a:spcAft>
              <a:buNone/>
            </a:pPr>
            <a:r>
              <a:rPr lang="en-GB" b="1"/>
              <a:t>Paper based -</a:t>
            </a:r>
            <a:r>
              <a:rPr lang="en-GB"/>
              <a:t>If you’re filling in a form by hand, write as neatly as you can in black ink. Use block capital letters if the form asks you to.</a:t>
            </a:r>
            <a:endParaRPr/>
          </a:p>
          <a:p>
            <a:pPr marL="0" lvl="0" indent="0" algn="l" rtl="0">
              <a:spcBef>
                <a:spcPts val="0"/>
              </a:spcBef>
              <a:spcAft>
                <a:spcPts val="0"/>
              </a:spcAft>
              <a:buNone/>
            </a:pPr>
            <a:r>
              <a:rPr lang="en-GB"/>
              <a:t>A good way to avoid mistakes and crossings-out on the final form is to photocopy the original and practice filling in this copy first. Take care of the original form – don’t spill anything on it or leave it in your bag to get creased!</a:t>
            </a:r>
            <a:endParaRPr/>
          </a:p>
          <a:p>
            <a:pPr marL="0" lvl="0" indent="0" algn="l" rtl="0">
              <a:spcBef>
                <a:spcPts val="0"/>
              </a:spcBef>
              <a:spcAft>
                <a:spcPts val="0"/>
              </a:spcAft>
              <a:buNone/>
            </a:pPr>
            <a:endParaRPr b="1"/>
          </a:p>
          <a:p>
            <a:pPr marL="0" lvl="0" indent="0" algn="l" rtl="0">
              <a:spcBef>
                <a:spcPts val="0"/>
              </a:spcBef>
              <a:spcAft>
                <a:spcPts val="0"/>
              </a:spcAft>
              <a:buNone/>
            </a:pPr>
            <a:endParaRPr/>
          </a:p>
        </p:txBody>
      </p:sp>
      <p:sp>
        <p:nvSpPr>
          <p:cNvPr id="194" name="Google Shape;194;g1a4732bbf2e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a4732bbf2e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1a4732bbf2e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4" name="Google Shape;204;g1a4732bbf2e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a4732bbf2e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g1a4732bbf2e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 person specification is written by the employer and outlines the type of person the firm wants. It might contain the educational qualifications, previous experience, general intelligence, specialised skills, interests and personality. The person specification is used to match the right person to the job and describes the desirable personal attributes of the job holder. </a:t>
            </a:r>
            <a:endParaRPr/>
          </a:p>
          <a:p>
            <a:pPr marL="0" lvl="0" indent="0" algn="l" rtl="0">
              <a:spcBef>
                <a:spcPts val="0"/>
              </a:spcBef>
              <a:spcAft>
                <a:spcPts val="0"/>
              </a:spcAft>
              <a:buNone/>
            </a:pPr>
            <a:endParaRPr/>
          </a:p>
          <a:p>
            <a:pPr marL="0" lvl="0" indent="0" algn="l" rtl="0">
              <a:spcBef>
                <a:spcPts val="0"/>
              </a:spcBef>
              <a:spcAft>
                <a:spcPts val="0"/>
              </a:spcAft>
              <a:buNone/>
            </a:pPr>
            <a:r>
              <a:rPr lang="en-GB"/>
              <a:t>It is extremely important that you read the person specification before writing the application and think about how you match the skills that they are requesting. Try to give as many positive examples as possible in the additional section where it states “additional information” or “please give your reasons for applying for the job”</a:t>
            </a:r>
            <a:endParaRPr/>
          </a:p>
          <a:p>
            <a:pPr marL="0" lvl="0" indent="0" algn="l" rtl="0">
              <a:spcBef>
                <a:spcPts val="0"/>
              </a:spcBef>
              <a:spcAft>
                <a:spcPts val="0"/>
              </a:spcAft>
              <a:buNone/>
            </a:pPr>
            <a:endParaRPr/>
          </a:p>
          <a:p>
            <a:pPr marL="0" lvl="0" indent="0" algn="l" rtl="0">
              <a:spcBef>
                <a:spcPts val="0"/>
              </a:spcBef>
              <a:spcAft>
                <a:spcPts val="0"/>
              </a:spcAft>
              <a:buNone/>
            </a:pPr>
            <a:r>
              <a:rPr lang="en-GB"/>
              <a:t>If you not mention that you match this criteria in your application form, you will not be shortlisted and invited for interview.</a:t>
            </a:r>
            <a:endParaRPr/>
          </a:p>
          <a:p>
            <a:pPr marL="0" lvl="0" indent="0" algn="l" rtl="0">
              <a:spcBef>
                <a:spcPts val="0"/>
              </a:spcBef>
              <a:spcAft>
                <a:spcPts val="0"/>
              </a:spcAft>
              <a:buNone/>
            </a:pPr>
            <a:endParaRPr/>
          </a:p>
        </p:txBody>
      </p:sp>
      <p:sp>
        <p:nvSpPr>
          <p:cNvPr id="219" name="Google Shape;219;g1a4732bbf2e_0_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a4732bbf2e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1a4732bbf2e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g1a4732bbf2e_0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a4732bbf2e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1a4732bbf2e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When providing examples of skills, whether that be on a CV or in a job interview, using STAR will help to ensure that enough information is provided to give the employer a clear picture of how skills have been used/developed in the past. </a:t>
            </a:r>
            <a:endParaRPr/>
          </a:p>
          <a:p>
            <a:pPr marL="0" lvl="0" indent="0" algn="l" rtl="0">
              <a:spcBef>
                <a:spcPts val="0"/>
              </a:spcBef>
              <a:spcAft>
                <a:spcPts val="0"/>
              </a:spcAft>
              <a:buNone/>
            </a:pPr>
            <a:endParaRPr/>
          </a:p>
        </p:txBody>
      </p:sp>
      <p:sp>
        <p:nvSpPr>
          <p:cNvPr id="234" name="Google Shape;234;g1a4732bbf2e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a4732bbf2e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1a4732bbf2e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a4732bbf2e_0_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1a4732bbf2e_0_1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g1a4732bbf2e_0_1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a470bea11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a470bea11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1a470bea11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g1a470bea11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obj">
  <p:cSld name="OBJECT">
    <p:bg>
      <p:bgPr>
        <a:solidFill>
          <a:schemeClr val="lt1"/>
        </a:solidFill>
        <a:effectLst/>
      </p:bgPr>
    </p:bg>
    <p:spTree>
      <p:nvGrpSpPr>
        <p:cNvPr id="1" name="Shape 81"/>
        <p:cNvGrpSpPr/>
        <p:nvPr/>
      </p:nvGrpSpPr>
      <p:grpSpPr>
        <a:xfrm>
          <a:off x="0" y="0"/>
          <a:ext cx="0" cy="0"/>
          <a:chOff x="0" y="0"/>
          <a:chExt cx="0" cy="0"/>
        </a:xfrm>
      </p:grpSpPr>
      <p:sp>
        <p:nvSpPr>
          <p:cNvPr id="82" name="Google Shape;82;p13"/>
          <p:cNvSpPr/>
          <p:nvPr/>
        </p:nvSpPr>
        <p:spPr>
          <a:xfrm>
            <a:off x="0" y="4750879"/>
            <a:ext cx="9144000" cy="49529"/>
          </a:xfrm>
          <a:custGeom>
            <a:avLst/>
            <a:gdLst/>
            <a:ahLst/>
            <a:cxnLst/>
            <a:rect l="l" t="t" r="r" b="b"/>
            <a:pathLst>
              <a:path w="9144000" h="66039" extrusionOk="0">
                <a:moveTo>
                  <a:pt x="9144000" y="0"/>
                </a:moveTo>
                <a:lnTo>
                  <a:pt x="0" y="0"/>
                </a:lnTo>
                <a:lnTo>
                  <a:pt x="0" y="65532"/>
                </a:lnTo>
                <a:lnTo>
                  <a:pt x="9144000" y="65532"/>
                </a:lnTo>
                <a:lnTo>
                  <a:pt x="9144000" y="0"/>
                </a:lnTo>
                <a:close/>
              </a:path>
            </a:pathLst>
          </a:custGeom>
          <a:solidFill>
            <a:srgbClr val="58585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3" name="Google Shape;83;p13"/>
          <p:cNvSpPr/>
          <p:nvPr/>
        </p:nvSpPr>
        <p:spPr>
          <a:xfrm>
            <a:off x="895350" y="1303592"/>
            <a:ext cx="7475220" cy="0"/>
          </a:xfrm>
          <a:custGeom>
            <a:avLst/>
            <a:gdLst/>
            <a:ahLst/>
            <a:cxnLst/>
            <a:rect l="l" t="t" r="r" b="b"/>
            <a:pathLst>
              <a:path w="7475220" h="120000" extrusionOk="0">
                <a:moveTo>
                  <a:pt x="0" y="0"/>
                </a:moveTo>
                <a:lnTo>
                  <a:pt x="7475220" y="0"/>
                </a:lnTo>
              </a:path>
            </a:pathLst>
          </a:custGeom>
          <a:noFill/>
          <a:ln w="9525"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4" name="Google Shape;84;p13"/>
          <p:cNvSpPr/>
          <p:nvPr/>
        </p:nvSpPr>
        <p:spPr>
          <a:xfrm>
            <a:off x="2286" y="4800600"/>
            <a:ext cx="9142095" cy="342900"/>
          </a:xfrm>
          <a:custGeom>
            <a:avLst/>
            <a:gdLst/>
            <a:ahLst/>
            <a:cxnLst/>
            <a:rect l="l" t="t" r="r" b="b"/>
            <a:pathLst>
              <a:path w="9142095" h="457200" extrusionOk="0">
                <a:moveTo>
                  <a:pt x="9141714" y="0"/>
                </a:moveTo>
                <a:lnTo>
                  <a:pt x="0" y="0"/>
                </a:lnTo>
                <a:lnTo>
                  <a:pt x="0" y="457200"/>
                </a:lnTo>
                <a:lnTo>
                  <a:pt x="9141714" y="457200"/>
                </a:lnTo>
                <a:lnTo>
                  <a:pt x="9141714" y="0"/>
                </a:lnTo>
                <a:close/>
              </a:path>
            </a:pathLst>
          </a:custGeom>
          <a:solidFill>
            <a:srgbClr val="001F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5" name="Google Shape;85;p13"/>
          <p:cNvSpPr/>
          <p:nvPr/>
        </p:nvSpPr>
        <p:spPr>
          <a:xfrm>
            <a:off x="906017" y="3257550"/>
            <a:ext cx="7406640" cy="0"/>
          </a:xfrm>
          <a:custGeom>
            <a:avLst/>
            <a:gdLst/>
            <a:ahLst/>
            <a:cxnLst/>
            <a:rect l="l" t="t" r="r" b="b"/>
            <a:pathLst>
              <a:path w="7406640" h="120000" extrusionOk="0">
                <a:moveTo>
                  <a:pt x="0" y="0"/>
                </a:moveTo>
                <a:lnTo>
                  <a:pt x="7406640" y="0"/>
                </a:lnTo>
              </a:path>
            </a:pathLst>
          </a:custGeom>
          <a:noFill/>
          <a:ln w="9525"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6" name="Google Shape;86;p13"/>
          <p:cNvSpPr txBox="1">
            <a:spLocks noGrp="1"/>
          </p:cNvSpPr>
          <p:nvPr>
            <p:ph type="ctrTitle"/>
          </p:nvPr>
        </p:nvSpPr>
        <p:spPr>
          <a:xfrm>
            <a:off x="901700" y="1981580"/>
            <a:ext cx="4672200" cy="9336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3000"/>
              <a:buNone/>
              <a:defRPr sz="8000" b="0" i="0">
                <a:solidFill>
                  <a:srgbClr val="252525"/>
                </a:solidFill>
                <a:latin typeface="Calibri"/>
                <a:ea typeface="Calibri"/>
                <a:cs typeface="Calibri"/>
                <a:sym typeface="Calibri"/>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7" name="Google Shape;87;p13"/>
          <p:cNvSpPr txBox="1">
            <a:spLocks noGrp="1"/>
          </p:cNvSpPr>
          <p:nvPr>
            <p:ph type="subTitle" idx="1"/>
          </p:nvPr>
        </p:nvSpPr>
        <p:spPr>
          <a:xfrm>
            <a:off x="901700" y="2721698"/>
            <a:ext cx="6346800" cy="8964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800"/>
              <a:buNone/>
              <a:defRPr sz="2700" b="0" i="0">
                <a:solidFill>
                  <a:srgbClr val="252525"/>
                </a:solidFill>
                <a:latin typeface="Calibri"/>
                <a:ea typeface="Calibri"/>
                <a:cs typeface="Calibri"/>
                <a:sym typeface="Calibri"/>
              </a:defRPr>
            </a:lvl1pPr>
            <a:lvl2pPr lvl="1" algn="l" rtl="0">
              <a:spcBef>
                <a:spcPts val="1200"/>
              </a:spcBef>
              <a:spcAft>
                <a:spcPts val="0"/>
              </a:spcAft>
              <a:buSzPts val="1400"/>
              <a:buNone/>
              <a:defRPr/>
            </a:lvl2pPr>
            <a:lvl3pPr lvl="2" algn="l" rtl="0">
              <a:spcBef>
                <a:spcPts val="1200"/>
              </a:spcBef>
              <a:spcAft>
                <a:spcPts val="0"/>
              </a:spcAft>
              <a:buSzPts val="1400"/>
              <a:buNone/>
              <a:defRPr/>
            </a:lvl3pPr>
            <a:lvl4pPr lvl="3" algn="l" rtl="0">
              <a:spcBef>
                <a:spcPts val="1200"/>
              </a:spcBef>
              <a:spcAft>
                <a:spcPts val="0"/>
              </a:spcAft>
              <a:buSzPts val="1400"/>
              <a:buNone/>
              <a:defRPr/>
            </a:lvl4pPr>
            <a:lvl5pPr lvl="4" algn="l" rtl="0">
              <a:spcBef>
                <a:spcPts val="1200"/>
              </a:spcBef>
              <a:spcAft>
                <a:spcPts val="0"/>
              </a:spcAft>
              <a:buSzPts val="1400"/>
              <a:buNone/>
              <a:defRPr/>
            </a:lvl5pPr>
            <a:lvl6pPr lvl="5" algn="l" rtl="0">
              <a:spcBef>
                <a:spcPts val="1200"/>
              </a:spcBef>
              <a:spcAft>
                <a:spcPts val="0"/>
              </a:spcAft>
              <a:buSzPts val="1400"/>
              <a:buNone/>
              <a:defRPr/>
            </a:lvl6pPr>
            <a:lvl7pPr lvl="6" algn="l" rtl="0">
              <a:spcBef>
                <a:spcPts val="1200"/>
              </a:spcBef>
              <a:spcAft>
                <a:spcPts val="0"/>
              </a:spcAft>
              <a:buSzPts val="1400"/>
              <a:buNone/>
              <a:defRPr/>
            </a:lvl7pPr>
            <a:lvl8pPr lvl="7" algn="l" rtl="0">
              <a:spcBef>
                <a:spcPts val="1200"/>
              </a:spcBef>
              <a:spcAft>
                <a:spcPts val="0"/>
              </a:spcAft>
              <a:buSzPts val="1400"/>
              <a:buNone/>
              <a:defRPr/>
            </a:lvl8pPr>
            <a:lvl9pPr lvl="8" algn="l" rtl="0">
              <a:spcBef>
                <a:spcPts val="1200"/>
              </a:spcBef>
              <a:spcAft>
                <a:spcPts val="1200"/>
              </a:spcAft>
              <a:buSzPts val="1400"/>
              <a:buNone/>
              <a:defRPr/>
            </a:lvl9pPr>
          </a:lstStyle>
          <a:p>
            <a:endParaRPr/>
          </a:p>
        </p:txBody>
      </p:sp>
      <p:sp>
        <p:nvSpPr>
          <p:cNvPr id="88" name="Google Shape;88;p13"/>
          <p:cNvSpPr txBox="1">
            <a:spLocks noGrp="1"/>
          </p:cNvSpPr>
          <p:nvPr>
            <p:ph type="ftr" idx="11"/>
          </p:nvPr>
        </p:nvSpPr>
        <p:spPr>
          <a:xfrm>
            <a:off x="4144009" y="4983956"/>
            <a:ext cx="858600" cy="105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900" b="0" i="0">
                <a:solidFill>
                  <a:schemeClr val="lt1"/>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 name="Google Shape;89;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8143747" y="4931330"/>
            <a:ext cx="212100" cy="1617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050" b="0" i="0">
                <a:solidFill>
                  <a:schemeClr val="lt1"/>
                </a:solidFill>
                <a:latin typeface="Calibri"/>
                <a:ea typeface="Calibri"/>
                <a:cs typeface="Calibri"/>
                <a:sym typeface="Calibri"/>
              </a:defRPr>
            </a:lvl1pPr>
            <a:lvl2pPr marL="38100" marR="0" lvl="1" indent="0" algn="l" rtl="0">
              <a:lnSpc>
                <a:spcPct val="100000"/>
              </a:lnSpc>
              <a:spcBef>
                <a:spcPts val="0"/>
              </a:spcBef>
              <a:buNone/>
              <a:defRPr sz="1050" b="0" i="0">
                <a:solidFill>
                  <a:schemeClr val="lt1"/>
                </a:solidFill>
                <a:latin typeface="Calibri"/>
                <a:ea typeface="Calibri"/>
                <a:cs typeface="Calibri"/>
                <a:sym typeface="Calibri"/>
              </a:defRPr>
            </a:lvl2pPr>
            <a:lvl3pPr marL="38100" marR="0" lvl="2" indent="0" algn="l" rtl="0">
              <a:lnSpc>
                <a:spcPct val="100000"/>
              </a:lnSpc>
              <a:spcBef>
                <a:spcPts val="0"/>
              </a:spcBef>
              <a:buNone/>
              <a:defRPr sz="1050" b="0" i="0">
                <a:solidFill>
                  <a:schemeClr val="lt1"/>
                </a:solidFill>
                <a:latin typeface="Calibri"/>
                <a:ea typeface="Calibri"/>
                <a:cs typeface="Calibri"/>
                <a:sym typeface="Calibri"/>
              </a:defRPr>
            </a:lvl3pPr>
            <a:lvl4pPr marL="38100" marR="0" lvl="3" indent="0" algn="l" rtl="0">
              <a:lnSpc>
                <a:spcPct val="100000"/>
              </a:lnSpc>
              <a:spcBef>
                <a:spcPts val="0"/>
              </a:spcBef>
              <a:buNone/>
              <a:defRPr sz="1050" b="0" i="0">
                <a:solidFill>
                  <a:schemeClr val="lt1"/>
                </a:solidFill>
                <a:latin typeface="Calibri"/>
                <a:ea typeface="Calibri"/>
                <a:cs typeface="Calibri"/>
                <a:sym typeface="Calibri"/>
              </a:defRPr>
            </a:lvl4pPr>
            <a:lvl5pPr marL="38100" marR="0" lvl="4" indent="0" algn="l" rtl="0">
              <a:lnSpc>
                <a:spcPct val="100000"/>
              </a:lnSpc>
              <a:spcBef>
                <a:spcPts val="0"/>
              </a:spcBef>
              <a:buNone/>
              <a:defRPr sz="1050" b="0" i="0">
                <a:solidFill>
                  <a:schemeClr val="lt1"/>
                </a:solidFill>
                <a:latin typeface="Calibri"/>
                <a:ea typeface="Calibri"/>
                <a:cs typeface="Calibri"/>
                <a:sym typeface="Calibri"/>
              </a:defRPr>
            </a:lvl5pPr>
            <a:lvl6pPr marL="38100" marR="0" lvl="5" indent="0" algn="l" rtl="0">
              <a:lnSpc>
                <a:spcPct val="100000"/>
              </a:lnSpc>
              <a:spcBef>
                <a:spcPts val="0"/>
              </a:spcBef>
              <a:buNone/>
              <a:defRPr sz="1050" b="0" i="0">
                <a:solidFill>
                  <a:schemeClr val="lt1"/>
                </a:solidFill>
                <a:latin typeface="Calibri"/>
                <a:ea typeface="Calibri"/>
                <a:cs typeface="Calibri"/>
                <a:sym typeface="Calibri"/>
              </a:defRPr>
            </a:lvl6pPr>
            <a:lvl7pPr marL="38100" marR="0" lvl="6" indent="0" algn="l" rtl="0">
              <a:lnSpc>
                <a:spcPct val="100000"/>
              </a:lnSpc>
              <a:spcBef>
                <a:spcPts val="0"/>
              </a:spcBef>
              <a:buNone/>
              <a:defRPr sz="1050" b="0" i="0">
                <a:solidFill>
                  <a:schemeClr val="lt1"/>
                </a:solidFill>
                <a:latin typeface="Calibri"/>
                <a:ea typeface="Calibri"/>
                <a:cs typeface="Calibri"/>
                <a:sym typeface="Calibri"/>
              </a:defRPr>
            </a:lvl7pPr>
            <a:lvl8pPr marL="38100" marR="0" lvl="7" indent="0" algn="l" rtl="0">
              <a:lnSpc>
                <a:spcPct val="100000"/>
              </a:lnSpc>
              <a:spcBef>
                <a:spcPts val="0"/>
              </a:spcBef>
              <a:buNone/>
              <a:defRPr sz="1050" b="0" i="0">
                <a:solidFill>
                  <a:schemeClr val="lt1"/>
                </a:solidFill>
                <a:latin typeface="Calibri"/>
                <a:ea typeface="Calibri"/>
                <a:cs typeface="Calibri"/>
                <a:sym typeface="Calibri"/>
              </a:defRPr>
            </a:lvl8pPr>
            <a:lvl9pPr marL="38100" marR="0" lvl="8" indent="0" algn="l" rtl="0">
              <a:lnSpc>
                <a:spcPct val="100000"/>
              </a:lnSpc>
              <a:spcBef>
                <a:spcPts val="0"/>
              </a:spcBef>
              <a:buNone/>
              <a:defRPr sz="1050" b="0" i="0">
                <a:solidFill>
                  <a:schemeClr val="lt1"/>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sz="1000">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60729" y="695135"/>
            <a:ext cx="7622400" cy="5682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3000"/>
              <a:buNone/>
              <a:defRPr sz="4800" b="0" i="0" u="sng">
                <a:solidFill>
                  <a:schemeClr val="dk1"/>
                </a:solidFill>
                <a:latin typeface="Calibri"/>
                <a:ea typeface="Calibri"/>
                <a:cs typeface="Calibri"/>
                <a:sym typeface="Calibri"/>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3" name="Google Shape;93;p14"/>
          <p:cNvSpPr txBox="1">
            <a:spLocks noGrp="1"/>
          </p:cNvSpPr>
          <p:nvPr>
            <p:ph type="body" idx="1"/>
          </p:nvPr>
        </p:nvSpPr>
        <p:spPr>
          <a:xfrm>
            <a:off x="810259" y="1363789"/>
            <a:ext cx="7446000" cy="19203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800"/>
              <a:buNone/>
              <a:defRPr sz="2600" b="0" i="0">
                <a:solidFill>
                  <a:schemeClr val="dk1"/>
                </a:solidFill>
                <a:latin typeface="Calibri"/>
                <a:ea typeface="Calibri"/>
                <a:cs typeface="Calibri"/>
                <a:sym typeface="Calibri"/>
              </a:defRPr>
            </a:lvl1pPr>
            <a:lvl2pPr marL="914400" lvl="1" indent="-228600" algn="l" rtl="0">
              <a:spcBef>
                <a:spcPts val="1200"/>
              </a:spcBef>
              <a:spcAft>
                <a:spcPts val="0"/>
              </a:spcAft>
              <a:buSzPts val="1400"/>
              <a:buNone/>
              <a:defRPr/>
            </a:lvl2pPr>
            <a:lvl3pPr marL="1371600" lvl="2" indent="-228600" algn="l" rtl="0">
              <a:spcBef>
                <a:spcPts val="1200"/>
              </a:spcBef>
              <a:spcAft>
                <a:spcPts val="0"/>
              </a:spcAft>
              <a:buSzPts val="1400"/>
              <a:buNone/>
              <a:defRPr/>
            </a:lvl3pPr>
            <a:lvl4pPr marL="1828800" lvl="3" indent="-228600" algn="l" rtl="0">
              <a:spcBef>
                <a:spcPts val="1200"/>
              </a:spcBef>
              <a:spcAft>
                <a:spcPts val="0"/>
              </a:spcAft>
              <a:buSzPts val="1400"/>
              <a:buNone/>
              <a:defRPr/>
            </a:lvl4pPr>
            <a:lvl5pPr marL="2286000" lvl="4" indent="-228600" algn="l" rtl="0">
              <a:spcBef>
                <a:spcPts val="1200"/>
              </a:spcBef>
              <a:spcAft>
                <a:spcPts val="0"/>
              </a:spcAft>
              <a:buSzPts val="1400"/>
              <a:buNone/>
              <a:defRPr/>
            </a:lvl5pPr>
            <a:lvl6pPr marL="2743200" lvl="5" indent="-228600" algn="l" rtl="0">
              <a:spcBef>
                <a:spcPts val="1200"/>
              </a:spcBef>
              <a:spcAft>
                <a:spcPts val="0"/>
              </a:spcAft>
              <a:buSzPts val="1400"/>
              <a:buNone/>
              <a:defRPr/>
            </a:lvl6pPr>
            <a:lvl7pPr marL="3200400" lvl="6" indent="-228600" algn="l" rtl="0">
              <a:spcBef>
                <a:spcPts val="1200"/>
              </a:spcBef>
              <a:spcAft>
                <a:spcPts val="0"/>
              </a:spcAft>
              <a:buSzPts val="1400"/>
              <a:buNone/>
              <a:defRPr/>
            </a:lvl7pPr>
            <a:lvl8pPr marL="3657600" lvl="7" indent="-228600" algn="l" rtl="0">
              <a:spcBef>
                <a:spcPts val="1200"/>
              </a:spcBef>
              <a:spcAft>
                <a:spcPts val="0"/>
              </a:spcAft>
              <a:buSzPts val="1400"/>
              <a:buNone/>
              <a:defRPr/>
            </a:lvl8pPr>
            <a:lvl9pPr marL="4114800" lvl="8" indent="-228600" algn="l" rtl="0">
              <a:spcBef>
                <a:spcPts val="1200"/>
              </a:spcBef>
              <a:spcAft>
                <a:spcPts val="1200"/>
              </a:spcAft>
              <a:buSzPts val="1400"/>
              <a:buNone/>
              <a:defRPr/>
            </a:lvl9pPr>
          </a:lstStyle>
          <a:p>
            <a:endParaRPr/>
          </a:p>
        </p:txBody>
      </p:sp>
      <p:sp>
        <p:nvSpPr>
          <p:cNvPr id="94" name="Google Shape;94;p14"/>
          <p:cNvSpPr txBox="1">
            <a:spLocks noGrp="1"/>
          </p:cNvSpPr>
          <p:nvPr>
            <p:ph type="ftr" idx="11"/>
          </p:nvPr>
        </p:nvSpPr>
        <p:spPr>
          <a:xfrm>
            <a:off x="4144009" y="4983956"/>
            <a:ext cx="858600" cy="105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900" b="0" i="0">
                <a:solidFill>
                  <a:schemeClr val="lt1"/>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 name="Google Shape;95;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 name="Google Shape;96;p14"/>
          <p:cNvSpPr txBox="1">
            <a:spLocks noGrp="1"/>
          </p:cNvSpPr>
          <p:nvPr>
            <p:ph type="sldNum" idx="12"/>
          </p:nvPr>
        </p:nvSpPr>
        <p:spPr>
          <a:xfrm>
            <a:off x="8143747" y="4931330"/>
            <a:ext cx="212100" cy="1617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050" b="0" i="0">
                <a:solidFill>
                  <a:schemeClr val="lt1"/>
                </a:solidFill>
                <a:latin typeface="Calibri"/>
                <a:ea typeface="Calibri"/>
                <a:cs typeface="Calibri"/>
                <a:sym typeface="Calibri"/>
              </a:defRPr>
            </a:lvl1pPr>
            <a:lvl2pPr marL="38100" marR="0" lvl="1" indent="0" algn="l" rtl="0">
              <a:lnSpc>
                <a:spcPct val="100000"/>
              </a:lnSpc>
              <a:spcBef>
                <a:spcPts val="0"/>
              </a:spcBef>
              <a:buNone/>
              <a:defRPr sz="1050" b="0" i="0">
                <a:solidFill>
                  <a:schemeClr val="lt1"/>
                </a:solidFill>
                <a:latin typeface="Calibri"/>
                <a:ea typeface="Calibri"/>
                <a:cs typeface="Calibri"/>
                <a:sym typeface="Calibri"/>
              </a:defRPr>
            </a:lvl2pPr>
            <a:lvl3pPr marL="38100" marR="0" lvl="2" indent="0" algn="l" rtl="0">
              <a:lnSpc>
                <a:spcPct val="100000"/>
              </a:lnSpc>
              <a:spcBef>
                <a:spcPts val="0"/>
              </a:spcBef>
              <a:buNone/>
              <a:defRPr sz="1050" b="0" i="0">
                <a:solidFill>
                  <a:schemeClr val="lt1"/>
                </a:solidFill>
                <a:latin typeface="Calibri"/>
                <a:ea typeface="Calibri"/>
                <a:cs typeface="Calibri"/>
                <a:sym typeface="Calibri"/>
              </a:defRPr>
            </a:lvl3pPr>
            <a:lvl4pPr marL="38100" marR="0" lvl="3" indent="0" algn="l" rtl="0">
              <a:lnSpc>
                <a:spcPct val="100000"/>
              </a:lnSpc>
              <a:spcBef>
                <a:spcPts val="0"/>
              </a:spcBef>
              <a:buNone/>
              <a:defRPr sz="1050" b="0" i="0">
                <a:solidFill>
                  <a:schemeClr val="lt1"/>
                </a:solidFill>
                <a:latin typeface="Calibri"/>
                <a:ea typeface="Calibri"/>
                <a:cs typeface="Calibri"/>
                <a:sym typeface="Calibri"/>
              </a:defRPr>
            </a:lvl4pPr>
            <a:lvl5pPr marL="38100" marR="0" lvl="4" indent="0" algn="l" rtl="0">
              <a:lnSpc>
                <a:spcPct val="100000"/>
              </a:lnSpc>
              <a:spcBef>
                <a:spcPts val="0"/>
              </a:spcBef>
              <a:buNone/>
              <a:defRPr sz="1050" b="0" i="0">
                <a:solidFill>
                  <a:schemeClr val="lt1"/>
                </a:solidFill>
                <a:latin typeface="Calibri"/>
                <a:ea typeface="Calibri"/>
                <a:cs typeface="Calibri"/>
                <a:sym typeface="Calibri"/>
              </a:defRPr>
            </a:lvl5pPr>
            <a:lvl6pPr marL="38100" marR="0" lvl="5" indent="0" algn="l" rtl="0">
              <a:lnSpc>
                <a:spcPct val="100000"/>
              </a:lnSpc>
              <a:spcBef>
                <a:spcPts val="0"/>
              </a:spcBef>
              <a:buNone/>
              <a:defRPr sz="1050" b="0" i="0">
                <a:solidFill>
                  <a:schemeClr val="lt1"/>
                </a:solidFill>
                <a:latin typeface="Calibri"/>
                <a:ea typeface="Calibri"/>
                <a:cs typeface="Calibri"/>
                <a:sym typeface="Calibri"/>
              </a:defRPr>
            </a:lvl6pPr>
            <a:lvl7pPr marL="38100" marR="0" lvl="6" indent="0" algn="l" rtl="0">
              <a:lnSpc>
                <a:spcPct val="100000"/>
              </a:lnSpc>
              <a:spcBef>
                <a:spcPts val="0"/>
              </a:spcBef>
              <a:buNone/>
              <a:defRPr sz="1050" b="0" i="0">
                <a:solidFill>
                  <a:schemeClr val="lt1"/>
                </a:solidFill>
                <a:latin typeface="Calibri"/>
                <a:ea typeface="Calibri"/>
                <a:cs typeface="Calibri"/>
                <a:sym typeface="Calibri"/>
              </a:defRPr>
            </a:lvl7pPr>
            <a:lvl8pPr marL="38100" marR="0" lvl="7" indent="0" algn="l" rtl="0">
              <a:lnSpc>
                <a:spcPct val="100000"/>
              </a:lnSpc>
              <a:spcBef>
                <a:spcPts val="0"/>
              </a:spcBef>
              <a:buNone/>
              <a:defRPr sz="1050" b="0" i="0">
                <a:solidFill>
                  <a:schemeClr val="lt1"/>
                </a:solidFill>
                <a:latin typeface="Calibri"/>
                <a:ea typeface="Calibri"/>
                <a:cs typeface="Calibri"/>
                <a:sym typeface="Calibri"/>
              </a:defRPr>
            </a:lvl8pPr>
            <a:lvl9pPr marL="38100" marR="0" lvl="8" indent="0" algn="l" rtl="0">
              <a:lnSpc>
                <a:spcPct val="100000"/>
              </a:lnSpc>
              <a:spcBef>
                <a:spcPts val="0"/>
              </a:spcBef>
              <a:buNone/>
              <a:defRPr sz="1050" b="0" i="0">
                <a:solidFill>
                  <a:schemeClr val="lt1"/>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sz="1000">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lank 1">
  <p:cSld name="Blank">
    <p:bg>
      <p:bgPr>
        <a:solidFill>
          <a:schemeClr val="lt1"/>
        </a:solidFill>
        <a:effectLst/>
      </p:bgPr>
    </p:bg>
    <p:spTree>
      <p:nvGrpSpPr>
        <p:cNvPr id="1" name="Shape 97"/>
        <p:cNvGrpSpPr/>
        <p:nvPr/>
      </p:nvGrpSpPr>
      <p:grpSpPr>
        <a:xfrm>
          <a:off x="0" y="0"/>
          <a:ext cx="0" cy="0"/>
          <a:chOff x="0" y="0"/>
          <a:chExt cx="0" cy="0"/>
        </a:xfrm>
      </p:grpSpPr>
      <p:sp>
        <p:nvSpPr>
          <p:cNvPr id="98" name="Google Shape;98;p15"/>
          <p:cNvSpPr txBox="1">
            <a:spLocks noGrp="1"/>
          </p:cNvSpPr>
          <p:nvPr>
            <p:ph type="ftr" idx="11"/>
          </p:nvPr>
        </p:nvSpPr>
        <p:spPr>
          <a:xfrm>
            <a:off x="4144009" y="4983956"/>
            <a:ext cx="858600" cy="105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900" b="0" i="0">
                <a:solidFill>
                  <a:schemeClr val="lt1"/>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 name="Google Shape;99;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 name="Google Shape;100;p15"/>
          <p:cNvSpPr txBox="1">
            <a:spLocks noGrp="1"/>
          </p:cNvSpPr>
          <p:nvPr>
            <p:ph type="sldNum" idx="12"/>
          </p:nvPr>
        </p:nvSpPr>
        <p:spPr>
          <a:xfrm>
            <a:off x="8143747" y="4931330"/>
            <a:ext cx="212100" cy="1617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050" b="0" i="0">
                <a:solidFill>
                  <a:schemeClr val="lt1"/>
                </a:solidFill>
                <a:latin typeface="Calibri"/>
                <a:ea typeface="Calibri"/>
                <a:cs typeface="Calibri"/>
                <a:sym typeface="Calibri"/>
              </a:defRPr>
            </a:lvl1pPr>
            <a:lvl2pPr marL="38100" marR="0" lvl="1" indent="0" algn="l" rtl="0">
              <a:lnSpc>
                <a:spcPct val="100000"/>
              </a:lnSpc>
              <a:spcBef>
                <a:spcPts val="0"/>
              </a:spcBef>
              <a:buNone/>
              <a:defRPr sz="1050" b="0" i="0">
                <a:solidFill>
                  <a:schemeClr val="lt1"/>
                </a:solidFill>
                <a:latin typeface="Calibri"/>
                <a:ea typeface="Calibri"/>
                <a:cs typeface="Calibri"/>
                <a:sym typeface="Calibri"/>
              </a:defRPr>
            </a:lvl2pPr>
            <a:lvl3pPr marL="38100" marR="0" lvl="2" indent="0" algn="l" rtl="0">
              <a:lnSpc>
                <a:spcPct val="100000"/>
              </a:lnSpc>
              <a:spcBef>
                <a:spcPts val="0"/>
              </a:spcBef>
              <a:buNone/>
              <a:defRPr sz="1050" b="0" i="0">
                <a:solidFill>
                  <a:schemeClr val="lt1"/>
                </a:solidFill>
                <a:latin typeface="Calibri"/>
                <a:ea typeface="Calibri"/>
                <a:cs typeface="Calibri"/>
                <a:sym typeface="Calibri"/>
              </a:defRPr>
            </a:lvl3pPr>
            <a:lvl4pPr marL="38100" marR="0" lvl="3" indent="0" algn="l" rtl="0">
              <a:lnSpc>
                <a:spcPct val="100000"/>
              </a:lnSpc>
              <a:spcBef>
                <a:spcPts val="0"/>
              </a:spcBef>
              <a:buNone/>
              <a:defRPr sz="1050" b="0" i="0">
                <a:solidFill>
                  <a:schemeClr val="lt1"/>
                </a:solidFill>
                <a:latin typeface="Calibri"/>
                <a:ea typeface="Calibri"/>
                <a:cs typeface="Calibri"/>
                <a:sym typeface="Calibri"/>
              </a:defRPr>
            </a:lvl4pPr>
            <a:lvl5pPr marL="38100" marR="0" lvl="4" indent="0" algn="l" rtl="0">
              <a:lnSpc>
                <a:spcPct val="100000"/>
              </a:lnSpc>
              <a:spcBef>
                <a:spcPts val="0"/>
              </a:spcBef>
              <a:buNone/>
              <a:defRPr sz="1050" b="0" i="0">
                <a:solidFill>
                  <a:schemeClr val="lt1"/>
                </a:solidFill>
                <a:latin typeface="Calibri"/>
                <a:ea typeface="Calibri"/>
                <a:cs typeface="Calibri"/>
                <a:sym typeface="Calibri"/>
              </a:defRPr>
            </a:lvl5pPr>
            <a:lvl6pPr marL="38100" marR="0" lvl="5" indent="0" algn="l" rtl="0">
              <a:lnSpc>
                <a:spcPct val="100000"/>
              </a:lnSpc>
              <a:spcBef>
                <a:spcPts val="0"/>
              </a:spcBef>
              <a:buNone/>
              <a:defRPr sz="1050" b="0" i="0">
                <a:solidFill>
                  <a:schemeClr val="lt1"/>
                </a:solidFill>
                <a:latin typeface="Calibri"/>
                <a:ea typeface="Calibri"/>
                <a:cs typeface="Calibri"/>
                <a:sym typeface="Calibri"/>
              </a:defRPr>
            </a:lvl6pPr>
            <a:lvl7pPr marL="38100" marR="0" lvl="6" indent="0" algn="l" rtl="0">
              <a:lnSpc>
                <a:spcPct val="100000"/>
              </a:lnSpc>
              <a:spcBef>
                <a:spcPts val="0"/>
              </a:spcBef>
              <a:buNone/>
              <a:defRPr sz="1050" b="0" i="0">
                <a:solidFill>
                  <a:schemeClr val="lt1"/>
                </a:solidFill>
                <a:latin typeface="Calibri"/>
                <a:ea typeface="Calibri"/>
                <a:cs typeface="Calibri"/>
                <a:sym typeface="Calibri"/>
              </a:defRPr>
            </a:lvl7pPr>
            <a:lvl8pPr marL="38100" marR="0" lvl="7" indent="0" algn="l" rtl="0">
              <a:lnSpc>
                <a:spcPct val="100000"/>
              </a:lnSpc>
              <a:spcBef>
                <a:spcPts val="0"/>
              </a:spcBef>
              <a:buNone/>
              <a:defRPr sz="1050" b="0" i="0">
                <a:solidFill>
                  <a:schemeClr val="lt1"/>
                </a:solidFill>
                <a:latin typeface="Calibri"/>
                <a:ea typeface="Calibri"/>
                <a:cs typeface="Calibri"/>
                <a:sym typeface="Calibri"/>
              </a:defRPr>
            </a:lvl8pPr>
            <a:lvl9pPr marL="38100" marR="0" lvl="8" indent="0" algn="l" rtl="0">
              <a:lnSpc>
                <a:spcPct val="100000"/>
              </a:lnSpc>
              <a:spcBef>
                <a:spcPts val="0"/>
              </a:spcBef>
              <a:buNone/>
              <a:defRPr sz="1050" b="0" i="0">
                <a:solidFill>
                  <a:schemeClr val="lt1"/>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sz="1000">
              <a:latin typeface="Roboto"/>
              <a:ea typeface="Roboto"/>
              <a:cs typeface="Roboto"/>
              <a:sym typeface="Robot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p:cSld name="OBJECT_1">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3" name="Google Shape;103;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104" name="Google Shape;104;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05" name="Google Shape;105;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06" name="Google Shape;106;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2">
  <p:cSld name="OBJECT_2">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9" name="Google Shape;109;p17"/>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110" name="Google Shape;110;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11" name="Google Shape;111;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12" name="Google Shape;112;p1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18"/>
          <p:cNvPicPr preferRelativeResize="0"/>
          <p:nvPr/>
        </p:nvPicPr>
        <p:blipFill>
          <a:blip r:embed="rId3">
            <a:alphaModFix/>
          </a:blip>
          <a:stretch>
            <a:fillRect/>
          </a:stretch>
        </p:blipFill>
        <p:spPr>
          <a:xfrm>
            <a:off x="0" y="0"/>
            <a:ext cx="9144000" cy="5143505"/>
          </a:xfrm>
          <a:prstGeom prst="rect">
            <a:avLst/>
          </a:prstGeom>
          <a:noFill/>
          <a:ln>
            <a:noFill/>
          </a:ln>
        </p:spPr>
      </p:pic>
      <p:sp>
        <p:nvSpPr>
          <p:cNvPr id="119" name="Google Shape;119;p18"/>
          <p:cNvSpPr txBox="1"/>
          <p:nvPr/>
        </p:nvSpPr>
        <p:spPr>
          <a:xfrm>
            <a:off x="624725" y="3428700"/>
            <a:ext cx="6536100" cy="1508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400">
                <a:latin typeface="Roboto Black"/>
                <a:ea typeface="Roboto Black"/>
                <a:cs typeface="Roboto Black"/>
                <a:sym typeface="Roboto Black"/>
              </a:rPr>
              <a:t>Unit B: </a:t>
            </a:r>
            <a:r>
              <a:rPr lang="en-GB" sz="2400" dirty="0">
                <a:latin typeface="Roboto Black"/>
                <a:ea typeface="Roboto Black"/>
                <a:cs typeface="Roboto Black"/>
                <a:sym typeface="Roboto Black"/>
              </a:rPr>
              <a:t>Applying for Opportunities.</a:t>
            </a:r>
            <a:endParaRPr sz="2400" dirty="0">
              <a:latin typeface="Roboto Black"/>
              <a:ea typeface="Roboto Black"/>
              <a:cs typeface="Roboto Black"/>
              <a:sym typeface="Roboto Black"/>
            </a:endParaRPr>
          </a:p>
          <a:p>
            <a:pPr marL="0" lvl="0" indent="0" algn="l" rtl="0">
              <a:spcBef>
                <a:spcPts val="0"/>
              </a:spcBef>
              <a:spcAft>
                <a:spcPts val="0"/>
              </a:spcAft>
              <a:buNone/>
            </a:pPr>
            <a:endParaRPr sz="2400" dirty="0">
              <a:latin typeface="Roboto Black"/>
              <a:ea typeface="Roboto Black"/>
              <a:cs typeface="Roboto Black"/>
              <a:sym typeface="Roboto Black"/>
            </a:endParaRPr>
          </a:p>
          <a:p>
            <a:pPr marL="0" lvl="0" indent="0" algn="l" rtl="0">
              <a:spcBef>
                <a:spcPts val="0"/>
              </a:spcBef>
              <a:spcAft>
                <a:spcPts val="0"/>
              </a:spcAft>
              <a:buNone/>
            </a:pPr>
            <a:endParaRPr sz="2400" dirty="0">
              <a:latin typeface="Roboto Black"/>
              <a:ea typeface="Roboto Black"/>
              <a:cs typeface="Roboto Black"/>
              <a:sym typeface="Roboto Black"/>
            </a:endParaRPr>
          </a:p>
          <a:p>
            <a:pPr marL="0" lvl="0" indent="0" algn="l" rtl="0">
              <a:spcBef>
                <a:spcPts val="0"/>
              </a:spcBef>
              <a:spcAft>
                <a:spcPts val="0"/>
              </a:spcAft>
              <a:buNone/>
            </a:pPr>
            <a:r>
              <a:rPr lang="en-GB" dirty="0">
                <a:latin typeface="Roboto Black"/>
                <a:ea typeface="Roboto Black"/>
                <a:cs typeface="Roboto Black"/>
                <a:sym typeface="Roboto Black"/>
              </a:rPr>
              <a:t>Mohaan.biswas@gateshead.ac.uk</a:t>
            </a:r>
            <a:endParaRPr dirty="0">
              <a:latin typeface="Roboto Black"/>
              <a:ea typeface="Roboto Black"/>
              <a:cs typeface="Roboto Black"/>
              <a:sym typeface="Roboto Black"/>
            </a:endParaRPr>
          </a:p>
        </p:txBody>
      </p:sp>
      <p:sp>
        <p:nvSpPr>
          <p:cNvPr id="10" name="Google Shape;112;p17">
            <a:extLst>
              <a:ext uri="{FF2B5EF4-FFF2-40B4-BE49-F238E27FC236}">
                <a16:creationId xmlns:a16="http://schemas.microsoft.com/office/drawing/2014/main" id="{76974A41-3DA6-68D9-C0C0-F815678AE24D}"/>
              </a:ext>
            </a:extLst>
          </p:cNvPr>
          <p:cNvSpPr txBox="1"/>
          <p:nvPr/>
        </p:nvSpPr>
        <p:spPr>
          <a:xfrm>
            <a:off x="624725" y="1438575"/>
            <a:ext cx="6628800" cy="1292631"/>
          </a:xfrm>
          <a:prstGeom prst="rect">
            <a:avLst/>
          </a:prstGeom>
          <a:noFill/>
          <a:ln>
            <a:noFill/>
          </a:ln>
        </p:spPr>
        <p:txBody>
          <a:bodyPr spcFirstLastPara="1" wrap="square" lIns="91425" tIns="91425" rIns="91425" bIns="91425" anchor="t" anchorCtr="0">
            <a:spAutoFit/>
          </a:bodyPr>
          <a:lstStyle/>
          <a:p>
            <a:pPr lvl="0"/>
            <a:r>
              <a:rPr lang="en-GB" sz="3600" dirty="0"/>
              <a:t>ETCAL </a:t>
            </a:r>
          </a:p>
          <a:p>
            <a:pPr lvl="0"/>
            <a:r>
              <a:rPr lang="en-GB" sz="3600" dirty="0"/>
              <a:t>Award in Securing Progression</a:t>
            </a:r>
            <a:endParaRPr sz="3300" dirty="0">
              <a:latin typeface="Roboto Black"/>
              <a:ea typeface="Roboto Black"/>
              <a:cs typeface="Roboto Black"/>
              <a:sym typeface="Robot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Learning Outcomes</a:t>
            </a:r>
            <a:endParaRPr dirty="0"/>
          </a:p>
        </p:txBody>
      </p:sp>
      <p:sp>
        <p:nvSpPr>
          <p:cNvPr id="125" name="Google Shape;125;p19"/>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GB" sz="2100"/>
              <a:t>Understand the purpose of cover letters</a:t>
            </a:r>
            <a:endParaRPr sz="2100"/>
          </a:p>
          <a:p>
            <a:pPr marL="457200" lvl="0" indent="-361950" algn="l" rtl="0">
              <a:spcBef>
                <a:spcPts val="0"/>
              </a:spcBef>
              <a:spcAft>
                <a:spcPts val="0"/>
              </a:spcAft>
              <a:buSzPts val="2100"/>
              <a:buChar char="●"/>
            </a:pPr>
            <a:r>
              <a:rPr lang="en-GB" sz="2100"/>
              <a:t>Know how to complete an application form</a:t>
            </a:r>
            <a:endParaRPr sz="2100"/>
          </a:p>
          <a:p>
            <a:pPr marL="457200" lvl="0" indent="-361950" algn="l" rtl="0">
              <a:spcBef>
                <a:spcPts val="0"/>
              </a:spcBef>
              <a:spcAft>
                <a:spcPts val="0"/>
              </a:spcAft>
              <a:buSzPts val="2100"/>
              <a:buChar char="●"/>
            </a:pPr>
            <a:r>
              <a:rPr lang="en-GB" sz="2100"/>
              <a:t>Be able to use the STAR technique for competency based questions</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Introduction - Unit Aim</a:t>
            </a:r>
            <a:endParaRPr/>
          </a:p>
        </p:txBody>
      </p:sp>
      <p:sp>
        <p:nvSpPr>
          <p:cNvPr id="131" name="Google Shape;131;p20"/>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This unit introduces and guides learners to identify, evaluate and progress applications. It encourages learners to make informed choices about the opportunities they might apply for, contributing positively to their potential career opportunities.</a:t>
            </a:r>
            <a:endParaRPr/>
          </a:p>
          <a:p>
            <a:pPr marL="457200" lvl="0" indent="-342900" algn="l" rtl="0">
              <a:spcBef>
                <a:spcPts val="0"/>
              </a:spcBef>
              <a:spcAft>
                <a:spcPts val="0"/>
              </a:spcAft>
              <a:buSzPts val="1800"/>
              <a:buChar char="●"/>
            </a:pPr>
            <a:r>
              <a:rPr lang="en-GB"/>
              <a:t>This unit will help learners to develop an understanding of the process and delivery of applications to secure opportunities. They will understand the personal qualities that are valued by employers and contribute towards securing and progressing their career.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a:spLocks noGrp="1"/>
          </p:cNvSpPr>
          <p:nvPr>
            <p:ph type="title"/>
          </p:nvPr>
        </p:nvSpPr>
        <p:spPr>
          <a:xfrm>
            <a:off x="490250" y="526350"/>
            <a:ext cx="7585500" cy="4090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None/>
            </a:pPr>
            <a:r>
              <a:rPr lang="en-GB" sz="3700"/>
              <a:t>Why do jobs require an application form and covering letter?</a:t>
            </a:r>
            <a:endParaRPr sz="3700"/>
          </a:p>
        </p:txBody>
      </p:sp>
      <p:sp>
        <p:nvSpPr>
          <p:cNvPr id="138" name="Google Shape;138;p21"/>
          <p:cNvSpPr/>
          <p:nvPr/>
        </p:nvSpPr>
        <p:spPr>
          <a:xfrm>
            <a:off x="2017241" y="2040742"/>
            <a:ext cx="5109600" cy="7155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endParaRPr sz="2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When to use a Covering Letter</a:t>
            </a:r>
            <a:endParaRPr/>
          </a:p>
        </p:txBody>
      </p:sp>
      <p:sp>
        <p:nvSpPr>
          <p:cNvPr id="145" name="Google Shape;145;p22"/>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a:bodyPr>
          <a:lstStyle/>
          <a:p>
            <a:pPr marL="457200" lvl="0" indent="-342900" algn="l" rtl="0">
              <a:lnSpc>
                <a:spcPct val="100000"/>
              </a:lnSpc>
              <a:spcBef>
                <a:spcPts val="0"/>
              </a:spcBef>
              <a:spcAft>
                <a:spcPts val="0"/>
              </a:spcAft>
              <a:buSzPts val="1800"/>
              <a:buChar char="●"/>
            </a:pPr>
            <a:r>
              <a:rPr lang="en-GB"/>
              <a:t>To request an application form</a:t>
            </a:r>
            <a:endParaRPr/>
          </a:p>
          <a:p>
            <a:pPr marL="457200" lvl="0" indent="-342900" algn="l" rtl="0">
              <a:lnSpc>
                <a:spcPct val="100000"/>
              </a:lnSpc>
              <a:spcBef>
                <a:spcPts val="1000"/>
              </a:spcBef>
              <a:spcAft>
                <a:spcPts val="0"/>
              </a:spcAft>
              <a:buSzPts val="1800"/>
              <a:buChar char="●"/>
            </a:pPr>
            <a:r>
              <a:rPr lang="en-GB"/>
              <a:t>To accompany a completed application form</a:t>
            </a:r>
            <a:endParaRPr/>
          </a:p>
          <a:p>
            <a:pPr marL="457200" lvl="0" indent="-342900" algn="l" rtl="0">
              <a:lnSpc>
                <a:spcPct val="100000"/>
              </a:lnSpc>
              <a:spcBef>
                <a:spcPts val="1000"/>
              </a:spcBef>
              <a:spcAft>
                <a:spcPts val="0"/>
              </a:spcAft>
              <a:buSzPts val="1800"/>
              <a:buChar char="●"/>
            </a:pPr>
            <a:r>
              <a:rPr lang="en-GB"/>
              <a:t>With a CV in response to an advert</a:t>
            </a:r>
            <a:endParaRPr/>
          </a:p>
          <a:p>
            <a:pPr marL="457200" lvl="0" indent="-342900" algn="l" rtl="0">
              <a:lnSpc>
                <a:spcPct val="100000"/>
              </a:lnSpc>
              <a:spcBef>
                <a:spcPts val="1000"/>
              </a:spcBef>
              <a:spcAft>
                <a:spcPts val="1000"/>
              </a:spcAft>
              <a:buSzPts val="1800"/>
              <a:buChar char="●"/>
            </a:pPr>
            <a:r>
              <a:rPr lang="en-GB"/>
              <a:t>With a CV as a speculative application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Cover Letter - What to include</a:t>
            </a:r>
            <a:endParaRPr/>
          </a:p>
        </p:txBody>
      </p:sp>
      <p:grpSp>
        <p:nvGrpSpPr>
          <p:cNvPr id="151" name="Google Shape;151;p23"/>
          <p:cNvGrpSpPr/>
          <p:nvPr/>
        </p:nvGrpSpPr>
        <p:grpSpPr>
          <a:xfrm>
            <a:off x="971452" y="1388197"/>
            <a:ext cx="5459591" cy="3132554"/>
            <a:chOff x="3664" y="177827"/>
            <a:chExt cx="7279454" cy="4176739"/>
          </a:xfrm>
        </p:grpSpPr>
        <p:sp>
          <p:nvSpPr>
            <p:cNvPr id="152" name="Google Shape;152;p23"/>
            <p:cNvSpPr/>
            <p:nvPr/>
          </p:nvSpPr>
          <p:spPr>
            <a:xfrm rot="5400000">
              <a:off x="-334544" y="1127343"/>
              <a:ext cx="1481700" cy="179100"/>
            </a:xfrm>
            <a:prstGeom prst="rect">
              <a:avLst/>
            </a:prstGeom>
            <a:solidFill>
              <a:schemeClr val="accent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53" name="Google Shape;153;p23"/>
            <p:cNvSpPr/>
            <p:nvPr/>
          </p:nvSpPr>
          <p:spPr>
            <a:xfrm>
              <a:off x="3664" y="177827"/>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54" name="Google Shape;154;p23"/>
            <p:cNvSpPr txBox="1"/>
            <p:nvPr/>
          </p:nvSpPr>
          <p:spPr>
            <a:xfrm>
              <a:off x="38616" y="212779"/>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What you are applying for</a:t>
              </a:r>
              <a:endParaRPr sz="1500">
                <a:solidFill>
                  <a:schemeClr val="lt1"/>
                </a:solidFill>
                <a:latin typeface="Roboto"/>
                <a:ea typeface="Roboto"/>
                <a:cs typeface="Roboto"/>
                <a:sym typeface="Roboto"/>
              </a:endParaRPr>
            </a:p>
          </p:txBody>
        </p:sp>
        <p:sp>
          <p:nvSpPr>
            <p:cNvPr id="155" name="Google Shape;155;p23"/>
            <p:cNvSpPr/>
            <p:nvPr/>
          </p:nvSpPr>
          <p:spPr>
            <a:xfrm rot="5400000">
              <a:off x="-334544" y="2619013"/>
              <a:ext cx="1481700" cy="179100"/>
            </a:xfrm>
            <a:prstGeom prst="rect">
              <a:avLst/>
            </a:prstGeom>
            <a:solidFill>
              <a:schemeClr val="accent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56" name="Google Shape;156;p23"/>
            <p:cNvSpPr/>
            <p:nvPr/>
          </p:nvSpPr>
          <p:spPr>
            <a:xfrm>
              <a:off x="3664" y="1669497"/>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57" name="Google Shape;157;p23"/>
            <p:cNvSpPr txBox="1"/>
            <p:nvPr/>
          </p:nvSpPr>
          <p:spPr>
            <a:xfrm>
              <a:off x="38616" y="1704449"/>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Why you are applying</a:t>
              </a:r>
              <a:endParaRPr sz="1500">
                <a:solidFill>
                  <a:schemeClr val="lt1"/>
                </a:solidFill>
                <a:latin typeface="Roboto"/>
                <a:ea typeface="Roboto"/>
                <a:cs typeface="Roboto"/>
                <a:sym typeface="Roboto"/>
              </a:endParaRPr>
            </a:p>
          </p:txBody>
        </p:sp>
        <p:sp>
          <p:nvSpPr>
            <p:cNvPr id="158" name="Google Shape;158;p23"/>
            <p:cNvSpPr/>
            <p:nvPr/>
          </p:nvSpPr>
          <p:spPr>
            <a:xfrm>
              <a:off x="411269" y="3364968"/>
              <a:ext cx="2635500" cy="179100"/>
            </a:xfrm>
            <a:prstGeom prst="rect">
              <a:avLst/>
            </a:prstGeom>
            <a:solidFill>
              <a:schemeClr val="accent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59" name="Google Shape;159;p23"/>
            <p:cNvSpPr/>
            <p:nvPr/>
          </p:nvSpPr>
          <p:spPr>
            <a:xfrm>
              <a:off x="3664" y="3161166"/>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60" name="Google Shape;160;p23"/>
            <p:cNvSpPr txBox="1"/>
            <p:nvPr/>
          </p:nvSpPr>
          <p:spPr>
            <a:xfrm>
              <a:off x="38616" y="3196118"/>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Knowledge of the company</a:t>
              </a:r>
              <a:endParaRPr sz="1500">
                <a:solidFill>
                  <a:schemeClr val="lt1"/>
                </a:solidFill>
                <a:latin typeface="Roboto"/>
                <a:ea typeface="Roboto"/>
                <a:cs typeface="Roboto"/>
                <a:sym typeface="Roboto"/>
              </a:endParaRPr>
            </a:p>
          </p:txBody>
        </p:sp>
        <p:sp>
          <p:nvSpPr>
            <p:cNvPr id="161" name="Google Shape;161;p23"/>
            <p:cNvSpPr/>
            <p:nvPr/>
          </p:nvSpPr>
          <p:spPr>
            <a:xfrm rot="-5413270">
              <a:off x="2310478" y="2621749"/>
              <a:ext cx="1476611" cy="179101"/>
            </a:xfrm>
            <a:prstGeom prst="rect">
              <a:avLst/>
            </a:prstGeom>
            <a:solidFill>
              <a:schemeClr val="accent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62" name="Google Shape;162;p23"/>
            <p:cNvSpPr/>
            <p:nvPr/>
          </p:nvSpPr>
          <p:spPr>
            <a:xfrm>
              <a:off x="2648891" y="3161166"/>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63" name="Google Shape;163;p23"/>
            <p:cNvSpPr txBox="1"/>
            <p:nvPr/>
          </p:nvSpPr>
          <p:spPr>
            <a:xfrm>
              <a:off x="2683843" y="3196118"/>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What you can offer the employer</a:t>
              </a:r>
              <a:endParaRPr sz="1500">
                <a:solidFill>
                  <a:schemeClr val="lt1"/>
                </a:solidFill>
                <a:latin typeface="Roboto"/>
                <a:ea typeface="Roboto"/>
                <a:cs typeface="Roboto"/>
                <a:sym typeface="Roboto"/>
              </a:endParaRPr>
            </a:p>
          </p:txBody>
        </p:sp>
        <p:sp>
          <p:nvSpPr>
            <p:cNvPr id="164" name="Google Shape;164;p23"/>
            <p:cNvSpPr/>
            <p:nvPr/>
          </p:nvSpPr>
          <p:spPr>
            <a:xfrm rot="-5397927">
              <a:off x="2305207" y="1132412"/>
              <a:ext cx="1492200" cy="179100"/>
            </a:xfrm>
            <a:prstGeom prst="rect">
              <a:avLst/>
            </a:prstGeom>
            <a:solidFill>
              <a:schemeClr val="accent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65" name="Google Shape;165;p23"/>
            <p:cNvSpPr/>
            <p:nvPr/>
          </p:nvSpPr>
          <p:spPr>
            <a:xfrm>
              <a:off x="2643203" y="1674807"/>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66" name="Google Shape;166;p23"/>
            <p:cNvSpPr txBox="1"/>
            <p:nvPr/>
          </p:nvSpPr>
          <p:spPr>
            <a:xfrm>
              <a:off x="2678155" y="1709759"/>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What skills you have that are needed/relevant</a:t>
              </a:r>
              <a:endParaRPr sz="1500">
                <a:solidFill>
                  <a:schemeClr val="lt1"/>
                </a:solidFill>
                <a:latin typeface="Roboto"/>
                <a:ea typeface="Roboto"/>
                <a:cs typeface="Roboto"/>
                <a:sym typeface="Roboto"/>
              </a:endParaRPr>
            </a:p>
          </p:txBody>
        </p:sp>
        <p:sp>
          <p:nvSpPr>
            <p:cNvPr id="167" name="Google Shape;167;p23"/>
            <p:cNvSpPr/>
            <p:nvPr/>
          </p:nvSpPr>
          <p:spPr>
            <a:xfrm>
              <a:off x="3056496" y="381630"/>
              <a:ext cx="2635500" cy="179100"/>
            </a:xfrm>
            <a:prstGeom prst="rect">
              <a:avLst/>
            </a:prstGeom>
            <a:solidFill>
              <a:schemeClr val="accent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68" name="Google Shape;168;p23"/>
            <p:cNvSpPr/>
            <p:nvPr/>
          </p:nvSpPr>
          <p:spPr>
            <a:xfrm>
              <a:off x="2648891" y="177827"/>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69" name="Google Shape;169;p23"/>
            <p:cNvSpPr txBox="1"/>
            <p:nvPr/>
          </p:nvSpPr>
          <p:spPr>
            <a:xfrm>
              <a:off x="2683843" y="212779"/>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What experience you have that is relevant</a:t>
              </a:r>
              <a:endParaRPr sz="1500">
                <a:solidFill>
                  <a:schemeClr val="lt1"/>
                </a:solidFill>
                <a:latin typeface="Roboto"/>
                <a:ea typeface="Roboto"/>
                <a:cs typeface="Roboto"/>
                <a:sym typeface="Roboto"/>
              </a:endParaRPr>
            </a:p>
          </p:txBody>
        </p:sp>
        <p:sp>
          <p:nvSpPr>
            <p:cNvPr id="170" name="Google Shape;170;p23"/>
            <p:cNvSpPr/>
            <p:nvPr/>
          </p:nvSpPr>
          <p:spPr>
            <a:xfrm rot="5400000">
              <a:off x="4955910" y="1127343"/>
              <a:ext cx="1481700" cy="179100"/>
            </a:xfrm>
            <a:prstGeom prst="rect">
              <a:avLst/>
            </a:prstGeom>
            <a:solidFill>
              <a:schemeClr val="accent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71" name="Google Shape;171;p23"/>
            <p:cNvSpPr/>
            <p:nvPr/>
          </p:nvSpPr>
          <p:spPr>
            <a:xfrm>
              <a:off x="5294118" y="177827"/>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72" name="Google Shape;172;p23"/>
            <p:cNvSpPr txBox="1"/>
            <p:nvPr/>
          </p:nvSpPr>
          <p:spPr>
            <a:xfrm>
              <a:off x="5329070" y="212779"/>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A positive conclusion</a:t>
              </a:r>
              <a:endParaRPr sz="1500">
                <a:solidFill>
                  <a:schemeClr val="lt1"/>
                </a:solidFill>
                <a:latin typeface="Roboto"/>
                <a:ea typeface="Roboto"/>
                <a:cs typeface="Roboto"/>
                <a:sym typeface="Roboto"/>
              </a:endParaRPr>
            </a:p>
          </p:txBody>
        </p:sp>
        <p:sp>
          <p:nvSpPr>
            <p:cNvPr id="173" name="Google Shape;173;p23"/>
            <p:cNvSpPr/>
            <p:nvPr/>
          </p:nvSpPr>
          <p:spPr>
            <a:xfrm rot="5400000">
              <a:off x="4955910" y="2619013"/>
              <a:ext cx="1481700" cy="179100"/>
            </a:xfrm>
            <a:prstGeom prst="rect">
              <a:avLst/>
            </a:prstGeom>
            <a:solidFill>
              <a:schemeClr val="accent6"/>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74" name="Google Shape;174;p23"/>
            <p:cNvSpPr/>
            <p:nvPr/>
          </p:nvSpPr>
          <p:spPr>
            <a:xfrm>
              <a:off x="5294118" y="1669497"/>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75" name="Google Shape;175;p23"/>
            <p:cNvSpPr txBox="1"/>
            <p:nvPr/>
          </p:nvSpPr>
          <p:spPr>
            <a:xfrm>
              <a:off x="5329070" y="1704449"/>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Encourage further contact</a:t>
              </a:r>
              <a:endParaRPr sz="1500">
                <a:solidFill>
                  <a:schemeClr val="lt1"/>
                </a:solidFill>
                <a:latin typeface="Roboto"/>
                <a:ea typeface="Roboto"/>
                <a:cs typeface="Roboto"/>
                <a:sym typeface="Roboto"/>
              </a:endParaRPr>
            </a:p>
          </p:txBody>
        </p:sp>
        <p:sp>
          <p:nvSpPr>
            <p:cNvPr id="176" name="Google Shape;176;p23"/>
            <p:cNvSpPr/>
            <p:nvPr/>
          </p:nvSpPr>
          <p:spPr>
            <a:xfrm>
              <a:off x="5294118" y="3161166"/>
              <a:ext cx="1989000" cy="1193400"/>
            </a:xfrm>
            <a:prstGeom prst="roundRect">
              <a:avLst>
                <a:gd name="adj" fmla="val 10000"/>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77" name="Google Shape;177;p23"/>
            <p:cNvSpPr txBox="1"/>
            <p:nvPr/>
          </p:nvSpPr>
          <p:spPr>
            <a:xfrm>
              <a:off x="5329070" y="3196118"/>
              <a:ext cx="1919100" cy="1123500"/>
            </a:xfrm>
            <a:prstGeom prst="rect">
              <a:avLst/>
            </a:prstGeom>
            <a:solidFill>
              <a:schemeClr val="accent6"/>
            </a:solid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None/>
              </a:pPr>
              <a:r>
                <a:rPr lang="en-GB" sz="1500">
                  <a:solidFill>
                    <a:schemeClr val="lt1"/>
                  </a:solidFill>
                  <a:latin typeface="Roboto"/>
                  <a:ea typeface="Roboto"/>
                  <a:cs typeface="Roboto"/>
                  <a:sym typeface="Roboto"/>
                </a:rPr>
                <a:t>Prepare it. Get it checked. Send it in time.</a:t>
              </a:r>
              <a:endParaRPr sz="1100">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Cover Letter Structure</a:t>
            </a:r>
            <a:endParaRPr/>
          </a:p>
        </p:txBody>
      </p:sp>
      <p:pic>
        <p:nvPicPr>
          <p:cNvPr id="183" name="Google Shape;183;p24"/>
          <p:cNvPicPr preferRelativeResize="0"/>
          <p:nvPr/>
        </p:nvPicPr>
        <p:blipFill>
          <a:blip r:embed="rId3">
            <a:alphaModFix/>
          </a:blip>
          <a:stretch>
            <a:fillRect/>
          </a:stretch>
        </p:blipFill>
        <p:spPr>
          <a:xfrm>
            <a:off x="360575" y="1017800"/>
            <a:ext cx="5378868" cy="38208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Identifying Suitable Opportunities</a:t>
            </a:r>
            <a:endParaRPr/>
          </a:p>
        </p:txBody>
      </p:sp>
      <p:sp>
        <p:nvSpPr>
          <p:cNvPr id="189" name="Google Shape;189;p25"/>
          <p:cNvSpPr txBox="1">
            <a:spLocks noGrp="1"/>
          </p:cNvSpPr>
          <p:nvPr>
            <p:ph type="body" idx="1"/>
          </p:nvPr>
        </p:nvSpPr>
        <p:spPr>
          <a:xfrm>
            <a:off x="311700" y="1229875"/>
            <a:ext cx="4697400" cy="33390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a:t>Information to look for in a job advert: </a:t>
            </a:r>
            <a:endParaRPr/>
          </a:p>
          <a:p>
            <a:pPr marL="457200" lvl="0" indent="-342900" algn="l" rtl="0">
              <a:spcBef>
                <a:spcPts val="1200"/>
              </a:spcBef>
              <a:spcAft>
                <a:spcPts val="0"/>
              </a:spcAft>
              <a:buSzPts val="1800"/>
              <a:buChar char="●"/>
            </a:pPr>
            <a:r>
              <a:rPr lang="en-GB"/>
              <a:t>job description; </a:t>
            </a:r>
            <a:endParaRPr/>
          </a:p>
          <a:p>
            <a:pPr marL="457200" lvl="0" indent="-342900" algn="l" rtl="0">
              <a:spcBef>
                <a:spcPts val="0"/>
              </a:spcBef>
              <a:spcAft>
                <a:spcPts val="0"/>
              </a:spcAft>
              <a:buSzPts val="1800"/>
              <a:buChar char="●"/>
            </a:pPr>
            <a:r>
              <a:rPr lang="en-GB"/>
              <a:t>specific skills required;</a:t>
            </a:r>
            <a:endParaRPr/>
          </a:p>
          <a:p>
            <a:pPr marL="457200" lvl="0" indent="-342900" algn="l" rtl="0">
              <a:spcBef>
                <a:spcPts val="0"/>
              </a:spcBef>
              <a:spcAft>
                <a:spcPts val="0"/>
              </a:spcAft>
              <a:buSzPts val="1800"/>
              <a:buChar char="●"/>
            </a:pPr>
            <a:r>
              <a:rPr lang="en-GB"/>
              <a:t>specific qualifications; </a:t>
            </a:r>
            <a:endParaRPr/>
          </a:p>
          <a:p>
            <a:pPr marL="457200" lvl="0" indent="-342900" algn="l" rtl="0">
              <a:spcBef>
                <a:spcPts val="0"/>
              </a:spcBef>
              <a:spcAft>
                <a:spcPts val="0"/>
              </a:spcAft>
              <a:buSzPts val="1800"/>
              <a:buChar char="●"/>
            </a:pPr>
            <a:r>
              <a:rPr lang="en-GB"/>
              <a:t>location; </a:t>
            </a:r>
            <a:endParaRPr/>
          </a:p>
          <a:p>
            <a:pPr marL="457200" lvl="0" indent="-342900" algn="l" rtl="0">
              <a:spcBef>
                <a:spcPts val="0"/>
              </a:spcBef>
              <a:spcAft>
                <a:spcPts val="0"/>
              </a:spcAft>
              <a:buSzPts val="1800"/>
              <a:buChar char="●"/>
            </a:pPr>
            <a:r>
              <a:rPr lang="en-GB"/>
              <a:t>working hours; </a:t>
            </a:r>
            <a:endParaRPr/>
          </a:p>
          <a:p>
            <a:pPr marL="457200" lvl="0" indent="-342900" algn="l" rtl="0">
              <a:spcBef>
                <a:spcPts val="0"/>
              </a:spcBef>
              <a:spcAft>
                <a:spcPts val="0"/>
              </a:spcAft>
              <a:buSzPts val="1800"/>
              <a:buChar char="●"/>
            </a:pPr>
            <a:r>
              <a:rPr lang="en-GB"/>
              <a:t>salary and any other benefits;</a:t>
            </a:r>
            <a:endParaRPr/>
          </a:p>
          <a:p>
            <a:pPr marL="457200" lvl="0" indent="-342900" algn="l" rtl="0">
              <a:spcBef>
                <a:spcPts val="0"/>
              </a:spcBef>
              <a:spcAft>
                <a:spcPts val="0"/>
              </a:spcAft>
              <a:buSzPts val="1800"/>
              <a:buChar char="●"/>
            </a:pPr>
            <a:r>
              <a:rPr lang="en-GB"/>
              <a:t>details of how to apply for the job; </a:t>
            </a:r>
            <a:endParaRPr/>
          </a:p>
          <a:p>
            <a:pPr marL="457200" lvl="0" indent="-342900" algn="l" rtl="0">
              <a:spcBef>
                <a:spcPts val="0"/>
              </a:spcBef>
              <a:spcAft>
                <a:spcPts val="0"/>
              </a:spcAft>
              <a:buSzPts val="1800"/>
              <a:buChar char="●"/>
            </a:pPr>
            <a:r>
              <a:rPr lang="en-GB"/>
              <a:t>closing date for applications; </a:t>
            </a:r>
            <a:endParaRPr/>
          </a:p>
          <a:p>
            <a:pPr marL="457200" lvl="0" indent="-342900" algn="l" rtl="0">
              <a:spcBef>
                <a:spcPts val="0"/>
              </a:spcBef>
              <a:spcAft>
                <a:spcPts val="0"/>
              </a:spcAft>
              <a:buSzPts val="1800"/>
              <a:buChar char="●"/>
            </a:pPr>
            <a:r>
              <a:rPr lang="en-GB"/>
              <a:t>Promotion possibilities</a:t>
            </a:r>
            <a:endParaRPr/>
          </a:p>
        </p:txBody>
      </p:sp>
      <p:sp>
        <p:nvSpPr>
          <p:cNvPr id="190" name="Google Shape;190;p25"/>
          <p:cNvSpPr txBox="1">
            <a:spLocks noGrp="1"/>
          </p:cNvSpPr>
          <p:nvPr>
            <p:ph type="body" idx="1"/>
          </p:nvPr>
        </p:nvSpPr>
        <p:spPr>
          <a:xfrm>
            <a:off x="5167925" y="1284525"/>
            <a:ext cx="3720000" cy="25272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a:t>Make sure you pay particular attention to the method of applications - this is just as important as the other aspects of the job advert.</a:t>
            </a:r>
            <a:endParaRPr/>
          </a:p>
          <a:p>
            <a:pPr marL="0" lvl="0" indent="0" algn="ctr" rtl="0">
              <a:spcBef>
                <a:spcPts val="1200"/>
              </a:spcBef>
              <a:spcAft>
                <a:spcPts val="1200"/>
              </a:spcAft>
              <a:buNone/>
            </a:pPr>
            <a:r>
              <a:rPr lang="en-GB" i="1"/>
              <a:t>Where might you see suitable adverts for jobs?</a:t>
            </a:r>
            <a:endParaRPr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6"/>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Types of application forms</a:t>
            </a:r>
            <a:endParaRPr/>
          </a:p>
        </p:txBody>
      </p:sp>
      <p:sp>
        <p:nvSpPr>
          <p:cNvPr id="197" name="Google Shape;197;p26"/>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a:bodyPr>
          <a:lstStyle/>
          <a:p>
            <a:pPr marL="177800" lvl="0" indent="-38100" algn="l" rtl="0">
              <a:lnSpc>
                <a:spcPct val="90000"/>
              </a:lnSpc>
              <a:spcBef>
                <a:spcPts val="0"/>
              </a:spcBef>
              <a:spcAft>
                <a:spcPts val="1200"/>
              </a:spcAft>
              <a:buClr>
                <a:schemeClr val="dk1"/>
              </a:buClr>
              <a:buSzPts val="2100"/>
              <a:buNone/>
            </a:pPr>
            <a:r>
              <a:rPr lang="en-GB"/>
              <a:t>Some employers prefer you to fill in an application form rather than send a CV. Forms are easier to compare because, unlike CVs, they follow the identical format.</a:t>
            </a:r>
            <a:endParaRPr/>
          </a:p>
        </p:txBody>
      </p:sp>
      <p:sp>
        <p:nvSpPr>
          <p:cNvPr id="198" name="Google Shape;198;p26"/>
          <p:cNvSpPr/>
          <p:nvPr/>
        </p:nvSpPr>
        <p:spPr>
          <a:xfrm>
            <a:off x="401445" y="715113"/>
            <a:ext cx="4992900" cy="4386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a:p>
        </p:txBody>
      </p:sp>
      <p:sp>
        <p:nvSpPr>
          <p:cNvPr id="199" name="Google Shape;199;p26"/>
          <p:cNvSpPr/>
          <p:nvPr/>
        </p:nvSpPr>
        <p:spPr>
          <a:xfrm>
            <a:off x="2082490" y="2521559"/>
            <a:ext cx="2174400" cy="1530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Paper applications </a:t>
            </a:r>
            <a:endParaRPr sz="1400">
              <a:solidFill>
                <a:schemeClr val="lt1"/>
              </a:solidFill>
              <a:latin typeface="Calibri"/>
              <a:ea typeface="Calibri"/>
              <a:cs typeface="Calibri"/>
              <a:sym typeface="Calibri"/>
            </a:endParaRPr>
          </a:p>
        </p:txBody>
      </p:sp>
      <p:sp>
        <p:nvSpPr>
          <p:cNvPr id="200" name="Google Shape;200;p26"/>
          <p:cNvSpPr/>
          <p:nvPr/>
        </p:nvSpPr>
        <p:spPr>
          <a:xfrm>
            <a:off x="4686299" y="2521559"/>
            <a:ext cx="2213700" cy="1530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Online applications </a:t>
            </a:r>
            <a:endParaRPr sz="14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None/>
            </a:pPr>
            <a:r>
              <a:rPr lang="en-GB"/>
              <a:t>What information is often found on an application forms?</a:t>
            </a:r>
            <a:endParaRPr/>
          </a:p>
        </p:txBody>
      </p:sp>
      <p:sp>
        <p:nvSpPr>
          <p:cNvPr id="207" name="Google Shape;207;p27"/>
          <p:cNvSpPr/>
          <p:nvPr/>
        </p:nvSpPr>
        <p:spPr>
          <a:xfrm>
            <a:off x="460910" y="1071809"/>
            <a:ext cx="7902600" cy="3924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2100" b="1">
              <a:solidFill>
                <a:schemeClr val="dk1"/>
              </a:solidFill>
              <a:latin typeface="Tahoma"/>
              <a:ea typeface="Tahoma"/>
              <a:cs typeface="Tahoma"/>
              <a:sym typeface="Tahoma"/>
            </a:endParaRPr>
          </a:p>
        </p:txBody>
      </p:sp>
      <p:sp>
        <p:nvSpPr>
          <p:cNvPr id="208" name="Google Shape;208;p27"/>
          <p:cNvSpPr/>
          <p:nvPr/>
        </p:nvSpPr>
        <p:spPr>
          <a:xfrm>
            <a:off x="721341" y="1620345"/>
            <a:ext cx="1739700" cy="12714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Personal information</a:t>
            </a:r>
            <a:endParaRPr sz="1100"/>
          </a:p>
          <a:p>
            <a:pPr marL="0" marR="0" lvl="0" indent="0" algn="ctr" rtl="0">
              <a:spcBef>
                <a:spcPts val="0"/>
              </a:spcBef>
              <a:spcAft>
                <a:spcPts val="0"/>
              </a:spcAft>
              <a:buNone/>
            </a:pPr>
            <a:r>
              <a:rPr lang="en-GB" sz="1400">
                <a:solidFill>
                  <a:schemeClr val="lt1"/>
                </a:solidFill>
                <a:latin typeface="Calibri"/>
                <a:ea typeface="Calibri"/>
                <a:cs typeface="Calibri"/>
                <a:sym typeface="Calibri"/>
              </a:rPr>
              <a:t>(name, address, telephone, email)</a:t>
            </a:r>
            <a:endParaRPr sz="1400">
              <a:solidFill>
                <a:schemeClr val="lt1"/>
              </a:solidFill>
              <a:latin typeface="Calibri"/>
              <a:ea typeface="Calibri"/>
              <a:cs typeface="Calibri"/>
              <a:sym typeface="Calibri"/>
            </a:endParaRPr>
          </a:p>
        </p:txBody>
      </p:sp>
      <p:sp>
        <p:nvSpPr>
          <p:cNvPr id="209" name="Google Shape;209;p27"/>
          <p:cNvSpPr/>
          <p:nvPr/>
        </p:nvSpPr>
        <p:spPr>
          <a:xfrm>
            <a:off x="2589868" y="1675471"/>
            <a:ext cx="1739700" cy="12714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Qualifications</a:t>
            </a:r>
            <a:endParaRPr sz="1400">
              <a:solidFill>
                <a:schemeClr val="lt1"/>
              </a:solidFill>
              <a:latin typeface="Calibri"/>
              <a:ea typeface="Calibri"/>
              <a:cs typeface="Calibri"/>
              <a:sym typeface="Calibri"/>
            </a:endParaRPr>
          </a:p>
        </p:txBody>
      </p:sp>
      <p:sp>
        <p:nvSpPr>
          <p:cNvPr id="210" name="Google Shape;210;p27"/>
          <p:cNvSpPr/>
          <p:nvPr/>
        </p:nvSpPr>
        <p:spPr>
          <a:xfrm>
            <a:off x="4458396" y="3065496"/>
            <a:ext cx="1739700" cy="12537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Previous roles and responsibilities </a:t>
            </a:r>
            <a:endParaRPr sz="1400">
              <a:solidFill>
                <a:schemeClr val="lt1"/>
              </a:solidFill>
              <a:latin typeface="Calibri"/>
              <a:ea typeface="Calibri"/>
              <a:cs typeface="Calibri"/>
              <a:sym typeface="Calibri"/>
            </a:endParaRPr>
          </a:p>
        </p:txBody>
      </p:sp>
      <p:sp>
        <p:nvSpPr>
          <p:cNvPr id="211" name="Google Shape;211;p27"/>
          <p:cNvSpPr/>
          <p:nvPr/>
        </p:nvSpPr>
        <p:spPr>
          <a:xfrm>
            <a:off x="4458396" y="1675471"/>
            <a:ext cx="1739700" cy="12714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References</a:t>
            </a:r>
            <a:endParaRPr sz="1400">
              <a:solidFill>
                <a:schemeClr val="lt1"/>
              </a:solidFill>
              <a:latin typeface="Calibri"/>
              <a:ea typeface="Calibri"/>
              <a:cs typeface="Calibri"/>
              <a:sym typeface="Calibri"/>
            </a:endParaRPr>
          </a:p>
        </p:txBody>
      </p:sp>
      <p:sp>
        <p:nvSpPr>
          <p:cNvPr id="212" name="Google Shape;212;p27"/>
          <p:cNvSpPr/>
          <p:nvPr/>
        </p:nvSpPr>
        <p:spPr>
          <a:xfrm>
            <a:off x="6312286" y="1675471"/>
            <a:ext cx="1739700" cy="12714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Work experience</a:t>
            </a:r>
            <a:endParaRPr sz="1100"/>
          </a:p>
        </p:txBody>
      </p:sp>
      <p:sp>
        <p:nvSpPr>
          <p:cNvPr id="213" name="Google Shape;213;p27"/>
          <p:cNvSpPr/>
          <p:nvPr/>
        </p:nvSpPr>
        <p:spPr>
          <a:xfrm>
            <a:off x="6312286" y="3065496"/>
            <a:ext cx="1739700" cy="12537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Additional information in support of application</a:t>
            </a:r>
            <a:endParaRPr sz="1400">
              <a:solidFill>
                <a:schemeClr val="lt1"/>
              </a:solidFill>
              <a:latin typeface="Calibri"/>
              <a:ea typeface="Calibri"/>
              <a:cs typeface="Calibri"/>
              <a:sym typeface="Calibri"/>
            </a:endParaRPr>
          </a:p>
        </p:txBody>
      </p:sp>
      <p:sp>
        <p:nvSpPr>
          <p:cNvPr id="214" name="Google Shape;214;p27"/>
          <p:cNvSpPr/>
          <p:nvPr/>
        </p:nvSpPr>
        <p:spPr>
          <a:xfrm>
            <a:off x="721341" y="3047912"/>
            <a:ext cx="1739700" cy="12714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Employment history</a:t>
            </a:r>
            <a:endParaRPr sz="1400">
              <a:solidFill>
                <a:schemeClr val="lt1"/>
              </a:solidFill>
              <a:latin typeface="Calibri"/>
              <a:ea typeface="Calibri"/>
              <a:cs typeface="Calibri"/>
              <a:sym typeface="Calibri"/>
            </a:endParaRPr>
          </a:p>
        </p:txBody>
      </p:sp>
      <p:sp>
        <p:nvSpPr>
          <p:cNvPr id="215" name="Google Shape;215;p27"/>
          <p:cNvSpPr/>
          <p:nvPr/>
        </p:nvSpPr>
        <p:spPr>
          <a:xfrm>
            <a:off x="2589868" y="3049810"/>
            <a:ext cx="1739700" cy="12714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GB" sz="1400">
                <a:solidFill>
                  <a:schemeClr val="lt1"/>
                </a:solidFill>
                <a:latin typeface="Calibri"/>
                <a:ea typeface="Calibri"/>
                <a:cs typeface="Calibri"/>
                <a:sym typeface="Calibri"/>
              </a:rPr>
              <a:t>Hobbies and interests</a:t>
            </a:r>
            <a:endParaRPr sz="14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Employer requirements </a:t>
            </a:r>
            <a:endParaRPr/>
          </a:p>
        </p:txBody>
      </p:sp>
      <p:sp>
        <p:nvSpPr>
          <p:cNvPr id="222" name="Google Shape;222;p28"/>
          <p:cNvSpPr txBox="1">
            <a:spLocks noGrp="1"/>
          </p:cNvSpPr>
          <p:nvPr>
            <p:ph type="body" idx="1"/>
          </p:nvPr>
        </p:nvSpPr>
        <p:spPr>
          <a:xfrm>
            <a:off x="311800" y="1229875"/>
            <a:ext cx="4795200" cy="3339000"/>
          </a:xfrm>
          <a:prstGeom prst="rect">
            <a:avLst/>
          </a:prstGeom>
          <a:noFill/>
          <a:ln>
            <a:noFill/>
          </a:ln>
        </p:spPr>
        <p:txBody>
          <a:bodyPr spcFirstLastPara="1" wrap="square" lIns="68575" tIns="34275" rIns="68575" bIns="34275" anchor="t" anchorCtr="0">
            <a:normAutofit/>
          </a:bodyPr>
          <a:lstStyle/>
          <a:p>
            <a:pPr marL="457200" lvl="0" indent="-340677" algn="l" rtl="0">
              <a:lnSpc>
                <a:spcPct val="80000"/>
              </a:lnSpc>
              <a:spcBef>
                <a:spcPts val="0"/>
              </a:spcBef>
              <a:spcAft>
                <a:spcPts val="0"/>
              </a:spcAft>
              <a:buSzPts val="1765"/>
              <a:buChar char="●"/>
            </a:pPr>
            <a:r>
              <a:rPr lang="en-GB" sz="1765"/>
              <a:t>Employers usually request specific skills or “competencies” in the Person specification, which they believe are needed to do the job.</a:t>
            </a:r>
            <a:endParaRPr sz="1765"/>
          </a:p>
          <a:p>
            <a:pPr marL="457200" lvl="0" indent="0" algn="l" rtl="0">
              <a:lnSpc>
                <a:spcPct val="80000"/>
              </a:lnSpc>
              <a:spcBef>
                <a:spcPts val="1200"/>
              </a:spcBef>
              <a:spcAft>
                <a:spcPts val="0"/>
              </a:spcAft>
              <a:buSzPts val="1018"/>
              <a:buNone/>
            </a:pPr>
            <a:endParaRPr sz="1765"/>
          </a:p>
          <a:p>
            <a:pPr marL="457200" lvl="0" indent="-340677" algn="l" rtl="0">
              <a:lnSpc>
                <a:spcPct val="80000"/>
              </a:lnSpc>
              <a:spcBef>
                <a:spcPts val="1200"/>
              </a:spcBef>
              <a:spcAft>
                <a:spcPts val="0"/>
              </a:spcAft>
              <a:buSzPts val="1765"/>
              <a:buChar char="●"/>
            </a:pPr>
            <a:r>
              <a:rPr lang="en-GB" sz="1765"/>
              <a:t>It is very important that you address them in the application form.</a:t>
            </a:r>
            <a:endParaRPr sz="1765"/>
          </a:p>
          <a:p>
            <a:pPr marL="457200" lvl="0" indent="0" algn="l" rtl="0">
              <a:lnSpc>
                <a:spcPct val="80000"/>
              </a:lnSpc>
              <a:spcBef>
                <a:spcPts val="1200"/>
              </a:spcBef>
              <a:spcAft>
                <a:spcPts val="0"/>
              </a:spcAft>
              <a:buSzPts val="1018"/>
              <a:buNone/>
            </a:pPr>
            <a:endParaRPr sz="1765"/>
          </a:p>
          <a:p>
            <a:pPr marL="457200" lvl="0" indent="-340677" algn="l" rtl="0">
              <a:lnSpc>
                <a:spcPct val="80000"/>
              </a:lnSpc>
              <a:spcBef>
                <a:spcPts val="1200"/>
              </a:spcBef>
              <a:spcAft>
                <a:spcPts val="0"/>
              </a:spcAft>
              <a:buSzPts val="1765"/>
              <a:buChar char="●"/>
            </a:pPr>
            <a:r>
              <a:rPr lang="en-GB" sz="1765"/>
              <a:t>Additional information section allows you to talk about your skills and experience that is relevant to the job.</a:t>
            </a:r>
            <a:endParaRPr sz="1195">
              <a:solidFill>
                <a:schemeClr val="dk1"/>
              </a:solidFill>
              <a:latin typeface="Calibri"/>
              <a:ea typeface="Calibri"/>
              <a:cs typeface="Calibri"/>
              <a:sym typeface="Calibri"/>
            </a:endParaRPr>
          </a:p>
        </p:txBody>
      </p:sp>
      <p:pic>
        <p:nvPicPr>
          <p:cNvPr id="223" name="Google Shape;223;p28"/>
          <p:cNvPicPr preferRelativeResize="0"/>
          <p:nvPr/>
        </p:nvPicPr>
        <p:blipFill rotWithShape="1">
          <a:blip r:embed="rId3">
            <a:alphaModFix/>
          </a:blip>
          <a:srcRect/>
          <a:stretch/>
        </p:blipFill>
        <p:spPr>
          <a:xfrm>
            <a:off x="5181264" y="409997"/>
            <a:ext cx="3366971" cy="403952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Evidencing criteria – back yourself up</a:t>
            </a:r>
            <a:endParaRPr/>
          </a:p>
        </p:txBody>
      </p:sp>
      <p:sp>
        <p:nvSpPr>
          <p:cNvPr id="230" name="Google Shape;230;p29"/>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a:bodyPr>
          <a:lstStyle/>
          <a:p>
            <a:pPr marL="457200" lvl="0" indent="-342900" algn="l" rtl="0">
              <a:lnSpc>
                <a:spcPct val="100000"/>
              </a:lnSpc>
              <a:spcBef>
                <a:spcPts val="0"/>
              </a:spcBef>
              <a:spcAft>
                <a:spcPts val="0"/>
              </a:spcAft>
              <a:buSzPts val="1800"/>
              <a:buChar char="●"/>
            </a:pPr>
            <a:r>
              <a:rPr lang="en-GB"/>
              <a:t>Empty statement from an application form:</a:t>
            </a:r>
            <a:endParaRPr/>
          </a:p>
          <a:p>
            <a:pPr marL="914400" lvl="1" indent="-330200" algn="l" rtl="0">
              <a:lnSpc>
                <a:spcPct val="100000"/>
              </a:lnSpc>
              <a:spcBef>
                <a:spcPts val="0"/>
              </a:spcBef>
              <a:spcAft>
                <a:spcPts val="0"/>
              </a:spcAft>
              <a:buSzPts val="1600"/>
              <a:buChar char="○"/>
            </a:pPr>
            <a:r>
              <a:rPr lang="en-GB" sz="1600"/>
              <a:t>“I am the perfect person for the job and  would fit in brilliantly with your team”</a:t>
            </a:r>
            <a:endParaRPr sz="1600"/>
          </a:p>
          <a:p>
            <a:pPr marL="457200" lvl="0" indent="0" algn="l" rtl="0">
              <a:lnSpc>
                <a:spcPct val="100000"/>
              </a:lnSpc>
              <a:spcBef>
                <a:spcPts val="1200"/>
              </a:spcBef>
              <a:spcAft>
                <a:spcPts val="0"/>
              </a:spcAft>
              <a:buNone/>
            </a:pPr>
            <a:endParaRPr sz="1200"/>
          </a:p>
          <a:p>
            <a:pPr marL="457200" lvl="0" indent="-342900" algn="l" rtl="0">
              <a:lnSpc>
                <a:spcPct val="100000"/>
              </a:lnSpc>
              <a:spcBef>
                <a:spcPts val="1200"/>
              </a:spcBef>
              <a:spcAft>
                <a:spcPts val="0"/>
              </a:spcAft>
              <a:buSzPts val="1800"/>
              <a:buChar char="●"/>
            </a:pPr>
            <a:r>
              <a:rPr lang="en-GB"/>
              <a:t>Link all your statements with facts.</a:t>
            </a:r>
            <a:endParaRPr/>
          </a:p>
          <a:p>
            <a:pPr marL="457200" lvl="0" indent="0" algn="l" rtl="0">
              <a:lnSpc>
                <a:spcPct val="100000"/>
              </a:lnSpc>
              <a:spcBef>
                <a:spcPts val="1200"/>
              </a:spcBef>
              <a:spcAft>
                <a:spcPts val="0"/>
              </a:spcAft>
              <a:buNone/>
            </a:pPr>
            <a:endParaRPr sz="1200"/>
          </a:p>
          <a:p>
            <a:pPr marL="457200" lvl="0" indent="-342900" algn="l" rtl="0">
              <a:lnSpc>
                <a:spcPct val="100000"/>
              </a:lnSpc>
              <a:spcBef>
                <a:spcPts val="1200"/>
              </a:spcBef>
              <a:spcAft>
                <a:spcPts val="0"/>
              </a:spcAft>
              <a:buSzPts val="1800"/>
              <a:buChar char="●"/>
            </a:pPr>
            <a:r>
              <a:rPr lang="en-GB"/>
              <a:t>Linked statement from an application form:</a:t>
            </a:r>
            <a:endParaRPr/>
          </a:p>
          <a:p>
            <a:pPr marL="914400" lvl="1" indent="-330200" algn="l" rtl="0">
              <a:lnSpc>
                <a:spcPct val="100000"/>
              </a:lnSpc>
              <a:spcBef>
                <a:spcPts val="0"/>
              </a:spcBef>
              <a:spcAft>
                <a:spcPts val="0"/>
              </a:spcAft>
              <a:buSzPts val="1600"/>
              <a:buChar char="○"/>
            </a:pPr>
            <a:r>
              <a:rPr lang="en-GB" sz="1600"/>
              <a:t>“I am the perfect person for the job. I have a variety of skills which include (X,Y &amp; Z) These skills have been demonstrated during my previous role where I…</a:t>
            </a:r>
            <a:endParaRPr/>
          </a:p>
          <a:p>
            <a:pPr marL="177800" lvl="0" indent="-38100" algn="l" rtl="0">
              <a:lnSpc>
                <a:spcPct val="90000"/>
              </a:lnSpc>
              <a:spcBef>
                <a:spcPts val="1200"/>
              </a:spcBef>
              <a:spcAft>
                <a:spcPts val="1200"/>
              </a:spcAft>
              <a:buClr>
                <a:schemeClr val="dk1"/>
              </a:buClr>
              <a:buSzPts val="21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0"/>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Use the STAR approach</a:t>
            </a:r>
            <a:endParaRPr/>
          </a:p>
        </p:txBody>
      </p:sp>
      <p:sp>
        <p:nvSpPr>
          <p:cNvPr id="237" name="Google Shape;237;p30"/>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Autofit/>
          </a:bodyPr>
          <a:lstStyle/>
          <a:p>
            <a:pPr marL="457200" lvl="0" indent="-361950" algn="l" rtl="0">
              <a:lnSpc>
                <a:spcPct val="100000"/>
              </a:lnSpc>
              <a:spcBef>
                <a:spcPts val="0"/>
              </a:spcBef>
              <a:spcAft>
                <a:spcPts val="0"/>
              </a:spcAft>
              <a:buSzPts val="2100"/>
              <a:buChar char="●"/>
            </a:pPr>
            <a:r>
              <a:rPr lang="en-GB" sz="2100"/>
              <a:t>Situation</a:t>
            </a:r>
            <a:endParaRPr sz="2100"/>
          </a:p>
          <a:p>
            <a:pPr marL="914400" lvl="1" indent="-361950" algn="l" rtl="0">
              <a:lnSpc>
                <a:spcPct val="100000"/>
              </a:lnSpc>
              <a:spcBef>
                <a:spcPts val="0"/>
              </a:spcBef>
              <a:spcAft>
                <a:spcPts val="0"/>
              </a:spcAft>
              <a:buSzPts val="2100"/>
              <a:buChar char="○"/>
            </a:pPr>
            <a:r>
              <a:rPr lang="en-GB" sz="2100"/>
              <a:t>Begin by giving context and describing the situation</a:t>
            </a:r>
            <a:endParaRPr sz="2100"/>
          </a:p>
          <a:p>
            <a:pPr marL="457200" lvl="0" indent="-361950" algn="l" rtl="0">
              <a:lnSpc>
                <a:spcPct val="100000"/>
              </a:lnSpc>
              <a:spcBef>
                <a:spcPts val="0"/>
              </a:spcBef>
              <a:spcAft>
                <a:spcPts val="0"/>
              </a:spcAft>
              <a:buSzPts val="2100"/>
              <a:buChar char="●"/>
            </a:pPr>
            <a:r>
              <a:rPr lang="en-GB" sz="2100"/>
              <a:t>Task</a:t>
            </a:r>
            <a:endParaRPr sz="2100"/>
          </a:p>
          <a:p>
            <a:pPr marL="914400" lvl="1" indent="-361950" algn="l" rtl="0">
              <a:lnSpc>
                <a:spcPct val="100000"/>
              </a:lnSpc>
              <a:spcBef>
                <a:spcPts val="0"/>
              </a:spcBef>
              <a:spcAft>
                <a:spcPts val="0"/>
              </a:spcAft>
              <a:buSzPts val="2100"/>
              <a:buChar char="○"/>
            </a:pPr>
            <a:r>
              <a:rPr lang="en-GB" sz="2100"/>
              <a:t>Describe the task you were working on. What was your goal?</a:t>
            </a:r>
            <a:endParaRPr sz="2100"/>
          </a:p>
          <a:p>
            <a:pPr marL="457200" lvl="0" indent="-361950" algn="l" rtl="0">
              <a:lnSpc>
                <a:spcPct val="100000"/>
              </a:lnSpc>
              <a:spcBef>
                <a:spcPts val="0"/>
              </a:spcBef>
              <a:spcAft>
                <a:spcPts val="0"/>
              </a:spcAft>
              <a:buSzPts val="2100"/>
              <a:buChar char="●"/>
            </a:pPr>
            <a:r>
              <a:rPr lang="en-GB" sz="2100"/>
              <a:t>Action</a:t>
            </a:r>
            <a:endParaRPr sz="2100">
              <a:solidFill>
                <a:srgbClr val="000000"/>
              </a:solidFill>
              <a:latin typeface="Arial"/>
              <a:ea typeface="Arial"/>
              <a:cs typeface="Arial"/>
              <a:sym typeface="Arial"/>
            </a:endParaRPr>
          </a:p>
          <a:p>
            <a:pPr marL="914400" lvl="1" indent="-361950" algn="l" rtl="0">
              <a:lnSpc>
                <a:spcPct val="100000"/>
              </a:lnSpc>
              <a:spcBef>
                <a:spcPts val="0"/>
              </a:spcBef>
              <a:spcAft>
                <a:spcPts val="0"/>
              </a:spcAft>
              <a:buSzPts val="2100"/>
              <a:buChar char="○"/>
            </a:pPr>
            <a:r>
              <a:rPr lang="en-GB" sz="2100"/>
              <a:t>What did you do? What were YOUR specific actions?</a:t>
            </a:r>
            <a:endParaRPr sz="2100"/>
          </a:p>
          <a:p>
            <a:pPr marL="457200" lvl="0" indent="-361950" algn="l" rtl="0">
              <a:lnSpc>
                <a:spcPct val="100000"/>
              </a:lnSpc>
              <a:spcBef>
                <a:spcPts val="0"/>
              </a:spcBef>
              <a:spcAft>
                <a:spcPts val="0"/>
              </a:spcAft>
              <a:buSzPts val="2100"/>
              <a:buChar char="●"/>
            </a:pPr>
            <a:r>
              <a:rPr lang="en-GB" sz="2100"/>
              <a:t>Result</a:t>
            </a:r>
            <a:endParaRPr sz="2100"/>
          </a:p>
          <a:p>
            <a:pPr marL="914400" lvl="1" indent="-361950" algn="l" rtl="0">
              <a:lnSpc>
                <a:spcPct val="100000"/>
              </a:lnSpc>
              <a:spcBef>
                <a:spcPts val="0"/>
              </a:spcBef>
              <a:spcAft>
                <a:spcPts val="0"/>
              </a:spcAft>
              <a:buSzPts val="2100"/>
              <a:buChar char="○"/>
            </a:pPr>
            <a:r>
              <a:rPr lang="en-GB" sz="2100"/>
              <a:t>What was the end result? Be reflective. What have you learned that you will use in the future?</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Competency Based Questions</a:t>
            </a:r>
            <a:endParaRPr/>
          </a:p>
        </p:txBody>
      </p:sp>
      <p:sp>
        <p:nvSpPr>
          <p:cNvPr id="243" name="Google Shape;243;p31"/>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Using the STAR technique how would you answer this question:</a:t>
            </a:r>
            <a:endParaRPr/>
          </a:p>
          <a:p>
            <a:pPr marL="0" lvl="0" indent="0" algn="l" rtl="0">
              <a:spcBef>
                <a:spcPts val="1200"/>
              </a:spcBef>
              <a:spcAft>
                <a:spcPts val="0"/>
              </a:spcAft>
              <a:buNone/>
            </a:pPr>
            <a:endParaRPr/>
          </a:p>
          <a:p>
            <a:pPr marL="0" lvl="0" indent="0" algn="ctr" rtl="0">
              <a:spcBef>
                <a:spcPts val="1200"/>
              </a:spcBef>
              <a:spcAft>
                <a:spcPts val="0"/>
              </a:spcAft>
              <a:buNone/>
            </a:pPr>
            <a:r>
              <a:rPr lang="en-GB" i="1"/>
              <a:t>“Tell us about a time you have had to think on your feet and solve a problem under pressure?”</a:t>
            </a:r>
            <a:endParaRPr i="1"/>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2"/>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Application form checklist</a:t>
            </a:r>
            <a:endParaRPr/>
          </a:p>
        </p:txBody>
      </p:sp>
      <p:sp>
        <p:nvSpPr>
          <p:cNvPr id="250" name="Google Shape;250;p32"/>
          <p:cNvSpPr txBox="1">
            <a:spLocks noGrp="1"/>
          </p:cNvSpPr>
          <p:nvPr>
            <p:ph type="body" idx="1"/>
          </p:nvPr>
        </p:nvSpPr>
        <p:spPr>
          <a:xfrm>
            <a:off x="311700" y="1229875"/>
            <a:ext cx="6029100" cy="3339000"/>
          </a:xfrm>
          <a:prstGeom prst="rect">
            <a:avLst/>
          </a:prstGeom>
          <a:noFill/>
          <a:ln>
            <a:noFill/>
          </a:ln>
        </p:spPr>
        <p:txBody>
          <a:bodyPr spcFirstLastPara="1" wrap="square" lIns="68575" tIns="34275" rIns="68575" bIns="34275" anchor="t" anchorCtr="0">
            <a:normAutofit/>
          </a:bodyPr>
          <a:lstStyle/>
          <a:p>
            <a:pPr marL="457200" lvl="0" indent="-342900" algn="l" rtl="0">
              <a:lnSpc>
                <a:spcPct val="100000"/>
              </a:lnSpc>
              <a:spcBef>
                <a:spcPts val="0"/>
              </a:spcBef>
              <a:spcAft>
                <a:spcPts val="0"/>
              </a:spcAft>
              <a:buSzPts val="1800"/>
              <a:buChar char="●"/>
            </a:pPr>
            <a:r>
              <a:rPr lang="en-GB"/>
              <a:t>Check application form for spelling mistakes and get someone to check</a:t>
            </a:r>
            <a:endParaRPr/>
          </a:p>
          <a:p>
            <a:pPr marL="457200" lvl="0" indent="-342900" algn="l" rtl="0">
              <a:lnSpc>
                <a:spcPct val="100000"/>
              </a:lnSpc>
              <a:spcBef>
                <a:spcPts val="1000"/>
              </a:spcBef>
              <a:spcAft>
                <a:spcPts val="0"/>
              </a:spcAft>
              <a:buSzPts val="1800"/>
              <a:buChar char="●"/>
            </a:pPr>
            <a:r>
              <a:rPr lang="en-GB"/>
              <a:t>Save a copy of your application to refer back to</a:t>
            </a:r>
            <a:endParaRPr/>
          </a:p>
          <a:p>
            <a:pPr marL="457200" lvl="0" indent="-342900" algn="l" rtl="0">
              <a:lnSpc>
                <a:spcPct val="100000"/>
              </a:lnSpc>
              <a:spcBef>
                <a:spcPts val="1000"/>
              </a:spcBef>
              <a:spcAft>
                <a:spcPts val="0"/>
              </a:spcAft>
              <a:buSzPts val="1800"/>
              <a:buChar char="●"/>
            </a:pPr>
            <a:r>
              <a:rPr lang="en-GB"/>
              <a:t>Leave plenty of time before closing date. Some forms are long and tricky to complete</a:t>
            </a:r>
            <a:endParaRPr/>
          </a:p>
          <a:p>
            <a:pPr marL="457200" lvl="0" indent="-342900" algn="l" rtl="0">
              <a:lnSpc>
                <a:spcPct val="100000"/>
              </a:lnSpc>
              <a:spcBef>
                <a:spcPts val="1000"/>
              </a:spcBef>
              <a:spcAft>
                <a:spcPts val="1000"/>
              </a:spcAft>
              <a:buSzPts val="1800"/>
              <a:buChar char="●"/>
            </a:pPr>
            <a:r>
              <a:rPr lang="en-GB"/>
              <a:t>Do a practice form first – create a rough draft in word if online application</a:t>
            </a:r>
            <a:endParaRPr/>
          </a:p>
        </p:txBody>
      </p:sp>
      <p:pic>
        <p:nvPicPr>
          <p:cNvPr id="251" name="Google Shape;251;p32"/>
          <p:cNvPicPr preferRelativeResize="0"/>
          <p:nvPr/>
        </p:nvPicPr>
        <p:blipFill rotWithShape="1">
          <a:blip r:embed="rId3">
            <a:alphaModFix/>
          </a:blip>
          <a:srcRect/>
          <a:stretch/>
        </p:blipFill>
        <p:spPr>
          <a:xfrm>
            <a:off x="6679153" y="788747"/>
            <a:ext cx="1836205" cy="287880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3"/>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Activity</a:t>
            </a:r>
            <a:endParaRPr/>
          </a:p>
        </p:txBody>
      </p:sp>
      <p:sp>
        <p:nvSpPr>
          <p:cNvPr id="257" name="Google Shape;257;p33"/>
          <p:cNvSpPr txBox="1">
            <a:spLocks noGrp="1"/>
          </p:cNvSpPr>
          <p:nvPr>
            <p:ph type="body" idx="1"/>
          </p:nvPr>
        </p:nvSpPr>
        <p:spPr>
          <a:xfrm>
            <a:off x="311700" y="1229875"/>
            <a:ext cx="8520600" cy="3339000"/>
          </a:xfrm>
          <a:prstGeom prst="rect">
            <a:avLst/>
          </a:prstGeom>
          <a:noFill/>
          <a:ln>
            <a:noFill/>
          </a:ln>
        </p:spPr>
        <p:txBody>
          <a:bodyPr spcFirstLastPara="1" wrap="square" lIns="68575" tIns="34275" rIns="68575" bIns="34275" anchor="t" anchorCtr="0">
            <a:normAutofit lnSpcReduction="10000"/>
          </a:bodyPr>
          <a:lstStyle/>
          <a:p>
            <a:pPr marL="177800" lvl="0" indent="-152400" algn="l" rtl="0">
              <a:lnSpc>
                <a:spcPct val="90000"/>
              </a:lnSpc>
              <a:spcBef>
                <a:spcPts val="0"/>
              </a:spcBef>
              <a:spcAft>
                <a:spcPts val="0"/>
              </a:spcAft>
              <a:buSzPts val="1800"/>
              <a:buChar char="●"/>
            </a:pPr>
            <a:r>
              <a:rPr lang="en-GB" dirty="0"/>
              <a:t>Now complete the Securing Progression Workbook…</a:t>
            </a:r>
            <a:endParaRPr dirty="0"/>
          </a:p>
          <a:p>
            <a:pPr marL="457200" lvl="0" indent="0" algn="l" rtl="0">
              <a:lnSpc>
                <a:spcPct val="90000"/>
              </a:lnSpc>
              <a:spcBef>
                <a:spcPts val="0"/>
              </a:spcBef>
              <a:spcAft>
                <a:spcPts val="0"/>
              </a:spcAft>
              <a:buNone/>
            </a:pPr>
            <a:endParaRPr dirty="0"/>
          </a:p>
          <a:p>
            <a:pPr marL="914400" lvl="1" indent="-336550" algn="l" rtl="0">
              <a:lnSpc>
                <a:spcPct val="90000"/>
              </a:lnSpc>
              <a:spcBef>
                <a:spcPts val="0"/>
              </a:spcBef>
              <a:spcAft>
                <a:spcPts val="0"/>
              </a:spcAft>
              <a:buSzPts val="1700"/>
              <a:buChar char="○"/>
            </a:pPr>
            <a:r>
              <a:rPr lang="en-GB" sz="1700" dirty="0"/>
              <a:t>Complete all questions within Unit B in the workbook.</a:t>
            </a:r>
            <a:endParaRPr sz="1700" dirty="0"/>
          </a:p>
          <a:p>
            <a:pPr marL="1371600" lvl="2" indent="-336550" algn="l" rtl="0">
              <a:lnSpc>
                <a:spcPct val="90000"/>
              </a:lnSpc>
              <a:spcBef>
                <a:spcPts val="0"/>
              </a:spcBef>
              <a:spcAft>
                <a:spcPts val="0"/>
              </a:spcAft>
              <a:buSzPts val="1700"/>
              <a:buChar char="■"/>
            </a:pPr>
            <a:r>
              <a:rPr lang="en-GB" sz="1700" i="1" dirty="0"/>
              <a:t>Except Q6 - you will produce your final application next lesson after tutor feedback</a:t>
            </a:r>
            <a:endParaRPr sz="1700" dirty="0"/>
          </a:p>
          <a:p>
            <a:pPr marL="914400" lvl="1" indent="-336550" algn="l" rtl="0">
              <a:lnSpc>
                <a:spcPct val="90000"/>
              </a:lnSpc>
              <a:spcBef>
                <a:spcPts val="800"/>
              </a:spcBef>
              <a:spcAft>
                <a:spcPts val="0"/>
              </a:spcAft>
              <a:buSzPts val="1700"/>
              <a:buChar char="○"/>
            </a:pPr>
            <a:r>
              <a:rPr lang="en-GB" sz="1700" dirty="0"/>
              <a:t>Ensure all questions are fully answered and that correct English is used (grammar, spelling, etc.)</a:t>
            </a:r>
            <a:endParaRPr sz="1700" dirty="0"/>
          </a:p>
          <a:p>
            <a:pPr marL="914400" lvl="1" indent="-336550" algn="l" rtl="0">
              <a:lnSpc>
                <a:spcPct val="90000"/>
              </a:lnSpc>
              <a:spcBef>
                <a:spcPts val="800"/>
              </a:spcBef>
              <a:spcAft>
                <a:spcPts val="0"/>
              </a:spcAft>
              <a:buSzPts val="1700"/>
              <a:buChar char="○"/>
            </a:pPr>
            <a:r>
              <a:rPr lang="en-GB" sz="1700" dirty="0"/>
              <a:t>Answers should be suitable for the question – if it is asking for a description or explanation, then ensure you have given this and not just a bullet point list or single word answer.</a:t>
            </a:r>
            <a:endParaRPr sz="1700" dirty="0"/>
          </a:p>
          <a:p>
            <a:pPr marL="914400" lvl="1" indent="-336550" algn="l" rtl="0">
              <a:lnSpc>
                <a:spcPct val="90000"/>
              </a:lnSpc>
              <a:spcBef>
                <a:spcPts val="800"/>
              </a:spcBef>
              <a:spcAft>
                <a:spcPts val="0"/>
              </a:spcAft>
              <a:buSzPts val="1700"/>
              <a:buChar char="○"/>
            </a:pPr>
            <a:r>
              <a:rPr lang="en-GB" sz="1700" dirty="0"/>
              <a:t>Complete the Learner Feedback Page (see next slide…)</a:t>
            </a:r>
            <a:endParaRPr sz="1700" dirty="0"/>
          </a:p>
          <a:p>
            <a:pPr marL="0" lvl="0" indent="0" algn="l" rtl="0">
              <a:lnSpc>
                <a:spcPct val="90000"/>
              </a:lnSpc>
              <a:spcBef>
                <a:spcPts val="800"/>
              </a:spcBef>
              <a:spcAft>
                <a:spcPts val="1200"/>
              </a:spcAft>
              <a:buClr>
                <a:schemeClr val="dk1"/>
              </a:buClr>
              <a:buSzPts val="2100"/>
              <a:buNone/>
            </a:pPr>
            <a:r>
              <a:rPr lang="en-GB" dirty="0"/>
              <a:t>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4"/>
          <p:cNvSpPr txBox="1">
            <a:spLocks noGrp="1"/>
          </p:cNvSpPr>
          <p:nvPr>
            <p:ph type="title"/>
          </p:nvPr>
        </p:nvSpPr>
        <p:spPr>
          <a:xfrm>
            <a:off x="311700" y="410000"/>
            <a:ext cx="8520600" cy="607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GB"/>
              <a:t>At the end of each unit…</a:t>
            </a:r>
            <a:endParaRPr/>
          </a:p>
        </p:txBody>
      </p:sp>
      <p:sp>
        <p:nvSpPr>
          <p:cNvPr id="263" name="Google Shape;263;p34"/>
          <p:cNvSpPr txBox="1">
            <a:spLocks noGrp="1"/>
          </p:cNvSpPr>
          <p:nvPr>
            <p:ph type="body" idx="1"/>
          </p:nvPr>
        </p:nvSpPr>
        <p:spPr>
          <a:xfrm>
            <a:off x="311700" y="1092525"/>
            <a:ext cx="8520600" cy="1175700"/>
          </a:xfrm>
          <a:prstGeom prst="rect">
            <a:avLst/>
          </a:prstGeom>
          <a:noFill/>
          <a:ln>
            <a:noFill/>
          </a:ln>
        </p:spPr>
        <p:txBody>
          <a:bodyPr spcFirstLastPara="1" wrap="square" lIns="68575" tIns="34275" rIns="68575" bIns="34275" anchor="t" anchorCtr="0">
            <a:normAutofit/>
          </a:bodyPr>
          <a:lstStyle/>
          <a:p>
            <a:pPr marL="177800" lvl="0" indent="-171450" algn="l" rtl="0">
              <a:lnSpc>
                <a:spcPct val="90000"/>
              </a:lnSpc>
              <a:spcBef>
                <a:spcPts val="0"/>
              </a:spcBef>
              <a:spcAft>
                <a:spcPts val="0"/>
              </a:spcAft>
              <a:buClr>
                <a:schemeClr val="dk1"/>
              </a:buClr>
              <a:buSzPts val="2100"/>
              <a:buChar char="●"/>
            </a:pPr>
            <a:r>
              <a:rPr lang="en-GB" dirty="0"/>
              <a:t>Complete the ‘Learner Feedback’ section on the Assessment Feedback Sheet.</a:t>
            </a:r>
            <a:endParaRPr dirty="0"/>
          </a:p>
          <a:p>
            <a:pPr marL="177800" lvl="0" indent="-171450" algn="l" rtl="0">
              <a:lnSpc>
                <a:spcPct val="90000"/>
              </a:lnSpc>
              <a:spcBef>
                <a:spcPts val="800"/>
              </a:spcBef>
              <a:spcAft>
                <a:spcPts val="0"/>
              </a:spcAft>
              <a:buClr>
                <a:schemeClr val="dk1"/>
              </a:buClr>
              <a:buSzPts val="2100"/>
              <a:buChar char="●"/>
            </a:pPr>
            <a:r>
              <a:rPr lang="en-GB" dirty="0"/>
              <a:t>Sign the ‘Learner Signature’ box and add the date</a:t>
            </a:r>
            <a:endParaRPr dirty="0"/>
          </a:p>
        </p:txBody>
      </p:sp>
      <p:pic>
        <p:nvPicPr>
          <p:cNvPr id="264" name="Google Shape;264;p34"/>
          <p:cNvPicPr preferRelativeResize="0"/>
          <p:nvPr/>
        </p:nvPicPr>
        <p:blipFill>
          <a:blip r:embed="rId3">
            <a:alphaModFix/>
          </a:blip>
          <a:stretch>
            <a:fillRect/>
          </a:stretch>
        </p:blipFill>
        <p:spPr>
          <a:xfrm>
            <a:off x="438450" y="2199175"/>
            <a:ext cx="5261700" cy="26052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1319</Words>
  <Application>Microsoft Office PowerPoint</Application>
  <PresentationFormat>On-screen Show (16:9)</PresentationFormat>
  <Paragraphs>120</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Roboto</vt:lpstr>
      <vt:lpstr>Tahoma</vt:lpstr>
      <vt:lpstr>Roboto Black</vt:lpstr>
      <vt:lpstr>Calibri</vt:lpstr>
      <vt:lpstr>Arial</vt:lpstr>
      <vt:lpstr>Geometric</vt:lpstr>
      <vt:lpstr>PowerPoint Presentation</vt:lpstr>
      <vt:lpstr>Learning Outcomes</vt:lpstr>
      <vt:lpstr>Introduction - Unit Aim</vt:lpstr>
      <vt:lpstr>Why do jobs require an application form and covering letter?</vt:lpstr>
      <vt:lpstr>When to use a Covering Letter</vt:lpstr>
      <vt:lpstr>Cover Letter - What to include</vt:lpstr>
      <vt:lpstr>Cover Letter Structure</vt:lpstr>
      <vt:lpstr>Identifying Suitable Opportunities</vt:lpstr>
      <vt:lpstr>Types of application forms</vt:lpstr>
      <vt:lpstr>What information is often found on an application forms?</vt:lpstr>
      <vt:lpstr>Employer requirements </vt:lpstr>
      <vt:lpstr>Evidencing criteria – back yourself up</vt:lpstr>
      <vt:lpstr>Use the STAR approach</vt:lpstr>
      <vt:lpstr>Competency Based Questions</vt:lpstr>
      <vt:lpstr>Application form checklist</vt:lpstr>
      <vt:lpstr>Activity</vt:lpstr>
      <vt:lpstr>At the end of each unit…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Mohaan Biswas</cp:lastModifiedBy>
  <cp:revision>1</cp:revision>
  <dcterms:modified xsi:type="dcterms:W3CDTF">2026-01-03T11:23:11Z</dcterms:modified>
</cp:coreProperties>
</file>