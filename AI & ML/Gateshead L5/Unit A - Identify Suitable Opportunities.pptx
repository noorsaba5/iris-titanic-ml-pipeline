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Lst>
  <p:sldSz cx="9144000" cy="5143500" type="screen16x9"/>
  <p:notesSz cx="6858000" cy="9144000"/>
  <p:embeddedFontLst>
    <p:embeddedFont>
      <p:font typeface="Arimo" panose="020B0604020202020204" charset="0"/>
      <p:regular r:id="rId25"/>
      <p:bold r:id="rId26"/>
      <p:italic r:id="rId27"/>
      <p:boldItalic r:id="rId28"/>
    </p:embeddedFont>
    <p:embeddedFont>
      <p:font typeface="Comic Sans MS" panose="030F0702030302020204" pitchFamily="66" charset="0"/>
      <p:regular r:id="rId29"/>
      <p:bold r:id="rId30"/>
      <p:italic r:id="rId31"/>
      <p:boldItalic r:id="rId32"/>
    </p:embeddedFont>
    <p:embeddedFont>
      <p:font typeface="Roboto" panose="02000000000000000000" pitchFamily="2" charset="0"/>
      <p:regular r:id="rId33"/>
      <p:bold r:id="rId34"/>
      <p:italic r:id="rId35"/>
      <p:boldItalic r:id="rId36"/>
    </p:embeddedFont>
    <p:embeddedFont>
      <p:font typeface="Roboto Black" panose="02000000000000000000" pitchFamily="2" charset="0"/>
      <p:bold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866082-F7E0-411D-9D4B-EBB240F4FAF2}" v="1" dt="2026-01-03T11:12:33.4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260" y="2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an Biswas" userId="c77a8266-1d41-4303-9339-eb44c05dd8a5" providerId="ADAL" clId="{1EEFAF62-2201-4664-86A3-ECB2CF6C1B28}"/>
    <pc:docChg chg="undo custSel delSld modSld">
      <pc:chgData name="Mohaan Biswas" userId="c77a8266-1d41-4303-9339-eb44c05dd8a5" providerId="ADAL" clId="{1EEFAF62-2201-4664-86A3-ECB2CF6C1B28}" dt="2026-01-03T11:17:16.514" v="77" actId="20577"/>
      <pc:docMkLst>
        <pc:docMk/>
      </pc:docMkLst>
      <pc:sldChg chg="modSp mod">
        <pc:chgData name="Mohaan Biswas" userId="c77a8266-1d41-4303-9339-eb44c05dd8a5" providerId="ADAL" clId="{1EEFAF62-2201-4664-86A3-ECB2CF6C1B28}" dt="2026-01-03T11:17:16.514" v="77" actId="20577"/>
        <pc:sldMkLst>
          <pc:docMk/>
          <pc:sldMk cId="0" sldId="256"/>
        </pc:sldMkLst>
        <pc:spChg chg="mod">
          <ac:chgData name="Mohaan Biswas" userId="c77a8266-1d41-4303-9339-eb44c05dd8a5" providerId="ADAL" clId="{1EEFAF62-2201-4664-86A3-ECB2CF6C1B28}" dt="2026-01-03T11:17:16.514" v="77" actId="20577"/>
          <ac:spMkLst>
            <pc:docMk/>
            <pc:sldMk cId="0" sldId="256"/>
            <ac:spMk id="112" creationId="{00000000-0000-0000-0000-000000000000}"/>
          </ac:spMkLst>
        </pc:spChg>
        <pc:spChg chg="mod">
          <ac:chgData name="Mohaan Biswas" userId="c77a8266-1d41-4303-9339-eb44c05dd8a5" providerId="ADAL" clId="{1EEFAF62-2201-4664-86A3-ECB2CF6C1B28}" dt="2026-01-03T11:14:46.759" v="70" actId="20577"/>
          <ac:spMkLst>
            <pc:docMk/>
            <pc:sldMk cId="0" sldId="256"/>
            <ac:spMk id="113" creationId="{00000000-0000-0000-0000-000000000000}"/>
          </ac:spMkLst>
        </pc:spChg>
      </pc:sldChg>
      <pc:sldChg chg="modNotesTx">
        <pc:chgData name="Mohaan Biswas" userId="c77a8266-1d41-4303-9339-eb44c05dd8a5" providerId="ADAL" clId="{1EEFAF62-2201-4664-86A3-ECB2CF6C1B28}" dt="2026-01-03T11:13:55.943" v="65" actId="20577"/>
        <pc:sldMkLst>
          <pc:docMk/>
          <pc:sldMk cId="0" sldId="273"/>
        </pc:sldMkLst>
      </pc:sldChg>
      <pc:sldChg chg="modSp mod">
        <pc:chgData name="Mohaan Biswas" userId="c77a8266-1d41-4303-9339-eb44c05dd8a5" providerId="ADAL" clId="{1EEFAF62-2201-4664-86A3-ECB2CF6C1B28}" dt="2026-01-03T11:13:29.340" v="61" actId="20577"/>
        <pc:sldMkLst>
          <pc:docMk/>
          <pc:sldMk cId="0" sldId="274"/>
        </pc:sldMkLst>
        <pc:spChg chg="mod">
          <ac:chgData name="Mohaan Biswas" userId="c77a8266-1d41-4303-9339-eb44c05dd8a5" providerId="ADAL" clId="{1EEFAF62-2201-4664-86A3-ECB2CF6C1B28}" dt="2026-01-03T11:13:29.340" v="61" actId="20577"/>
          <ac:spMkLst>
            <pc:docMk/>
            <pc:sldMk cId="0" sldId="274"/>
            <ac:spMk id="249" creationId="{00000000-0000-0000-0000-000000000000}"/>
          </ac:spMkLst>
        </pc:spChg>
      </pc:sldChg>
      <pc:sldChg chg="del">
        <pc:chgData name="Mohaan Biswas" userId="c77a8266-1d41-4303-9339-eb44c05dd8a5" providerId="ADAL" clId="{1EEFAF62-2201-4664-86A3-ECB2CF6C1B28}" dt="2026-01-03T11:14:09.100" v="66" actId="47"/>
        <pc:sldMkLst>
          <pc:docMk/>
          <pc:sldMk cId="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cb48515506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cb48515506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a4696b6c53_0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a4696b6c53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a4696b6c53_0_1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Q1) List both your strengths and weaknesses</a:t>
            </a:r>
            <a:endParaRPr dirty="0"/>
          </a:p>
        </p:txBody>
      </p:sp>
      <p:sp>
        <p:nvSpPr>
          <p:cNvPr id="128" name="Google Shape;128;g1a4696b6c53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a4696b6c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1a4696b6c53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a4696b6c5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g1a4696b6c53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a4696b6c53_0_2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sz="1100"/>
              <a:t>Q2) Explain how to improve on areas of weakness to increase the suitable job opportunities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https://trainingmag.com/how-to-conduct-a-personal-s-w-o-t-analysis/</a:t>
            </a:r>
            <a:endParaRPr/>
          </a:p>
        </p:txBody>
      </p:sp>
      <p:sp>
        <p:nvSpPr>
          <p:cNvPr id="147" name="Google Shape;147;g1a4696b6c53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a4696b6c53_0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Q2) Explain how to improve on areas of weakness to increase the suitable job opportunities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https://trainingmag.com/how-to-conduct-a-personal-s-w-o-t-analysis/</a:t>
            </a:r>
            <a:endParaRPr/>
          </a:p>
        </p:txBody>
      </p:sp>
      <p:sp>
        <p:nvSpPr>
          <p:cNvPr id="153" name="Google Shape;153;g1a4696b6c53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a4696b6c53_0_3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Q3) Using your notes list both your Skills and Qualities below. </a:t>
            </a:r>
            <a:endParaRPr/>
          </a:p>
        </p:txBody>
      </p:sp>
      <p:sp>
        <p:nvSpPr>
          <p:cNvPr id="159" name="Google Shape;159;g1a4696b6c53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a4696b6c53_0_3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Q3) Using your notes list both your Skills and Qualities below. </a:t>
            </a:r>
            <a:endParaRPr/>
          </a:p>
          <a:p>
            <a:pPr marL="0" lvl="0" indent="0" algn="l" rtl="0">
              <a:lnSpc>
                <a:spcPct val="100000"/>
              </a:lnSpc>
              <a:spcBef>
                <a:spcPts val="0"/>
              </a:spcBef>
              <a:spcAft>
                <a:spcPts val="0"/>
              </a:spcAft>
              <a:buSzPts val="1100"/>
              <a:buNone/>
            </a:pPr>
            <a:endParaRPr/>
          </a:p>
          <a:p>
            <a:pPr marL="0" marR="0" lvl="0" indent="0" algn="l" rtl="0">
              <a:lnSpc>
                <a:spcPct val="100000"/>
              </a:lnSpc>
              <a:spcBef>
                <a:spcPts val="0"/>
              </a:spcBef>
              <a:spcAft>
                <a:spcPts val="0"/>
              </a:spcAft>
              <a:buClr>
                <a:srgbClr val="000000"/>
              </a:buClr>
              <a:buSzPts val="1100"/>
              <a:buFont typeface="Arial"/>
              <a:buNone/>
            </a:pPr>
            <a:r>
              <a:rPr lang="en-GB"/>
              <a:t>Skills…</a:t>
            </a:r>
            <a:endParaRPr/>
          </a:p>
          <a:p>
            <a:pPr marL="0" marR="0" lvl="0" indent="0" algn="l" rtl="0">
              <a:lnSpc>
                <a:spcPct val="100000"/>
              </a:lnSpc>
              <a:spcBef>
                <a:spcPts val="0"/>
              </a:spcBef>
              <a:spcAft>
                <a:spcPts val="0"/>
              </a:spcAft>
              <a:buClr>
                <a:srgbClr val="000000"/>
              </a:buClr>
              <a:buSzPts val="1100"/>
              <a:buFont typeface="Arial"/>
              <a:buNone/>
            </a:pPr>
            <a:r>
              <a:rPr lang="en-GB"/>
              <a:t>Problem solving, Analytical reasoning, Critical thinking, Leadership, Adaptability, Team worker, Communication, Writing, Listening, Creativity, Social skills, Facilitation, People management, Time management, Work quality, Decision making…</a:t>
            </a: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r>
              <a:rPr lang="en-GB"/>
              <a:t>Qualities…</a:t>
            </a:r>
            <a:endParaRPr/>
          </a:p>
          <a:p>
            <a:pPr marL="0" lvl="0" indent="0" algn="l" rtl="0">
              <a:lnSpc>
                <a:spcPct val="100000"/>
              </a:lnSpc>
              <a:spcBef>
                <a:spcPts val="0"/>
              </a:spcBef>
              <a:spcAft>
                <a:spcPts val="0"/>
              </a:spcAft>
              <a:buSzPts val="1100"/>
              <a:buNone/>
            </a:pPr>
            <a:r>
              <a:rPr lang="en-GB"/>
              <a:t>Integrity, Independence, Self-motivation, Initiative, Confidence, Persuasion, Humility, Dependable, Helpful, Efficient, Trustworthy, Reliable, Perceptive, Creative, Mature, Open-Minded, Thoughtful, Considerate, Courteous, Talented, Educated…</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marR="0" lvl="0" indent="0" algn="l" rtl="0">
              <a:lnSpc>
                <a:spcPct val="100000"/>
              </a:lnSpc>
              <a:spcBef>
                <a:spcPts val="0"/>
              </a:spcBef>
              <a:spcAft>
                <a:spcPts val="0"/>
              </a:spcAft>
              <a:buClr>
                <a:srgbClr val="000000"/>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70" name="Google Shape;170;g1a4696b6c53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a4696b6c5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1a4696b6c53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a4696b6c5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1a4696b6c53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a4696b6c5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1a4696b6c53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a4696b6c5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1a4696b6c53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a4696b6c5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1a4696b6c53_0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a4696b6c53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1a4696b6c53_0_4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r>
              <a:rPr lang="en-GB"/>
              <a:t>Q5) Identify a long-term goal and related short-term goals below for potential job opportunity</a:t>
            </a:r>
            <a:endParaRPr/>
          </a:p>
          <a:p>
            <a:pPr marL="158750" lvl="0" indent="0" algn="l" rtl="0">
              <a:lnSpc>
                <a:spcPct val="100000"/>
              </a:lnSpc>
              <a:spcBef>
                <a:spcPts val="0"/>
              </a:spcBef>
              <a:spcAft>
                <a:spcPts val="0"/>
              </a:spcAft>
              <a:buSzPts val="1100"/>
              <a:buNone/>
            </a:pP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Overcome your fears</a:t>
            </a:r>
            <a:r>
              <a:rPr lang="en-GB" sz="1100"/>
              <a:t>. Fear can prevent you from growing and progressing. If you are afraid of public speaking, for instance, take a class or join a group that helps people become better public speakers.</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Read. </a:t>
            </a:r>
            <a:r>
              <a:rPr lang="en-GB" sz="1100"/>
              <a:t>Reading can expand your knowledge and vocabulary and keep you informed. It can also stimulate your mind and can improve your critical thinking skills. </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Learn something new</a:t>
            </a:r>
            <a:r>
              <a:rPr lang="en-GB" sz="1100"/>
              <a:t>. Learn a new skill or topic, whether you do it yourself or sign up for a class. You might, for instance, take courses to learn another language, a new software program or how to write creatively. </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Ask for feedback. </a:t>
            </a:r>
            <a:r>
              <a:rPr lang="en-GB" sz="1100"/>
              <a:t>Approach a family member, friend, colleague or manager, and ask them to give you feedback on a recent project or accomplishment. Use their positive comments as well as their constructive criticism to find ways to improve. </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Observe others</a:t>
            </a:r>
            <a:r>
              <a:rPr lang="en-GB" sz="1100"/>
              <a:t>. Watch and learn from the people who inspire you. This could be someone you know, such as a supervisor, family member or public figure. Identify the qualities you admire in them and try to replicate those in yourself.</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Network. </a:t>
            </a:r>
            <a:r>
              <a:rPr lang="en-GB" sz="1100"/>
              <a:t>By interacting with many types of people, you can learn new ideas and understand how to communicate and work with different personality types. You can also meet people and develop relationships that might help you in the future.</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Keep a journal</a:t>
            </a:r>
            <a:r>
              <a:rPr lang="en-GB" sz="1100"/>
              <a:t>. Writing in a journal every day or week can help you gain self-awareness and reflect on recent events, decisions and conversations</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Meditate. </a:t>
            </a:r>
            <a:r>
              <a:rPr lang="en-GB" sz="1100"/>
              <a:t>Many people meditate to gain clarity and awareness and to reduce stress and anxiety. Meditation can help you focus on your self-development and goals in a healthy, positive and calm way. </a:t>
            </a:r>
            <a:endParaRPr/>
          </a:p>
          <a:p>
            <a:pPr marL="457200" marR="0" lvl="0" indent="-298450" algn="l" rtl="0">
              <a:lnSpc>
                <a:spcPct val="100000"/>
              </a:lnSpc>
              <a:spcBef>
                <a:spcPts val="0"/>
              </a:spcBef>
              <a:spcAft>
                <a:spcPts val="0"/>
              </a:spcAft>
              <a:buClr>
                <a:srgbClr val="000000"/>
              </a:buClr>
              <a:buSzPts val="1100"/>
              <a:buFont typeface="Arial"/>
              <a:buChar char="●"/>
            </a:pPr>
            <a:r>
              <a:rPr lang="en-GB" sz="1100" b="1"/>
              <a:t>Get a mentor. </a:t>
            </a:r>
            <a:r>
              <a:rPr lang="en-GB" sz="1100"/>
              <a:t>If you need help identifying ways to build your self-development skills, talk to a mentor. This individual could be a manager, professor, someone you admire or a professional personal growth mentor..</a:t>
            </a:r>
            <a:endParaRPr sz="1100"/>
          </a:p>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a4696b6c53_0_4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1a4696b6c53_0_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GB"/>
              <a:t>Q6) State your situation for the selection of two suitable job opportunities (This must include a positive and negative)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a4696b6c53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1a4696b6c53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rgbClr val="000000"/>
              </a:buClr>
              <a:buSzPts val="1100"/>
              <a:buFont typeface="Arial"/>
              <a:buNone/>
            </a:pPr>
            <a:endParaRPr sz="1100" dirty="0"/>
          </a:p>
          <a:p>
            <a:pPr marL="158750" marR="0" lvl="0" indent="0" algn="l" rtl="0">
              <a:lnSpc>
                <a:spcPct val="100000"/>
              </a:lnSpc>
              <a:spcBef>
                <a:spcPts val="0"/>
              </a:spcBef>
              <a:spcAft>
                <a:spcPts val="0"/>
              </a:spcAft>
              <a:buClr>
                <a:srgbClr val="000000"/>
              </a:buClr>
              <a:buSzPts val="1100"/>
              <a:buFont typeface="Arial"/>
              <a:buNone/>
            </a:pPr>
            <a:r>
              <a:rPr lang="en-GB" sz="1100" dirty="0"/>
              <a:t>Indeed, Monster, Glassdoor and LinkedIn, word of mouth, company website, agencies </a:t>
            </a:r>
            <a:endParaRPr dirty="0"/>
          </a:p>
          <a:p>
            <a:pPr marL="457200" marR="0" lvl="0" indent="-228600" algn="l" rtl="0">
              <a:lnSpc>
                <a:spcPct val="100000"/>
              </a:lnSpc>
              <a:spcBef>
                <a:spcPts val="0"/>
              </a:spcBef>
              <a:spcAft>
                <a:spcPts val="0"/>
              </a:spcAft>
              <a:buClr>
                <a:srgbClr val="000000"/>
              </a:buClr>
              <a:buSzPts val="1100"/>
              <a:buFont typeface="Arial"/>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a4696b6c53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1a4696b6c53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a4696b6c5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1a4696b6c53_0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a4696b6c5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1a4696b6c53_0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a4696b6c53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1a4696b6c53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obj">
  <p:cSld name="OBJECT">
    <p:bg>
      <p:bgPr>
        <a:solidFill>
          <a:schemeClr val="lt1"/>
        </a:solidFill>
        <a:effectLst/>
      </p:bgPr>
    </p:bg>
    <p:spTree>
      <p:nvGrpSpPr>
        <p:cNvPr id="1" name="Shape 81"/>
        <p:cNvGrpSpPr/>
        <p:nvPr/>
      </p:nvGrpSpPr>
      <p:grpSpPr>
        <a:xfrm>
          <a:off x="0" y="0"/>
          <a:ext cx="0" cy="0"/>
          <a:chOff x="0" y="0"/>
          <a:chExt cx="0" cy="0"/>
        </a:xfrm>
      </p:grpSpPr>
      <p:sp>
        <p:nvSpPr>
          <p:cNvPr id="82" name="Google Shape;82;p13"/>
          <p:cNvSpPr/>
          <p:nvPr/>
        </p:nvSpPr>
        <p:spPr>
          <a:xfrm>
            <a:off x="0" y="4750879"/>
            <a:ext cx="9144000" cy="49529"/>
          </a:xfrm>
          <a:custGeom>
            <a:avLst/>
            <a:gdLst/>
            <a:ahLst/>
            <a:cxnLst/>
            <a:rect l="l" t="t" r="r" b="b"/>
            <a:pathLst>
              <a:path w="9144000" h="66039" extrusionOk="0">
                <a:moveTo>
                  <a:pt x="9144000" y="0"/>
                </a:moveTo>
                <a:lnTo>
                  <a:pt x="0" y="0"/>
                </a:lnTo>
                <a:lnTo>
                  <a:pt x="0" y="65532"/>
                </a:lnTo>
                <a:lnTo>
                  <a:pt x="9144000" y="65532"/>
                </a:lnTo>
                <a:lnTo>
                  <a:pt x="9144000" y="0"/>
                </a:lnTo>
                <a:close/>
              </a:path>
            </a:pathLst>
          </a:custGeom>
          <a:solidFill>
            <a:srgbClr val="58585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3" name="Google Shape;83;p13"/>
          <p:cNvSpPr/>
          <p:nvPr/>
        </p:nvSpPr>
        <p:spPr>
          <a:xfrm>
            <a:off x="895350" y="1303592"/>
            <a:ext cx="7475220" cy="0"/>
          </a:xfrm>
          <a:custGeom>
            <a:avLst/>
            <a:gdLst/>
            <a:ahLst/>
            <a:cxnLst/>
            <a:rect l="l" t="t" r="r" b="b"/>
            <a:pathLst>
              <a:path w="7475220" h="120000" extrusionOk="0">
                <a:moveTo>
                  <a:pt x="0" y="0"/>
                </a:moveTo>
                <a:lnTo>
                  <a:pt x="7475220" y="0"/>
                </a:lnTo>
              </a:path>
            </a:pathLst>
          </a:custGeom>
          <a:noFill/>
          <a:ln w="9525"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4" name="Google Shape;84;p13"/>
          <p:cNvSpPr/>
          <p:nvPr/>
        </p:nvSpPr>
        <p:spPr>
          <a:xfrm>
            <a:off x="2286" y="4800600"/>
            <a:ext cx="9142095" cy="342900"/>
          </a:xfrm>
          <a:custGeom>
            <a:avLst/>
            <a:gdLst/>
            <a:ahLst/>
            <a:cxnLst/>
            <a:rect l="l" t="t" r="r" b="b"/>
            <a:pathLst>
              <a:path w="9142095" h="457200" extrusionOk="0">
                <a:moveTo>
                  <a:pt x="9141714" y="0"/>
                </a:moveTo>
                <a:lnTo>
                  <a:pt x="0" y="0"/>
                </a:lnTo>
                <a:lnTo>
                  <a:pt x="0" y="457200"/>
                </a:lnTo>
                <a:lnTo>
                  <a:pt x="9141714" y="457200"/>
                </a:lnTo>
                <a:lnTo>
                  <a:pt x="9141714" y="0"/>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5" name="Google Shape;85;p13"/>
          <p:cNvSpPr/>
          <p:nvPr/>
        </p:nvSpPr>
        <p:spPr>
          <a:xfrm>
            <a:off x="906017" y="3257550"/>
            <a:ext cx="7406640" cy="0"/>
          </a:xfrm>
          <a:custGeom>
            <a:avLst/>
            <a:gdLst/>
            <a:ahLst/>
            <a:cxnLst/>
            <a:rect l="l" t="t" r="r" b="b"/>
            <a:pathLst>
              <a:path w="7406640" h="120000" extrusionOk="0">
                <a:moveTo>
                  <a:pt x="0" y="0"/>
                </a:moveTo>
                <a:lnTo>
                  <a:pt x="7406640" y="0"/>
                </a:lnTo>
              </a:path>
            </a:pathLst>
          </a:custGeom>
          <a:noFill/>
          <a:ln w="9525"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6" name="Google Shape;86;p13"/>
          <p:cNvSpPr txBox="1">
            <a:spLocks noGrp="1"/>
          </p:cNvSpPr>
          <p:nvPr>
            <p:ph type="ctrTitle"/>
          </p:nvPr>
        </p:nvSpPr>
        <p:spPr>
          <a:xfrm>
            <a:off x="901700" y="1981580"/>
            <a:ext cx="4672200" cy="9336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3000"/>
              <a:buNone/>
              <a:defRPr sz="8000" b="0" i="0">
                <a:solidFill>
                  <a:srgbClr val="252525"/>
                </a:solidFill>
                <a:latin typeface="Calibri"/>
                <a:ea typeface="Calibri"/>
                <a:cs typeface="Calibri"/>
                <a:sym typeface="Calibri"/>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7" name="Google Shape;87;p13"/>
          <p:cNvSpPr txBox="1">
            <a:spLocks noGrp="1"/>
          </p:cNvSpPr>
          <p:nvPr>
            <p:ph type="subTitle" idx="1"/>
          </p:nvPr>
        </p:nvSpPr>
        <p:spPr>
          <a:xfrm>
            <a:off x="901700" y="2721698"/>
            <a:ext cx="6346800" cy="8964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800"/>
              <a:buNone/>
              <a:defRPr sz="2700" b="0" i="0">
                <a:solidFill>
                  <a:srgbClr val="252525"/>
                </a:solidFill>
                <a:latin typeface="Calibri"/>
                <a:ea typeface="Calibri"/>
                <a:cs typeface="Calibri"/>
                <a:sym typeface="Calibri"/>
              </a:defRPr>
            </a:lvl1pPr>
            <a:lvl2pPr lvl="1" algn="l" rtl="0">
              <a:spcBef>
                <a:spcPts val="1200"/>
              </a:spcBef>
              <a:spcAft>
                <a:spcPts val="0"/>
              </a:spcAft>
              <a:buSzPts val="1400"/>
              <a:buNone/>
              <a:defRPr/>
            </a:lvl2pPr>
            <a:lvl3pPr lvl="2" algn="l" rtl="0">
              <a:spcBef>
                <a:spcPts val="1200"/>
              </a:spcBef>
              <a:spcAft>
                <a:spcPts val="0"/>
              </a:spcAft>
              <a:buSzPts val="1400"/>
              <a:buNone/>
              <a:defRPr/>
            </a:lvl3pPr>
            <a:lvl4pPr lvl="3" algn="l" rtl="0">
              <a:spcBef>
                <a:spcPts val="1200"/>
              </a:spcBef>
              <a:spcAft>
                <a:spcPts val="0"/>
              </a:spcAft>
              <a:buSzPts val="1400"/>
              <a:buNone/>
              <a:defRPr/>
            </a:lvl4pPr>
            <a:lvl5pPr lvl="4" algn="l" rtl="0">
              <a:spcBef>
                <a:spcPts val="1200"/>
              </a:spcBef>
              <a:spcAft>
                <a:spcPts val="0"/>
              </a:spcAft>
              <a:buSzPts val="1400"/>
              <a:buNone/>
              <a:defRPr/>
            </a:lvl5pPr>
            <a:lvl6pPr lvl="5" algn="l" rtl="0">
              <a:spcBef>
                <a:spcPts val="1200"/>
              </a:spcBef>
              <a:spcAft>
                <a:spcPts val="0"/>
              </a:spcAft>
              <a:buSzPts val="1400"/>
              <a:buNone/>
              <a:defRPr/>
            </a:lvl6pPr>
            <a:lvl7pPr lvl="6" algn="l" rtl="0">
              <a:spcBef>
                <a:spcPts val="1200"/>
              </a:spcBef>
              <a:spcAft>
                <a:spcPts val="0"/>
              </a:spcAft>
              <a:buSzPts val="1400"/>
              <a:buNone/>
              <a:defRPr/>
            </a:lvl7pPr>
            <a:lvl8pPr lvl="7" algn="l" rtl="0">
              <a:spcBef>
                <a:spcPts val="1200"/>
              </a:spcBef>
              <a:spcAft>
                <a:spcPts val="0"/>
              </a:spcAft>
              <a:buSzPts val="1400"/>
              <a:buNone/>
              <a:defRPr/>
            </a:lvl8pPr>
            <a:lvl9pPr lvl="8" algn="l" rtl="0">
              <a:spcBef>
                <a:spcPts val="1200"/>
              </a:spcBef>
              <a:spcAft>
                <a:spcPts val="1200"/>
              </a:spcAft>
              <a:buSzPts val="1400"/>
              <a:buNone/>
              <a:defRPr/>
            </a:lvl9pPr>
          </a:lstStyle>
          <a:p>
            <a:endParaRPr/>
          </a:p>
        </p:txBody>
      </p:sp>
      <p:sp>
        <p:nvSpPr>
          <p:cNvPr id="88" name="Google Shape;88;p13"/>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 name="Google Shape;89;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60729" y="695135"/>
            <a:ext cx="7622400" cy="568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3000"/>
              <a:buNone/>
              <a:defRPr sz="4800" b="0" i="0" u="sng">
                <a:solidFill>
                  <a:schemeClr val="dk1"/>
                </a:solidFill>
                <a:latin typeface="Calibri"/>
                <a:ea typeface="Calibri"/>
                <a:cs typeface="Calibri"/>
                <a:sym typeface="Calibri"/>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3" name="Google Shape;93;p14"/>
          <p:cNvSpPr txBox="1">
            <a:spLocks noGrp="1"/>
          </p:cNvSpPr>
          <p:nvPr>
            <p:ph type="body" idx="1"/>
          </p:nvPr>
        </p:nvSpPr>
        <p:spPr>
          <a:xfrm>
            <a:off x="810259" y="1363789"/>
            <a:ext cx="7446000" cy="19203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800"/>
              <a:buNone/>
              <a:defRPr sz="2600" b="0" i="0">
                <a:solidFill>
                  <a:schemeClr val="dk1"/>
                </a:solidFill>
                <a:latin typeface="Calibri"/>
                <a:ea typeface="Calibri"/>
                <a:cs typeface="Calibri"/>
                <a:sym typeface="Calibri"/>
              </a:defRPr>
            </a:lvl1pPr>
            <a:lvl2pPr marL="914400" lvl="1" indent="-228600" algn="l" rtl="0">
              <a:spcBef>
                <a:spcPts val="1200"/>
              </a:spcBef>
              <a:spcAft>
                <a:spcPts val="0"/>
              </a:spcAft>
              <a:buSzPts val="1400"/>
              <a:buNone/>
              <a:defRPr/>
            </a:lvl2pPr>
            <a:lvl3pPr marL="1371600" lvl="2" indent="-228600" algn="l" rtl="0">
              <a:spcBef>
                <a:spcPts val="1200"/>
              </a:spcBef>
              <a:spcAft>
                <a:spcPts val="0"/>
              </a:spcAft>
              <a:buSzPts val="1400"/>
              <a:buNone/>
              <a:defRPr/>
            </a:lvl3pPr>
            <a:lvl4pPr marL="1828800" lvl="3" indent="-228600" algn="l" rtl="0">
              <a:spcBef>
                <a:spcPts val="1200"/>
              </a:spcBef>
              <a:spcAft>
                <a:spcPts val="0"/>
              </a:spcAft>
              <a:buSzPts val="1400"/>
              <a:buNone/>
              <a:defRPr/>
            </a:lvl4pPr>
            <a:lvl5pPr marL="2286000" lvl="4" indent="-228600" algn="l" rtl="0">
              <a:spcBef>
                <a:spcPts val="1200"/>
              </a:spcBef>
              <a:spcAft>
                <a:spcPts val="0"/>
              </a:spcAft>
              <a:buSzPts val="1400"/>
              <a:buNone/>
              <a:defRPr/>
            </a:lvl5pPr>
            <a:lvl6pPr marL="2743200" lvl="5" indent="-228600" algn="l" rtl="0">
              <a:spcBef>
                <a:spcPts val="1200"/>
              </a:spcBef>
              <a:spcAft>
                <a:spcPts val="0"/>
              </a:spcAft>
              <a:buSzPts val="1400"/>
              <a:buNone/>
              <a:defRPr/>
            </a:lvl6pPr>
            <a:lvl7pPr marL="3200400" lvl="6" indent="-228600" algn="l" rtl="0">
              <a:spcBef>
                <a:spcPts val="1200"/>
              </a:spcBef>
              <a:spcAft>
                <a:spcPts val="0"/>
              </a:spcAft>
              <a:buSzPts val="1400"/>
              <a:buNone/>
              <a:defRPr/>
            </a:lvl7pPr>
            <a:lvl8pPr marL="3657600" lvl="7" indent="-228600" algn="l" rtl="0">
              <a:spcBef>
                <a:spcPts val="1200"/>
              </a:spcBef>
              <a:spcAft>
                <a:spcPts val="0"/>
              </a:spcAft>
              <a:buSzPts val="1400"/>
              <a:buNone/>
              <a:defRPr/>
            </a:lvl8pPr>
            <a:lvl9pPr marL="4114800" lvl="8" indent="-228600" algn="l" rtl="0">
              <a:spcBef>
                <a:spcPts val="1200"/>
              </a:spcBef>
              <a:spcAft>
                <a:spcPts val="1200"/>
              </a:spcAft>
              <a:buSzPts val="1400"/>
              <a:buNone/>
              <a:defRPr/>
            </a:lvl9pPr>
          </a:lstStyle>
          <a:p>
            <a:endParaRPr/>
          </a:p>
        </p:txBody>
      </p:sp>
      <p:sp>
        <p:nvSpPr>
          <p:cNvPr id="94" name="Google Shape;94;p14"/>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 name="Google Shape;96;p14"/>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1">
  <p:cSld name="Blank">
    <p:bg>
      <p:bgPr>
        <a:solidFill>
          <a:schemeClr val="lt1"/>
        </a:solidFill>
        <a:effectLst/>
      </p:bgPr>
    </p:bg>
    <p:spTree>
      <p:nvGrpSpPr>
        <p:cNvPr id="1" name="Shape 97"/>
        <p:cNvGrpSpPr/>
        <p:nvPr/>
      </p:nvGrpSpPr>
      <p:grpSpPr>
        <a:xfrm>
          <a:off x="0" y="0"/>
          <a:ext cx="0" cy="0"/>
          <a:chOff x="0" y="0"/>
          <a:chExt cx="0" cy="0"/>
        </a:xfrm>
      </p:grpSpPr>
      <p:sp>
        <p:nvSpPr>
          <p:cNvPr id="98" name="Google Shape;98;p15"/>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 name="Google Shape;99;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 name="Google Shape;100;p15"/>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 name="Google Shape;103;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104" name="Google Shape;104;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05" name="Google Shape;10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06" name="Google Shape;106;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7"/>
          <p:cNvPicPr preferRelativeResize="0"/>
          <p:nvPr/>
        </p:nvPicPr>
        <p:blipFill>
          <a:blip r:embed="rId3">
            <a:alphaModFix/>
          </a:blip>
          <a:stretch>
            <a:fillRect/>
          </a:stretch>
        </p:blipFill>
        <p:spPr>
          <a:xfrm>
            <a:off x="0" y="0"/>
            <a:ext cx="9144000" cy="5143505"/>
          </a:xfrm>
          <a:prstGeom prst="rect">
            <a:avLst/>
          </a:prstGeom>
          <a:noFill/>
          <a:ln>
            <a:noFill/>
          </a:ln>
        </p:spPr>
      </p:pic>
      <p:sp>
        <p:nvSpPr>
          <p:cNvPr id="112" name="Google Shape;112;p17"/>
          <p:cNvSpPr txBox="1"/>
          <p:nvPr/>
        </p:nvSpPr>
        <p:spPr>
          <a:xfrm>
            <a:off x="624725" y="1582625"/>
            <a:ext cx="6628800" cy="1292631"/>
          </a:xfrm>
          <a:prstGeom prst="rect">
            <a:avLst/>
          </a:prstGeom>
          <a:noFill/>
          <a:ln>
            <a:noFill/>
          </a:ln>
        </p:spPr>
        <p:txBody>
          <a:bodyPr spcFirstLastPara="1" wrap="square" lIns="91425" tIns="91425" rIns="91425" bIns="91425" anchor="t" anchorCtr="0">
            <a:spAutoFit/>
          </a:bodyPr>
          <a:lstStyle/>
          <a:p>
            <a:pPr lvl="0"/>
            <a:r>
              <a:rPr lang="en-GB" sz="3600" dirty="0"/>
              <a:t>ETCAL </a:t>
            </a:r>
          </a:p>
          <a:p>
            <a:pPr lvl="0"/>
            <a:r>
              <a:rPr lang="en-GB" sz="3600" dirty="0"/>
              <a:t>Award in Securing Progression</a:t>
            </a:r>
            <a:endParaRPr sz="3300" dirty="0">
              <a:latin typeface="Roboto Black"/>
              <a:ea typeface="Roboto Black"/>
              <a:cs typeface="Roboto Black"/>
              <a:sym typeface="Roboto Black"/>
            </a:endParaRPr>
          </a:p>
        </p:txBody>
      </p:sp>
      <p:sp>
        <p:nvSpPr>
          <p:cNvPr id="113" name="Google Shape;113;p17"/>
          <p:cNvSpPr txBox="1"/>
          <p:nvPr/>
        </p:nvSpPr>
        <p:spPr>
          <a:xfrm>
            <a:off x="624725" y="3428700"/>
            <a:ext cx="65361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400" dirty="0">
                <a:latin typeface="Roboto Black"/>
                <a:ea typeface="Roboto Black"/>
                <a:cs typeface="Roboto Black"/>
                <a:sym typeface="Roboto Black"/>
              </a:rPr>
              <a:t>Unit A: Identify Suitable Opportunities.</a:t>
            </a:r>
            <a:endParaRPr sz="2400" dirty="0">
              <a:latin typeface="Roboto Black"/>
              <a:ea typeface="Roboto Black"/>
              <a:cs typeface="Roboto Black"/>
              <a:sym typeface="Roboto Black"/>
            </a:endParaRPr>
          </a:p>
          <a:p>
            <a:pPr marL="0" lvl="0" indent="0" algn="l" rtl="0">
              <a:spcBef>
                <a:spcPts val="0"/>
              </a:spcBef>
              <a:spcAft>
                <a:spcPts val="0"/>
              </a:spcAft>
              <a:buNone/>
            </a:pPr>
            <a:endParaRPr sz="2400" dirty="0">
              <a:latin typeface="Roboto Black"/>
              <a:ea typeface="Roboto Black"/>
              <a:cs typeface="Roboto Black"/>
              <a:sym typeface="Roboto Black"/>
            </a:endParaRPr>
          </a:p>
          <a:p>
            <a:pPr marL="0" lvl="0" indent="0" algn="l" rtl="0">
              <a:spcBef>
                <a:spcPts val="0"/>
              </a:spcBef>
              <a:spcAft>
                <a:spcPts val="0"/>
              </a:spcAft>
              <a:buNone/>
            </a:pPr>
            <a:endParaRPr sz="2400" dirty="0">
              <a:latin typeface="Roboto Black"/>
              <a:ea typeface="Roboto Black"/>
              <a:cs typeface="Roboto Black"/>
              <a:sym typeface="Roboto Black"/>
            </a:endParaRPr>
          </a:p>
          <a:p>
            <a:pPr marL="0" lvl="0" indent="0" algn="l" rtl="0">
              <a:spcBef>
                <a:spcPts val="0"/>
              </a:spcBef>
              <a:spcAft>
                <a:spcPts val="0"/>
              </a:spcAft>
              <a:buNone/>
            </a:pPr>
            <a:r>
              <a:rPr lang="en-GB" dirty="0">
                <a:latin typeface="Roboto Black"/>
                <a:ea typeface="Roboto Black"/>
                <a:cs typeface="Roboto Black"/>
                <a:sym typeface="Roboto Black"/>
              </a:rPr>
              <a:t>mohaan.biswas@gateshead.ac.uk</a:t>
            </a:r>
            <a:endParaRPr dirty="0">
              <a:latin typeface="Roboto Black"/>
              <a:ea typeface="Roboto Black"/>
              <a:cs typeface="Roboto Black"/>
              <a:sym typeface="Robot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Learning Outcomes</a:t>
            </a:r>
            <a:endParaRPr/>
          </a:p>
        </p:txBody>
      </p:sp>
      <p:sp>
        <p:nvSpPr>
          <p:cNvPr id="119" name="Google Shape;119;p18"/>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GB" sz="2100"/>
              <a:t>Understand requirements and strengths</a:t>
            </a:r>
            <a:endParaRPr sz="2100"/>
          </a:p>
          <a:p>
            <a:pPr marL="457200" lvl="0" indent="-361950" algn="l" rtl="0">
              <a:spcBef>
                <a:spcPts val="0"/>
              </a:spcBef>
              <a:spcAft>
                <a:spcPts val="0"/>
              </a:spcAft>
              <a:buSzPts val="2100"/>
              <a:buChar char="●"/>
            </a:pPr>
            <a:r>
              <a:rPr lang="en-GB" sz="2100"/>
              <a:t>Learn how to make informed choices</a:t>
            </a:r>
            <a:endParaRPr sz="2100"/>
          </a:p>
          <a:p>
            <a:pPr marL="457200" lvl="0" indent="-361950" algn="l" rtl="0">
              <a:spcBef>
                <a:spcPts val="0"/>
              </a:spcBef>
              <a:spcAft>
                <a:spcPts val="0"/>
              </a:spcAft>
              <a:buSzPts val="2100"/>
              <a:buChar char="●"/>
            </a:pPr>
            <a:r>
              <a:rPr lang="en-GB" sz="2100"/>
              <a:t>Develop an understanding of how to identify the right role</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 - Unit Aim</a:t>
            </a:r>
            <a:endParaRPr/>
          </a:p>
        </p:txBody>
      </p:sp>
      <p:sp>
        <p:nvSpPr>
          <p:cNvPr id="125" name="Google Shape;125;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This unit introduces learners to identifying and understanding their requirements and strengths, along with the contribution they can make towards a positive working environment and the organisations that provide this. It encourages learners to make informed choices about the right type of organisation for them, their own requirements and how they influence their potential career opportunities.</a:t>
            </a:r>
            <a:endParaRPr/>
          </a:p>
          <a:p>
            <a:pPr marL="457200" lvl="0" indent="-342900" algn="l" rtl="0">
              <a:spcBef>
                <a:spcPts val="0"/>
              </a:spcBef>
              <a:spcAft>
                <a:spcPts val="0"/>
              </a:spcAft>
              <a:buSzPts val="1800"/>
              <a:buChar char="●"/>
            </a:pPr>
            <a:r>
              <a:rPr lang="en-GB"/>
              <a:t>This unit will help learners to develop an understanding of how to identify the right role and organisation for them and how that will contribute to their longer term career progression.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Strengths and weaknesses</a:t>
            </a:r>
            <a:endParaRPr/>
          </a:p>
        </p:txBody>
      </p:sp>
      <p:sp>
        <p:nvSpPr>
          <p:cNvPr id="131" name="Google Shape;131;p20"/>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p>
            <a:pPr marL="457200" lvl="0" indent="-361950" algn="l" rtl="0">
              <a:lnSpc>
                <a:spcPct val="115000"/>
              </a:lnSpc>
              <a:spcBef>
                <a:spcPts val="0"/>
              </a:spcBef>
              <a:spcAft>
                <a:spcPts val="0"/>
              </a:spcAft>
              <a:buSzPts val="2100"/>
              <a:buChar char="●"/>
            </a:pPr>
            <a:r>
              <a:rPr lang="en-GB" sz="2100" dirty="0"/>
              <a:t>Strength something you are good at – being on time.</a:t>
            </a:r>
          </a:p>
          <a:p>
            <a:pPr marL="95250" lvl="0" indent="0" algn="l" rtl="0">
              <a:lnSpc>
                <a:spcPct val="115000"/>
              </a:lnSpc>
              <a:spcBef>
                <a:spcPts val="0"/>
              </a:spcBef>
              <a:spcAft>
                <a:spcPts val="0"/>
              </a:spcAft>
              <a:buSzPts val="2100"/>
              <a:buNone/>
            </a:pPr>
            <a:endParaRPr sz="1400" dirty="0"/>
          </a:p>
          <a:p>
            <a:pPr marL="457200" lvl="0" indent="0" algn="l" rtl="0">
              <a:lnSpc>
                <a:spcPct val="115000"/>
              </a:lnSpc>
              <a:spcBef>
                <a:spcPts val="0"/>
              </a:spcBef>
              <a:spcAft>
                <a:spcPts val="0"/>
              </a:spcAft>
              <a:buNone/>
            </a:pPr>
            <a:endParaRPr sz="2100" dirty="0"/>
          </a:p>
          <a:p>
            <a:pPr marL="457200" lvl="0" indent="-361950" algn="l" rtl="0">
              <a:lnSpc>
                <a:spcPct val="115000"/>
              </a:lnSpc>
              <a:spcBef>
                <a:spcPts val="0"/>
              </a:spcBef>
              <a:spcAft>
                <a:spcPts val="0"/>
              </a:spcAft>
              <a:buSzPts val="2100"/>
              <a:buChar char="●"/>
            </a:pPr>
            <a:r>
              <a:rPr lang="en-GB" sz="2100" dirty="0"/>
              <a:t>Weakness - something you are not good at yet – spelling. </a:t>
            </a:r>
            <a:endParaRPr sz="1400" dirty="0"/>
          </a:p>
          <a:p>
            <a:pPr marL="457200" lvl="0" indent="0" algn="l" rtl="0">
              <a:lnSpc>
                <a:spcPct val="115000"/>
              </a:lnSpc>
              <a:spcBef>
                <a:spcPts val="0"/>
              </a:spcBef>
              <a:spcAft>
                <a:spcPts val="0"/>
              </a:spcAft>
              <a:buNone/>
            </a:pPr>
            <a:endParaRPr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Identify Suitable Job Opportunities</a:t>
            </a:r>
            <a:endParaRPr/>
          </a:p>
        </p:txBody>
      </p:sp>
      <p:sp>
        <p:nvSpPr>
          <p:cNvPr id="137" name="Google Shape;137;p21"/>
          <p:cNvSpPr txBox="1">
            <a:spLocks noGrp="1"/>
          </p:cNvSpPr>
          <p:nvPr>
            <p:ph type="body" idx="1"/>
          </p:nvPr>
        </p:nvSpPr>
        <p:spPr>
          <a:xfrm>
            <a:off x="311700" y="1229875"/>
            <a:ext cx="3943200" cy="33390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None/>
            </a:pPr>
            <a:r>
              <a:rPr lang="en-GB" b="1">
                <a:solidFill>
                  <a:srgbClr val="00B050"/>
                </a:solidFill>
              </a:rPr>
              <a:t>Strengths…</a:t>
            </a:r>
            <a:endParaRPr b="1"/>
          </a:p>
          <a:p>
            <a:pPr marL="0" lvl="0" indent="0" algn="l" rtl="0">
              <a:lnSpc>
                <a:spcPct val="100000"/>
              </a:lnSpc>
              <a:spcBef>
                <a:spcPts val="800"/>
              </a:spcBef>
              <a:spcAft>
                <a:spcPts val="1200"/>
              </a:spcAft>
              <a:buClr>
                <a:srgbClr val="00B050"/>
              </a:buClr>
              <a:buSzPts val="2100"/>
              <a:buNone/>
            </a:pPr>
            <a:r>
              <a:rPr lang="en-GB">
                <a:solidFill>
                  <a:srgbClr val="00B050"/>
                </a:solidFill>
              </a:rPr>
              <a:t>Passionate, Enterprising, Reliable, Creative, Consistency, Patience, Versatile, Ambitious, Determines, Self-starter, Calm, Composed, Charisma, Competitive, Rational, Efficiency, Curiosity, Courteous, Perfectionist, Good Listener, Organised, Critical, Problem Solver, Collaborative, Empathy…</a:t>
            </a:r>
            <a:endParaRPr/>
          </a:p>
        </p:txBody>
      </p:sp>
      <p:sp>
        <p:nvSpPr>
          <p:cNvPr id="138" name="Google Shape;138;p21"/>
          <p:cNvSpPr txBox="1"/>
          <p:nvPr/>
        </p:nvSpPr>
        <p:spPr>
          <a:xfrm>
            <a:off x="4254900" y="1229875"/>
            <a:ext cx="4260300" cy="32634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None/>
            </a:pPr>
            <a:r>
              <a:rPr lang="en-GB" sz="1800" b="1" i="0" u="none" strike="noStrike" cap="none">
                <a:solidFill>
                  <a:srgbClr val="FF0000"/>
                </a:solidFill>
                <a:latin typeface="Roboto"/>
                <a:ea typeface="Roboto"/>
                <a:cs typeface="Roboto"/>
                <a:sym typeface="Roboto"/>
              </a:rPr>
              <a:t>Weaknesses…</a:t>
            </a:r>
            <a:endParaRPr sz="1800" b="1">
              <a:latin typeface="Roboto"/>
              <a:ea typeface="Roboto"/>
              <a:cs typeface="Roboto"/>
              <a:sym typeface="Roboto"/>
            </a:endParaRPr>
          </a:p>
          <a:p>
            <a:pPr marL="0" marR="0" lvl="0" indent="0" algn="l" rtl="0">
              <a:lnSpc>
                <a:spcPct val="100000"/>
              </a:lnSpc>
              <a:spcBef>
                <a:spcPts val="800"/>
              </a:spcBef>
              <a:spcAft>
                <a:spcPts val="0"/>
              </a:spcAft>
              <a:buClr>
                <a:srgbClr val="FF0000"/>
              </a:buClr>
              <a:buSzPts val="2100"/>
              <a:buFont typeface="Arial"/>
              <a:buNone/>
            </a:pPr>
            <a:r>
              <a:rPr lang="en-GB" sz="1800" i="0" u="none" strike="noStrike" cap="none">
                <a:solidFill>
                  <a:srgbClr val="FF0000"/>
                </a:solidFill>
                <a:latin typeface="Roboto"/>
                <a:ea typeface="Roboto"/>
                <a:cs typeface="Roboto"/>
                <a:sym typeface="Roboto"/>
              </a:rPr>
              <a:t>Competitive, Stubborn, Impulsive, Critical, Indecisive, Chaotic, Lateness, Perfectionist, Distracted, Introverted, Impatient, Passive, Sensitive, Conventional, Undisciplined, Anxious, Overbearing, Selfish, Procrastinator, Control Freak, Slow, Indifferent, Intolerant, Immature…</a:t>
            </a:r>
            <a:endParaRPr sz="18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omic Sans MS"/>
              <a:buNone/>
            </a:pPr>
            <a:r>
              <a:rPr lang="en-GB"/>
              <a:t>Discussion…</a:t>
            </a:r>
            <a:endParaRPr/>
          </a:p>
        </p:txBody>
      </p:sp>
      <p:sp>
        <p:nvSpPr>
          <p:cNvPr id="144" name="Google Shape;144;p22"/>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61950" algn="l" rtl="0">
              <a:lnSpc>
                <a:spcPct val="90000"/>
              </a:lnSpc>
              <a:spcBef>
                <a:spcPts val="0"/>
              </a:spcBef>
              <a:spcAft>
                <a:spcPts val="0"/>
              </a:spcAft>
              <a:buSzPts val="2100"/>
              <a:buChar char="●"/>
            </a:pPr>
            <a:r>
              <a:rPr lang="en-GB" sz="2100"/>
              <a:t>How can you improve upon your weaknesses?</a:t>
            </a:r>
            <a:endParaRPr sz="2100"/>
          </a:p>
          <a:p>
            <a:pPr marL="457200" lvl="0" indent="-361950" algn="l" rtl="0">
              <a:lnSpc>
                <a:spcPct val="90000"/>
              </a:lnSpc>
              <a:spcBef>
                <a:spcPts val="0"/>
              </a:spcBef>
              <a:spcAft>
                <a:spcPts val="0"/>
              </a:spcAft>
              <a:buSzPts val="2100"/>
              <a:buChar char="●"/>
            </a:pPr>
            <a:r>
              <a:rPr lang="en-GB" sz="2100"/>
              <a:t>What activities can you do to develop yourself?</a:t>
            </a:r>
            <a:endParaRPr sz="2100"/>
          </a:p>
          <a:p>
            <a:pPr marL="0" lvl="0" indent="0" algn="l" rtl="0">
              <a:lnSpc>
                <a:spcPct val="90000"/>
              </a:lnSpc>
              <a:spcBef>
                <a:spcPts val="800"/>
              </a:spcBef>
              <a:spcAft>
                <a:spcPts val="0"/>
              </a:spcAft>
              <a:buNone/>
            </a:pPr>
            <a:endParaRPr sz="1000"/>
          </a:p>
          <a:p>
            <a:pPr marL="457200" lvl="0" indent="-361950" algn="l" rtl="0">
              <a:lnSpc>
                <a:spcPct val="90000"/>
              </a:lnSpc>
              <a:spcBef>
                <a:spcPts val="800"/>
              </a:spcBef>
              <a:spcAft>
                <a:spcPts val="0"/>
              </a:spcAft>
              <a:buSzPts val="2100"/>
              <a:buChar char="●"/>
            </a:pPr>
            <a:r>
              <a:rPr lang="en-GB" sz="2100"/>
              <a:t>Consider:</a:t>
            </a:r>
            <a:endParaRPr sz="2100"/>
          </a:p>
          <a:p>
            <a:pPr marL="914400" lvl="1" indent="-336550" algn="l" rtl="0">
              <a:lnSpc>
                <a:spcPct val="90000"/>
              </a:lnSpc>
              <a:spcBef>
                <a:spcPts val="0"/>
              </a:spcBef>
              <a:spcAft>
                <a:spcPts val="0"/>
              </a:spcAft>
              <a:buSzPts val="1700"/>
              <a:buChar char="○"/>
            </a:pPr>
            <a:r>
              <a:rPr lang="en-GB" sz="1700"/>
              <a:t>Building relationships</a:t>
            </a:r>
            <a:endParaRPr sz="1700"/>
          </a:p>
          <a:p>
            <a:pPr marL="914400" lvl="1" indent="-336550" algn="l" rtl="0">
              <a:lnSpc>
                <a:spcPct val="90000"/>
              </a:lnSpc>
              <a:spcBef>
                <a:spcPts val="0"/>
              </a:spcBef>
              <a:spcAft>
                <a:spcPts val="0"/>
              </a:spcAft>
              <a:buSzPts val="1700"/>
              <a:buChar char="○"/>
            </a:pPr>
            <a:r>
              <a:rPr lang="en-GB" sz="1700"/>
              <a:t>Planning, organising and prioritising</a:t>
            </a:r>
            <a:endParaRPr sz="1700"/>
          </a:p>
          <a:p>
            <a:pPr marL="914400" lvl="1" indent="-336550" algn="l" rtl="0">
              <a:lnSpc>
                <a:spcPct val="90000"/>
              </a:lnSpc>
              <a:spcBef>
                <a:spcPts val="0"/>
              </a:spcBef>
              <a:spcAft>
                <a:spcPts val="0"/>
              </a:spcAft>
              <a:buSzPts val="1700"/>
              <a:buChar char="○"/>
            </a:pPr>
            <a:r>
              <a:rPr lang="en-GB" sz="1700"/>
              <a:t>Improving communication skills</a:t>
            </a:r>
            <a:endParaRPr sz="1700"/>
          </a:p>
          <a:p>
            <a:pPr marL="914400" lvl="1" indent="-336550" algn="l" rtl="0">
              <a:lnSpc>
                <a:spcPct val="90000"/>
              </a:lnSpc>
              <a:spcBef>
                <a:spcPts val="0"/>
              </a:spcBef>
              <a:spcAft>
                <a:spcPts val="0"/>
              </a:spcAft>
              <a:buSzPts val="1700"/>
              <a:buChar char="○"/>
            </a:pPr>
            <a:r>
              <a:rPr lang="en-GB" sz="1700"/>
              <a:t>Focusing on the main issues</a:t>
            </a:r>
            <a:endParaRPr sz="1700"/>
          </a:p>
          <a:p>
            <a:pPr marL="914400" lvl="1" indent="-336550" algn="l" rtl="0">
              <a:lnSpc>
                <a:spcPct val="90000"/>
              </a:lnSpc>
              <a:spcBef>
                <a:spcPts val="0"/>
              </a:spcBef>
              <a:spcAft>
                <a:spcPts val="0"/>
              </a:spcAft>
              <a:buSzPts val="1700"/>
              <a:buChar char="○"/>
            </a:pPr>
            <a:r>
              <a:rPr lang="en-GB" sz="1700"/>
              <a:t>Finish what you start</a:t>
            </a:r>
            <a:endParaRPr sz="1700"/>
          </a:p>
          <a:p>
            <a:pPr marL="914400" lvl="1" indent="-336550" algn="l" rtl="0">
              <a:lnSpc>
                <a:spcPct val="90000"/>
              </a:lnSpc>
              <a:spcBef>
                <a:spcPts val="0"/>
              </a:spcBef>
              <a:spcAft>
                <a:spcPts val="0"/>
              </a:spcAft>
              <a:buSzPts val="1700"/>
              <a:buChar char="○"/>
            </a:pPr>
            <a:r>
              <a:rPr lang="en-GB" sz="1700"/>
              <a:t>Understanding limitations and identifying development opportunities.</a:t>
            </a:r>
            <a:endParaRPr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xEl>
                                              <p:pRg st="0" end="0"/>
                                            </p:txEl>
                                          </p:spTgt>
                                        </p:tgtEl>
                                        <p:attrNameLst>
                                          <p:attrName>style.visibility</p:attrName>
                                        </p:attrNameLst>
                                      </p:cBhvr>
                                      <p:to>
                                        <p:strVal val="visible"/>
                                      </p:to>
                                    </p:set>
                                    <p:animEffect transition="in" filter="fade">
                                      <p:cBhvr>
                                        <p:cTn id="7" dur="1000"/>
                                        <p:tgtEl>
                                          <p:spTgt spid="1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xEl>
                                              <p:pRg st="1" end="1"/>
                                            </p:txEl>
                                          </p:spTgt>
                                        </p:tgtEl>
                                        <p:attrNameLst>
                                          <p:attrName>style.visibility</p:attrName>
                                        </p:attrNameLst>
                                      </p:cBhvr>
                                      <p:to>
                                        <p:strVal val="visible"/>
                                      </p:to>
                                    </p:set>
                                    <p:animEffect transition="in" filter="fade">
                                      <p:cBhvr>
                                        <p:cTn id="12" dur="1000"/>
                                        <p:tgtEl>
                                          <p:spTgt spid="1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4">
                                            <p:txEl>
                                              <p:pRg st="2" end="2"/>
                                            </p:txEl>
                                          </p:spTgt>
                                        </p:tgtEl>
                                        <p:attrNameLst>
                                          <p:attrName>style.visibility</p:attrName>
                                        </p:attrNameLst>
                                      </p:cBhvr>
                                      <p:to>
                                        <p:strVal val="visible"/>
                                      </p:to>
                                    </p:set>
                                    <p:animEffect transition="in" filter="fade">
                                      <p:cBhvr>
                                        <p:cTn id="17" dur="1000"/>
                                        <p:tgtEl>
                                          <p:spTgt spid="1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4">
                                            <p:txEl>
                                              <p:pRg st="3" end="3"/>
                                            </p:txEl>
                                          </p:spTgt>
                                        </p:tgtEl>
                                        <p:attrNameLst>
                                          <p:attrName>style.visibility</p:attrName>
                                        </p:attrNameLst>
                                      </p:cBhvr>
                                      <p:to>
                                        <p:strVal val="visible"/>
                                      </p:to>
                                    </p:set>
                                    <p:animEffect transition="in" filter="fade">
                                      <p:cBhvr>
                                        <p:cTn id="22" dur="1000"/>
                                        <p:tgtEl>
                                          <p:spTgt spid="1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4">
                                            <p:txEl>
                                              <p:pRg st="4" end="4"/>
                                            </p:txEl>
                                          </p:spTgt>
                                        </p:tgtEl>
                                        <p:attrNameLst>
                                          <p:attrName>style.visibility</p:attrName>
                                        </p:attrNameLst>
                                      </p:cBhvr>
                                      <p:to>
                                        <p:strVal val="visible"/>
                                      </p:to>
                                    </p:set>
                                    <p:animEffect transition="in" filter="fade">
                                      <p:cBhvr>
                                        <p:cTn id="27" dur="1000"/>
                                        <p:tgtEl>
                                          <p:spTgt spid="1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4">
                                            <p:txEl>
                                              <p:pRg st="5" end="5"/>
                                            </p:txEl>
                                          </p:spTgt>
                                        </p:tgtEl>
                                        <p:attrNameLst>
                                          <p:attrName>style.visibility</p:attrName>
                                        </p:attrNameLst>
                                      </p:cBhvr>
                                      <p:to>
                                        <p:strVal val="visible"/>
                                      </p:to>
                                    </p:set>
                                    <p:animEffect transition="in" filter="fade">
                                      <p:cBhvr>
                                        <p:cTn id="32" dur="1000"/>
                                        <p:tgtEl>
                                          <p:spTgt spid="1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4">
                                            <p:txEl>
                                              <p:pRg st="6" end="6"/>
                                            </p:txEl>
                                          </p:spTgt>
                                        </p:tgtEl>
                                        <p:attrNameLst>
                                          <p:attrName>style.visibility</p:attrName>
                                        </p:attrNameLst>
                                      </p:cBhvr>
                                      <p:to>
                                        <p:strVal val="visible"/>
                                      </p:to>
                                    </p:set>
                                    <p:animEffect transition="in" filter="fade">
                                      <p:cBhvr>
                                        <p:cTn id="37" dur="1000"/>
                                        <p:tgtEl>
                                          <p:spTgt spid="1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4">
                                            <p:txEl>
                                              <p:pRg st="7" end="7"/>
                                            </p:txEl>
                                          </p:spTgt>
                                        </p:tgtEl>
                                        <p:attrNameLst>
                                          <p:attrName>style.visibility</p:attrName>
                                        </p:attrNameLst>
                                      </p:cBhvr>
                                      <p:to>
                                        <p:strVal val="visible"/>
                                      </p:to>
                                    </p:set>
                                    <p:animEffect transition="in" filter="fade">
                                      <p:cBhvr>
                                        <p:cTn id="42" dur="1000"/>
                                        <p:tgtEl>
                                          <p:spTgt spid="14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4">
                                            <p:txEl>
                                              <p:pRg st="8" end="8"/>
                                            </p:txEl>
                                          </p:spTgt>
                                        </p:tgtEl>
                                        <p:attrNameLst>
                                          <p:attrName>style.visibility</p:attrName>
                                        </p:attrNameLst>
                                      </p:cBhvr>
                                      <p:to>
                                        <p:strVal val="visible"/>
                                      </p:to>
                                    </p:set>
                                    <p:animEffect transition="in" filter="fade">
                                      <p:cBhvr>
                                        <p:cTn id="47" dur="1000"/>
                                        <p:tgtEl>
                                          <p:spTgt spid="14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4">
                                            <p:txEl>
                                              <p:pRg st="9" end="9"/>
                                            </p:txEl>
                                          </p:spTgt>
                                        </p:tgtEl>
                                        <p:attrNameLst>
                                          <p:attrName>style.visibility</p:attrName>
                                        </p:attrNameLst>
                                      </p:cBhvr>
                                      <p:to>
                                        <p:strVal val="visible"/>
                                      </p:to>
                                    </p:set>
                                    <p:animEffect transition="in" filter="fade">
                                      <p:cBhvr>
                                        <p:cTn id="52" dur="1000"/>
                                        <p:tgtEl>
                                          <p:spTgt spid="14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778"/>
              <a:buNone/>
            </a:pPr>
            <a:r>
              <a:rPr lang="en-GB" sz="2500"/>
              <a:t>How to improve on areas of weakness to increase suitable job opportunities</a:t>
            </a:r>
            <a:endParaRPr sz="2500"/>
          </a:p>
        </p:txBody>
      </p:sp>
      <p:sp>
        <p:nvSpPr>
          <p:cNvPr id="150" name="Google Shape;150;p23"/>
          <p:cNvSpPr txBox="1">
            <a:spLocks noGrp="1"/>
          </p:cNvSpPr>
          <p:nvPr>
            <p:ph type="body" idx="1"/>
          </p:nvPr>
        </p:nvSpPr>
        <p:spPr>
          <a:xfrm>
            <a:off x="311700" y="1594023"/>
            <a:ext cx="8520600" cy="29748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GB"/>
              <a:t>In an interview you will often be asked to name one of your weaknesses. This is an opportunity to show your willingness to develop your skills. </a:t>
            </a:r>
            <a:endParaRPr sz="1600"/>
          </a:p>
          <a:p>
            <a:pPr marL="114300" lvl="0" indent="0" algn="l" rtl="0">
              <a:lnSpc>
                <a:spcPct val="115000"/>
              </a:lnSpc>
              <a:spcBef>
                <a:spcPts val="0"/>
              </a:spcBef>
              <a:spcAft>
                <a:spcPts val="0"/>
              </a:spcAft>
              <a:buSzPts val="1800"/>
              <a:buNone/>
            </a:pPr>
            <a:endParaRPr/>
          </a:p>
          <a:p>
            <a:pPr marL="457200" lvl="0" indent="-330200" algn="l" rtl="0">
              <a:lnSpc>
                <a:spcPct val="115000"/>
              </a:lnSpc>
              <a:spcBef>
                <a:spcPts val="0"/>
              </a:spcBef>
              <a:spcAft>
                <a:spcPts val="0"/>
              </a:spcAft>
              <a:buSzPts val="1600"/>
              <a:buChar char="●"/>
            </a:pPr>
            <a:r>
              <a:rPr lang="en-GB"/>
              <a:t>Identify something you are not current strong at </a:t>
            </a:r>
            <a:endParaRPr sz="1600"/>
          </a:p>
          <a:p>
            <a:pPr marL="457200" lvl="0" indent="-330200" algn="l" rtl="0">
              <a:lnSpc>
                <a:spcPct val="115000"/>
              </a:lnSpc>
              <a:spcBef>
                <a:spcPts val="0"/>
              </a:spcBef>
              <a:spcAft>
                <a:spcPts val="0"/>
              </a:spcAft>
              <a:buSzPts val="1600"/>
              <a:buChar char="●"/>
            </a:pPr>
            <a:r>
              <a:rPr lang="en-GB"/>
              <a:t>Explain what you can do to achieve your goal </a:t>
            </a:r>
            <a:endParaRPr sz="1600"/>
          </a:p>
          <a:p>
            <a:pPr marL="457200" lvl="0" indent="-330200" algn="l" rtl="0">
              <a:lnSpc>
                <a:spcPct val="115000"/>
              </a:lnSpc>
              <a:spcBef>
                <a:spcPts val="0"/>
              </a:spcBef>
              <a:spcAft>
                <a:spcPts val="0"/>
              </a:spcAft>
              <a:buSzPts val="1600"/>
              <a:buChar char="●"/>
            </a:pPr>
            <a:r>
              <a:rPr lang="en-GB"/>
              <a:t>List the personal qualities you have to achieve your goal </a:t>
            </a:r>
            <a:endParaRPr sz="1600"/>
          </a:p>
          <a:p>
            <a:pPr marL="457200" lvl="0" indent="-330200" algn="l" rtl="0">
              <a:lnSpc>
                <a:spcPct val="115000"/>
              </a:lnSpc>
              <a:spcBef>
                <a:spcPts val="0"/>
              </a:spcBef>
              <a:spcAft>
                <a:spcPts val="0"/>
              </a:spcAft>
              <a:buSzPts val="1600"/>
              <a:buChar char="●"/>
            </a:pPr>
            <a:r>
              <a:rPr lang="en-GB"/>
              <a:t>Outline your plan and how you overcome any hurdles </a:t>
            </a:r>
            <a:endParaRPr sz="1600"/>
          </a:p>
          <a:p>
            <a:pPr marL="114300" lvl="0" indent="0" algn="l" rtl="0">
              <a:lnSpc>
                <a:spcPct val="115000"/>
              </a:lnSpc>
              <a:spcBef>
                <a:spcPts val="0"/>
              </a:spcBef>
              <a:spcAft>
                <a:spcPts val="0"/>
              </a:spcAft>
              <a:buSzPts val="1800"/>
              <a:buNone/>
            </a:pPr>
            <a:endParaRPr sz="2000"/>
          </a:p>
          <a:p>
            <a:pPr marL="114300" lvl="0" indent="0" algn="l" rtl="0">
              <a:lnSpc>
                <a:spcPct val="115000"/>
              </a:lnSpc>
              <a:spcBef>
                <a:spcPts val="0"/>
              </a:spcBef>
              <a:spcAft>
                <a:spcPts val="0"/>
              </a:spcAft>
              <a:buSzPts val="1800"/>
              <a:buNone/>
            </a:pPr>
            <a:endParaRPr sz="2000"/>
          </a:p>
          <a:p>
            <a:pPr marL="114300" lvl="0" indent="0" algn="l" rtl="0">
              <a:lnSpc>
                <a:spcPct val="115000"/>
              </a:lnSpc>
              <a:spcBef>
                <a:spcPts val="0"/>
              </a:spcBef>
              <a:spcAft>
                <a:spcPts val="0"/>
              </a:spcAft>
              <a:buSzPts val="1800"/>
              <a:buNone/>
            </a:pP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401675" y="246700"/>
            <a:ext cx="8520600" cy="60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67"/>
              <a:buNone/>
            </a:pPr>
            <a:r>
              <a:rPr lang="en-GB" sz="2400"/>
              <a:t>How to improve on areas of weakness to increase the suitable job opportunities</a:t>
            </a:r>
            <a:endParaRPr sz="2200" b="1"/>
          </a:p>
        </p:txBody>
      </p:sp>
      <p:sp>
        <p:nvSpPr>
          <p:cNvPr id="156" name="Google Shape;156;p24"/>
          <p:cNvSpPr txBox="1">
            <a:spLocks noGrp="1"/>
          </p:cNvSpPr>
          <p:nvPr>
            <p:ph type="body" idx="1"/>
          </p:nvPr>
        </p:nvSpPr>
        <p:spPr>
          <a:xfrm>
            <a:off x="0" y="1175650"/>
            <a:ext cx="9005400" cy="39171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0070C0"/>
              </a:buClr>
              <a:buSzPts val="1700"/>
              <a:buChar char="●"/>
            </a:pPr>
            <a:r>
              <a:rPr lang="en-GB" sz="1700" b="1">
                <a:solidFill>
                  <a:srgbClr val="0070C0"/>
                </a:solidFill>
              </a:rPr>
              <a:t>Identify something you are not current strong at: </a:t>
            </a:r>
            <a:endParaRPr sz="1700" b="1">
              <a:solidFill>
                <a:srgbClr val="0070C0"/>
              </a:solidFill>
            </a:endParaRPr>
          </a:p>
          <a:p>
            <a:pPr marL="914400" lvl="1" indent="-330200" algn="l" rtl="0">
              <a:lnSpc>
                <a:spcPct val="115000"/>
              </a:lnSpc>
              <a:spcBef>
                <a:spcPts val="0"/>
              </a:spcBef>
              <a:spcAft>
                <a:spcPts val="0"/>
              </a:spcAft>
              <a:buSzPts val="1600"/>
              <a:buChar char="○"/>
            </a:pPr>
            <a:r>
              <a:rPr lang="en-GB" sz="1600"/>
              <a:t>I currently cannot write JavaScript. </a:t>
            </a:r>
            <a:endParaRPr sz="1600"/>
          </a:p>
          <a:p>
            <a:pPr marL="457200" lvl="0" indent="-336550" algn="l" rtl="0">
              <a:lnSpc>
                <a:spcPct val="115000"/>
              </a:lnSpc>
              <a:spcBef>
                <a:spcPts val="0"/>
              </a:spcBef>
              <a:spcAft>
                <a:spcPts val="0"/>
              </a:spcAft>
              <a:buClr>
                <a:srgbClr val="0070C0"/>
              </a:buClr>
              <a:buSzPts val="1700"/>
              <a:buChar char="●"/>
            </a:pPr>
            <a:r>
              <a:rPr lang="en-GB" sz="1700" b="1">
                <a:solidFill>
                  <a:srgbClr val="0070C0"/>
                </a:solidFill>
              </a:rPr>
              <a:t>Explain what you can do to achieve your goal: </a:t>
            </a:r>
            <a:endParaRPr sz="1700" b="1">
              <a:solidFill>
                <a:srgbClr val="0070C0"/>
              </a:solidFill>
            </a:endParaRPr>
          </a:p>
          <a:p>
            <a:pPr marL="914400" lvl="1" indent="-330200" algn="l" rtl="0">
              <a:lnSpc>
                <a:spcPct val="115000"/>
              </a:lnSpc>
              <a:spcBef>
                <a:spcPts val="0"/>
              </a:spcBef>
              <a:spcAft>
                <a:spcPts val="0"/>
              </a:spcAft>
              <a:buSzPts val="1600"/>
              <a:buChar char="○"/>
            </a:pPr>
            <a:r>
              <a:rPr lang="en-GB" sz="1600"/>
              <a:t>However I have signed up to a three week course to learn how to write JavaScript. </a:t>
            </a:r>
            <a:endParaRPr sz="1600"/>
          </a:p>
          <a:p>
            <a:pPr marL="457200" lvl="0" indent="-336550" algn="l" rtl="0">
              <a:lnSpc>
                <a:spcPct val="115000"/>
              </a:lnSpc>
              <a:spcBef>
                <a:spcPts val="0"/>
              </a:spcBef>
              <a:spcAft>
                <a:spcPts val="0"/>
              </a:spcAft>
              <a:buClr>
                <a:srgbClr val="0070C0"/>
              </a:buClr>
              <a:buSzPts val="1700"/>
              <a:buChar char="●"/>
            </a:pPr>
            <a:r>
              <a:rPr lang="en-GB" sz="1700" b="1">
                <a:solidFill>
                  <a:srgbClr val="0070C0"/>
                </a:solidFill>
              </a:rPr>
              <a:t>List the personal qualities you have to achieve your goal:  </a:t>
            </a:r>
            <a:endParaRPr sz="1700" b="1">
              <a:solidFill>
                <a:srgbClr val="0070C0"/>
              </a:solidFill>
            </a:endParaRPr>
          </a:p>
          <a:p>
            <a:pPr marL="914400" lvl="1" indent="-330200" algn="l" rtl="0">
              <a:lnSpc>
                <a:spcPct val="115000"/>
              </a:lnSpc>
              <a:spcBef>
                <a:spcPts val="0"/>
              </a:spcBef>
              <a:spcAft>
                <a:spcPts val="0"/>
              </a:spcAft>
              <a:buSzPts val="1600"/>
              <a:buChar char="○"/>
            </a:pPr>
            <a:r>
              <a:rPr lang="en-GB" sz="1600"/>
              <a:t>I am really hard working and have already learn HTML in my own time so I feel confident I can achieve this. </a:t>
            </a:r>
            <a:endParaRPr sz="1600"/>
          </a:p>
          <a:p>
            <a:pPr marL="457200" lvl="0" indent="-336550" algn="l" rtl="0">
              <a:lnSpc>
                <a:spcPct val="115000"/>
              </a:lnSpc>
              <a:spcBef>
                <a:spcPts val="0"/>
              </a:spcBef>
              <a:spcAft>
                <a:spcPts val="0"/>
              </a:spcAft>
              <a:buClr>
                <a:srgbClr val="0070C0"/>
              </a:buClr>
              <a:buSzPts val="1700"/>
              <a:buChar char="●"/>
            </a:pPr>
            <a:r>
              <a:rPr lang="en-GB" sz="1700" b="1">
                <a:solidFill>
                  <a:srgbClr val="0070C0"/>
                </a:solidFill>
              </a:rPr>
              <a:t>Outline your plan and how you overcome any hurdles: </a:t>
            </a:r>
            <a:endParaRPr sz="1700" b="1">
              <a:solidFill>
                <a:srgbClr val="0070C0"/>
              </a:solidFill>
            </a:endParaRPr>
          </a:p>
          <a:p>
            <a:pPr marL="914400" lvl="1" indent="-330200" algn="l" rtl="0">
              <a:lnSpc>
                <a:spcPct val="115000"/>
              </a:lnSpc>
              <a:spcBef>
                <a:spcPts val="0"/>
              </a:spcBef>
              <a:spcAft>
                <a:spcPts val="0"/>
              </a:spcAft>
              <a:buSzPts val="1600"/>
              <a:buChar char="○"/>
            </a:pPr>
            <a:r>
              <a:rPr lang="en-GB" sz="1600"/>
              <a:t>To achieve this goal I will set one hour every day aside to practice my skills. If there is anything I do not understand I will use W3Schools to support my </a:t>
            </a:r>
            <a:endParaRPr sz="1600"/>
          </a:p>
          <a:p>
            <a:pPr marL="914400" lvl="0" indent="0" algn="l" rtl="0">
              <a:lnSpc>
                <a:spcPct val="115000"/>
              </a:lnSpc>
              <a:spcBef>
                <a:spcPts val="0"/>
              </a:spcBef>
              <a:spcAft>
                <a:spcPts val="0"/>
              </a:spcAft>
              <a:buNone/>
            </a:pPr>
            <a:r>
              <a:rPr lang="en-GB" sz="1600"/>
              <a:t>learning.</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150335" y="222551"/>
            <a:ext cx="8520600" cy="60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89"/>
              <a:buNone/>
            </a:pPr>
            <a:r>
              <a:rPr lang="en-GB" sz="2600"/>
              <a:t>Skills and Qualities. </a:t>
            </a:r>
            <a:endParaRPr sz="2600"/>
          </a:p>
        </p:txBody>
      </p:sp>
      <p:sp>
        <p:nvSpPr>
          <p:cNvPr id="162" name="Google Shape;162;p25"/>
          <p:cNvSpPr txBox="1">
            <a:spLocks noGrp="1"/>
          </p:cNvSpPr>
          <p:nvPr>
            <p:ph type="body" idx="1"/>
          </p:nvPr>
        </p:nvSpPr>
        <p:spPr>
          <a:xfrm>
            <a:off x="117926" y="1005325"/>
            <a:ext cx="5752800" cy="7200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GB" sz="2200"/>
              <a:t>Which is a skill and which is a quality?</a:t>
            </a:r>
            <a:endParaRPr/>
          </a:p>
        </p:txBody>
      </p:sp>
      <p:sp>
        <p:nvSpPr>
          <p:cNvPr id="163" name="Google Shape;163;p25"/>
          <p:cNvSpPr txBox="1"/>
          <p:nvPr/>
        </p:nvSpPr>
        <p:spPr>
          <a:xfrm>
            <a:off x="299286" y="1653373"/>
            <a:ext cx="1059900" cy="7200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0" i="0" u="sng" strike="noStrike" cap="none">
                <a:solidFill>
                  <a:schemeClr val="dk2"/>
                </a:solidFill>
                <a:latin typeface="Roboto"/>
                <a:ea typeface="Roboto"/>
                <a:cs typeface="Roboto"/>
                <a:sym typeface="Roboto"/>
              </a:rPr>
              <a:t>Skill</a:t>
            </a:r>
            <a:endParaRPr/>
          </a:p>
        </p:txBody>
      </p:sp>
      <p:sp>
        <p:nvSpPr>
          <p:cNvPr id="164" name="Google Shape;164;p25"/>
          <p:cNvSpPr txBox="1"/>
          <p:nvPr/>
        </p:nvSpPr>
        <p:spPr>
          <a:xfrm>
            <a:off x="5870850" y="1571875"/>
            <a:ext cx="1418400" cy="7200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0" i="0" u="sng" strike="noStrike" cap="none">
                <a:solidFill>
                  <a:schemeClr val="dk2"/>
                </a:solidFill>
                <a:latin typeface="Roboto"/>
                <a:ea typeface="Roboto"/>
                <a:cs typeface="Roboto"/>
                <a:sym typeface="Roboto"/>
              </a:rPr>
              <a:t>Quality </a:t>
            </a:r>
            <a:endParaRPr/>
          </a:p>
        </p:txBody>
      </p:sp>
      <p:sp>
        <p:nvSpPr>
          <p:cNvPr id="165" name="Google Shape;165;p25"/>
          <p:cNvSpPr txBox="1"/>
          <p:nvPr/>
        </p:nvSpPr>
        <p:spPr>
          <a:xfrm>
            <a:off x="299286" y="2938896"/>
            <a:ext cx="2754300" cy="5403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1" i="0" u="sng" strike="noStrike" cap="none">
                <a:solidFill>
                  <a:schemeClr val="dk2"/>
                </a:solidFill>
                <a:latin typeface="Roboto"/>
                <a:ea typeface="Roboto"/>
                <a:cs typeface="Roboto"/>
                <a:sym typeface="Roboto"/>
              </a:rPr>
              <a:t>B. </a:t>
            </a:r>
            <a:r>
              <a:rPr lang="en-GB" sz="2200" b="0" i="0" u="none" strike="noStrike" cap="none">
                <a:solidFill>
                  <a:schemeClr val="dk2"/>
                </a:solidFill>
                <a:latin typeface="Roboto"/>
                <a:ea typeface="Roboto"/>
                <a:cs typeface="Roboto"/>
                <a:sym typeface="Roboto"/>
              </a:rPr>
              <a:t>I can touch type.</a:t>
            </a:r>
            <a:endParaRPr/>
          </a:p>
        </p:txBody>
      </p:sp>
      <p:sp>
        <p:nvSpPr>
          <p:cNvPr id="166" name="Google Shape;166;p25"/>
          <p:cNvSpPr txBox="1"/>
          <p:nvPr/>
        </p:nvSpPr>
        <p:spPr>
          <a:xfrm>
            <a:off x="299286" y="2398467"/>
            <a:ext cx="3695400" cy="5403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1" i="0" u="sng" strike="noStrike" cap="none">
                <a:solidFill>
                  <a:schemeClr val="dk2"/>
                </a:solidFill>
                <a:latin typeface="Roboto"/>
                <a:ea typeface="Roboto"/>
                <a:cs typeface="Roboto"/>
                <a:sym typeface="Roboto"/>
              </a:rPr>
              <a:t>A. </a:t>
            </a:r>
            <a:r>
              <a:rPr lang="en-GB" sz="2200" b="0" i="0" u="none" strike="noStrike" cap="none">
                <a:solidFill>
                  <a:schemeClr val="dk2"/>
                </a:solidFill>
                <a:latin typeface="Roboto"/>
                <a:ea typeface="Roboto"/>
                <a:cs typeface="Roboto"/>
                <a:sym typeface="Roboto"/>
              </a:rPr>
              <a:t>I enjoy helping others.</a:t>
            </a:r>
            <a:endParaRPr/>
          </a:p>
        </p:txBody>
      </p:sp>
      <p:sp>
        <p:nvSpPr>
          <p:cNvPr id="167" name="Google Shape;167;p25"/>
          <p:cNvSpPr txBox="1"/>
          <p:nvPr/>
        </p:nvSpPr>
        <p:spPr>
          <a:xfrm>
            <a:off x="186375" y="3883225"/>
            <a:ext cx="6166800" cy="809400"/>
          </a:xfrm>
          <a:prstGeom prst="rect">
            <a:avLst/>
          </a:prstGeom>
          <a:solidFill>
            <a:schemeClr val="lt1"/>
          </a:solid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0" i="0" u="none" strike="noStrike" cap="none">
                <a:solidFill>
                  <a:schemeClr val="dk2"/>
                </a:solidFill>
                <a:latin typeface="Roboto"/>
                <a:ea typeface="Roboto"/>
                <a:cs typeface="Roboto"/>
                <a:sym typeface="Roboto"/>
              </a:rPr>
              <a:t>A skill is something you can do, a quality is who you are as a person.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6"/>
          <p:cNvSpPr txBox="1">
            <a:spLocks noGrp="1"/>
          </p:cNvSpPr>
          <p:nvPr>
            <p:ph type="body" idx="1"/>
          </p:nvPr>
        </p:nvSpPr>
        <p:spPr>
          <a:xfrm>
            <a:off x="311700" y="1229875"/>
            <a:ext cx="8520600" cy="2173200"/>
          </a:xfrm>
          <a:prstGeom prst="rect">
            <a:avLst/>
          </a:prstGeom>
          <a:noFill/>
          <a:ln>
            <a:noFill/>
          </a:ln>
        </p:spPr>
        <p:txBody>
          <a:bodyPr spcFirstLastPara="1" wrap="square" lIns="91425" tIns="91425" rIns="91425" bIns="91425" anchor="t" anchorCtr="0">
            <a:normAutofit/>
          </a:bodyPr>
          <a:lstStyle/>
          <a:p>
            <a:pPr marL="457200" lvl="0" indent="-228600" algn="l" rtl="0">
              <a:lnSpc>
                <a:spcPct val="115000"/>
              </a:lnSpc>
              <a:spcBef>
                <a:spcPts val="0"/>
              </a:spcBef>
              <a:spcAft>
                <a:spcPts val="0"/>
              </a:spcAft>
              <a:buSzPts val="1800"/>
              <a:buNone/>
            </a:pPr>
            <a:endParaRPr/>
          </a:p>
        </p:txBody>
      </p:sp>
      <p:sp>
        <p:nvSpPr>
          <p:cNvPr id="173" name="Google Shape;173;p26"/>
          <p:cNvSpPr txBox="1">
            <a:spLocks noGrp="1"/>
          </p:cNvSpPr>
          <p:nvPr>
            <p:ph type="title"/>
          </p:nvPr>
        </p:nvSpPr>
        <p:spPr>
          <a:xfrm>
            <a:off x="150335" y="222551"/>
            <a:ext cx="8520600" cy="60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89"/>
              <a:buNone/>
            </a:pPr>
            <a:r>
              <a:rPr lang="en-GB" sz="2600" dirty="0"/>
              <a:t>Skills and Qualities. </a:t>
            </a:r>
            <a:endParaRPr sz="2600" dirty="0"/>
          </a:p>
        </p:txBody>
      </p:sp>
      <p:sp>
        <p:nvSpPr>
          <p:cNvPr id="174" name="Google Shape;174;p26"/>
          <p:cNvSpPr txBox="1"/>
          <p:nvPr/>
        </p:nvSpPr>
        <p:spPr>
          <a:xfrm>
            <a:off x="150335" y="2178910"/>
            <a:ext cx="4521300" cy="6123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0" i="0" u="none" strike="noStrike" cap="none">
                <a:solidFill>
                  <a:schemeClr val="dk2"/>
                </a:solidFill>
                <a:latin typeface="Roboto"/>
                <a:ea typeface="Roboto"/>
                <a:cs typeface="Roboto"/>
                <a:sym typeface="Roboto"/>
              </a:rPr>
              <a:t>Skill - I can touch type.</a:t>
            </a:r>
            <a:endParaRPr/>
          </a:p>
        </p:txBody>
      </p:sp>
      <p:sp>
        <p:nvSpPr>
          <p:cNvPr id="175" name="Google Shape;175;p26"/>
          <p:cNvSpPr txBox="1"/>
          <p:nvPr/>
        </p:nvSpPr>
        <p:spPr>
          <a:xfrm>
            <a:off x="150335" y="2683216"/>
            <a:ext cx="6233400" cy="7200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Roboto"/>
              <a:buNone/>
            </a:pPr>
            <a:r>
              <a:rPr lang="en-GB" sz="2200" b="0" i="0" u="none" strike="noStrike" cap="none">
                <a:solidFill>
                  <a:schemeClr val="dk2"/>
                </a:solidFill>
                <a:latin typeface="Roboto"/>
                <a:ea typeface="Roboto"/>
                <a:cs typeface="Roboto"/>
                <a:sym typeface="Roboto"/>
              </a:rPr>
              <a:t>Quality - I enjoy helping others. </a:t>
            </a:r>
            <a:endParaRPr/>
          </a:p>
        </p:txBody>
      </p:sp>
      <p:sp>
        <p:nvSpPr>
          <p:cNvPr id="176" name="Google Shape;176;p26"/>
          <p:cNvSpPr txBox="1"/>
          <p:nvPr/>
        </p:nvSpPr>
        <p:spPr>
          <a:xfrm>
            <a:off x="311700" y="1251289"/>
            <a:ext cx="8832300" cy="5403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Roboto"/>
              <a:buNone/>
            </a:pPr>
            <a:r>
              <a:rPr lang="en-GB" sz="2200" b="0" i="0" u="none" strike="noStrike" cap="none">
                <a:solidFill>
                  <a:schemeClr val="dk2"/>
                </a:solidFill>
                <a:latin typeface="Roboto"/>
                <a:ea typeface="Roboto"/>
                <a:cs typeface="Roboto"/>
                <a:sym typeface="Roboto"/>
              </a:rPr>
              <a:t>A skill is something you can do, a quality is who you are as a person.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Identify Suitable Job Opportunities</a:t>
            </a:r>
            <a:endParaRPr/>
          </a:p>
        </p:txBody>
      </p:sp>
      <p:sp>
        <p:nvSpPr>
          <p:cNvPr id="183" name="Google Shape;183;p27"/>
          <p:cNvSpPr txBox="1"/>
          <p:nvPr/>
        </p:nvSpPr>
        <p:spPr>
          <a:xfrm>
            <a:off x="4049475" y="1033700"/>
            <a:ext cx="2208900" cy="36147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r>
              <a:rPr lang="en-GB" sz="1700" b="1" i="0" u="none" strike="noStrike" cap="none">
                <a:solidFill>
                  <a:schemeClr val="dk1"/>
                </a:solidFill>
                <a:latin typeface="Roboto"/>
                <a:ea typeface="Roboto"/>
                <a:cs typeface="Roboto"/>
                <a:sym typeface="Roboto"/>
              </a:rPr>
              <a:t>Qualities…</a:t>
            </a:r>
            <a:endParaRPr sz="1700" b="1">
              <a:latin typeface="Roboto"/>
              <a:ea typeface="Roboto"/>
              <a:cs typeface="Roboto"/>
              <a:sym typeface="Roboto"/>
            </a:endParaRPr>
          </a:p>
          <a:p>
            <a:pPr marL="457200" marR="0" lvl="0" indent="-330200" algn="l" rtl="0">
              <a:lnSpc>
                <a:spcPct val="90000"/>
              </a:lnSpc>
              <a:spcBef>
                <a:spcPts val="80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Integrity</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Independence,</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Self-motivation,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Initiative</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Confidence</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Persuasio</a:t>
            </a:r>
            <a:r>
              <a:rPr lang="en-GB" sz="1600">
                <a:solidFill>
                  <a:schemeClr val="dk1"/>
                </a:solidFill>
                <a:latin typeface="Roboto"/>
                <a:ea typeface="Roboto"/>
                <a:cs typeface="Roboto"/>
                <a:sym typeface="Roboto"/>
              </a:rPr>
              <a:t>n</a:t>
            </a:r>
            <a:r>
              <a:rPr lang="en-GB" sz="1600" i="0" u="none" strike="noStrike" cap="none">
                <a:solidFill>
                  <a:schemeClr val="dk1"/>
                </a:solidFill>
                <a:latin typeface="Roboto"/>
                <a:ea typeface="Roboto"/>
                <a:cs typeface="Roboto"/>
                <a:sym typeface="Roboto"/>
              </a:rPr>
              <a:t>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Humility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Dependable</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Helpful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Efficient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Trustworthy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Reliable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Perceptive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Creative </a:t>
            </a:r>
            <a:endParaRPr sz="1600" b="0" i="0" u="none" strike="noStrike" cap="none">
              <a:solidFill>
                <a:schemeClr val="dk1"/>
              </a:solidFill>
              <a:latin typeface="Calibri"/>
              <a:ea typeface="Calibri"/>
              <a:cs typeface="Calibri"/>
              <a:sym typeface="Calibri"/>
            </a:endParaRPr>
          </a:p>
        </p:txBody>
      </p:sp>
      <p:sp>
        <p:nvSpPr>
          <p:cNvPr id="184" name="Google Shape;184;p27"/>
          <p:cNvSpPr txBox="1"/>
          <p:nvPr/>
        </p:nvSpPr>
        <p:spPr>
          <a:xfrm>
            <a:off x="6258375" y="1001900"/>
            <a:ext cx="2208900" cy="36147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r>
              <a:rPr lang="en-GB" sz="1800" b="1">
                <a:solidFill>
                  <a:schemeClr val="dk1"/>
                </a:solidFill>
                <a:latin typeface="Roboto"/>
                <a:ea typeface="Roboto"/>
                <a:cs typeface="Roboto"/>
                <a:sym typeface="Roboto"/>
              </a:rPr>
              <a:t> </a:t>
            </a:r>
            <a:endParaRPr sz="1800" b="1">
              <a:latin typeface="Roboto"/>
              <a:ea typeface="Roboto"/>
              <a:cs typeface="Roboto"/>
              <a:sym typeface="Roboto"/>
            </a:endParaRPr>
          </a:p>
          <a:p>
            <a:pPr marL="457200" marR="0" lvl="0" indent="-330200" algn="l" rtl="0">
              <a:lnSpc>
                <a:spcPct val="90000"/>
              </a:lnSpc>
              <a:spcBef>
                <a:spcPts val="80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Mature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Open-Minded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Thoughtful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Considerate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Courteous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Talented </a:t>
            </a:r>
            <a:endParaRPr sz="1600" i="0" u="none" strike="noStrike" cap="none">
              <a:solidFill>
                <a:schemeClr val="dk1"/>
              </a:solidFill>
              <a:latin typeface="Roboto"/>
              <a:ea typeface="Roboto"/>
              <a:cs typeface="Roboto"/>
              <a:sym typeface="Roboto"/>
            </a:endParaRPr>
          </a:p>
          <a:p>
            <a:pPr marL="457200" marR="0" lvl="0" indent="-330200" algn="l" rtl="0">
              <a:lnSpc>
                <a:spcPct val="90000"/>
              </a:lnSpc>
              <a:spcBef>
                <a:spcPts val="0"/>
              </a:spcBef>
              <a:spcAft>
                <a:spcPts val="0"/>
              </a:spcAft>
              <a:buClr>
                <a:schemeClr val="dk1"/>
              </a:buClr>
              <a:buSzPts val="1600"/>
              <a:buFont typeface="Roboto"/>
              <a:buChar char="●"/>
            </a:pPr>
            <a:r>
              <a:rPr lang="en-GB" sz="1600" i="0" u="none" strike="noStrike" cap="none">
                <a:solidFill>
                  <a:schemeClr val="dk1"/>
                </a:solidFill>
                <a:latin typeface="Roboto"/>
                <a:ea typeface="Roboto"/>
                <a:cs typeface="Roboto"/>
                <a:sym typeface="Roboto"/>
              </a:rPr>
              <a:t>Educated…</a:t>
            </a:r>
            <a:endParaRPr sz="1600" b="0" i="0" u="none" strike="noStrike" cap="none">
              <a:solidFill>
                <a:schemeClr val="dk1"/>
              </a:solidFill>
              <a:latin typeface="Calibri"/>
              <a:ea typeface="Calibri"/>
              <a:cs typeface="Calibri"/>
              <a:sym typeface="Calibri"/>
            </a:endParaRPr>
          </a:p>
        </p:txBody>
      </p:sp>
      <p:sp>
        <p:nvSpPr>
          <p:cNvPr id="185" name="Google Shape;185;p27"/>
          <p:cNvSpPr txBox="1"/>
          <p:nvPr/>
        </p:nvSpPr>
        <p:spPr>
          <a:xfrm>
            <a:off x="627400" y="1017800"/>
            <a:ext cx="3481500" cy="36147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r>
              <a:rPr lang="en-GB" sz="1700" b="1">
                <a:solidFill>
                  <a:schemeClr val="dk2"/>
                </a:solidFill>
                <a:latin typeface="Roboto"/>
                <a:ea typeface="Roboto"/>
                <a:cs typeface="Roboto"/>
                <a:sym typeface="Roboto"/>
              </a:rPr>
              <a:t>Skills</a:t>
            </a:r>
            <a:r>
              <a:rPr lang="en-GB" sz="1700" b="1" i="0" u="none" strike="noStrike" cap="none">
                <a:solidFill>
                  <a:schemeClr val="dk2"/>
                </a:solidFill>
                <a:latin typeface="Roboto"/>
                <a:ea typeface="Roboto"/>
                <a:cs typeface="Roboto"/>
                <a:sym typeface="Roboto"/>
              </a:rPr>
              <a:t>…</a:t>
            </a:r>
            <a:endParaRPr sz="1700" b="1">
              <a:solidFill>
                <a:schemeClr val="dk2"/>
              </a:solidFill>
              <a:latin typeface="Roboto"/>
              <a:ea typeface="Roboto"/>
              <a:cs typeface="Roboto"/>
              <a:sym typeface="Roboto"/>
            </a:endParaRPr>
          </a:p>
          <a:p>
            <a:pPr marL="457200" marR="0" lvl="0" indent="-330200" algn="l" rtl="0">
              <a:lnSpc>
                <a:spcPct val="90000"/>
              </a:lnSpc>
              <a:spcBef>
                <a:spcPts val="80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Problem solving</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Analytical reasoning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Critical thinking</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Leadership</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Adaptability</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Team worker</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Communication</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Writing</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Listening</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Creativity</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Social skills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Facilitation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People management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Time management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Work quality </a:t>
            </a:r>
            <a:endParaRPr sz="1600">
              <a:solidFill>
                <a:schemeClr val="dk2"/>
              </a:solidFill>
              <a:latin typeface="Roboto"/>
              <a:ea typeface="Roboto"/>
              <a:cs typeface="Roboto"/>
              <a:sym typeface="Roboto"/>
            </a:endParaRPr>
          </a:p>
          <a:p>
            <a:pPr marL="457200" marR="0" lvl="0" indent="-330200" algn="l" rtl="0">
              <a:lnSpc>
                <a:spcPct val="90000"/>
              </a:lnSpc>
              <a:spcBef>
                <a:spcPts val="0"/>
              </a:spcBef>
              <a:spcAft>
                <a:spcPts val="0"/>
              </a:spcAft>
              <a:buClr>
                <a:schemeClr val="dk2"/>
              </a:buClr>
              <a:buSzPts val="1600"/>
              <a:buFont typeface="Roboto"/>
              <a:buChar char="●"/>
            </a:pPr>
            <a:r>
              <a:rPr lang="en-GB" sz="1600">
                <a:solidFill>
                  <a:schemeClr val="dk2"/>
                </a:solidFill>
                <a:latin typeface="Roboto"/>
                <a:ea typeface="Roboto"/>
                <a:cs typeface="Roboto"/>
                <a:sym typeface="Roboto"/>
              </a:rPr>
              <a:t>Decision making…</a:t>
            </a:r>
            <a:endParaRPr sz="1600">
              <a:solidFill>
                <a:schemeClr val="dk2"/>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8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sz="2700"/>
              <a:t>Using Skills in career and personal life…</a:t>
            </a:r>
            <a:endParaRPr sz="2700"/>
          </a:p>
        </p:txBody>
      </p:sp>
      <p:sp>
        <p:nvSpPr>
          <p:cNvPr id="191" name="Google Shape;191;p28"/>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49250" algn="l" rtl="0">
              <a:lnSpc>
                <a:spcPct val="90000"/>
              </a:lnSpc>
              <a:spcBef>
                <a:spcPts val="0"/>
              </a:spcBef>
              <a:spcAft>
                <a:spcPts val="0"/>
              </a:spcAft>
              <a:buSzPts val="1900"/>
              <a:buChar char="●"/>
            </a:pPr>
            <a:r>
              <a:rPr lang="en-GB" sz="1900"/>
              <a:t>How do your skills contribute to your career?</a:t>
            </a:r>
            <a:endParaRPr sz="1900"/>
          </a:p>
          <a:p>
            <a:pPr marL="914400" lvl="1" indent="-349250" algn="l" rtl="0">
              <a:lnSpc>
                <a:spcPct val="90000"/>
              </a:lnSpc>
              <a:spcBef>
                <a:spcPts val="0"/>
              </a:spcBef>
              <a:spcAft>
                <a:spcPts val="0"/>
              </a:spcAft>
              <a:buSzPts val="1900"/>
              <a:buChar char="○"/>
            </a:pPr>
            <a:r>
              <a:rPr lang="en-GB" sz="1900" i="1"/>
              <a:t>Consider the ways your skills will contribute towards the work you do, or want to do. How they will help you develop and advance in your chosen environment.</a:t>
            </a:r>
            <a:endParaRPr sz="1900" i="1"/>
          </a:p>
          <a:p>
            <a:pPr marL="914400" lvl="0" indent="0" algn="l" rtl="0">
              <a:lnSpc>
                <a:spcPct val="90000"/>
              </a:lnSpc>
              <a:spcBef>
                <a:spcPts val="1200"/>
              </a:spcBef>
              <a:spcAft>
                <a:spcPts val="0"/>
              </a:spcAft>
              <a:buNone/>
            </a:pPr>
            <a:endParaRPr sz="1900" i="1"/>
          </a:p>
          <a:p>
            <a:pPr marL="457200" lvl="0" indent="-349250" algn="l" rtl="0">
              <a:lnSpc>
                <a:spcPct val="90000"/>
              </a:lnSpc>
              <a:spcBef>
                <a:spcPts val="1200"/>
              </a:spcBef>
              <a:spcAft>
                <a:spcPts val="0"/>
              </a:spcAft>
              <a:buClr>
                <a:schemeClr val="dk1"/>
              </a:buClr>
              <a:buSzPts val="1900"/>
              <a:buChar char="●"/>
            </a:pPr>
            <a:r>
              <a:rPr lang="en-GB" sz="1900">
                <a:solidFill>
                  <a:schemeClr val="dk1"/>
                </a:solidFill>
              </a:rPr>
              <a:t>How do your skills contribute to your Personal life?</a:t>
            </a:r>
            <a:endParaRPr sz="1900">
              <a:solidFill>
                <a:srgbClr val="000000"/>
              </a:solidFill>
            </a:endParaRPr>
          </a:p>
          <a:p>
            <a:pPr marL="914400" lvl="1" indent="-349250" algn="l" rtl="0">
              <a:lnSpc>
                <a:spcPct val="90000"/>
              </a:lnSpc>
              <a:spcBef>
                <a:spcPts val="0"/>
              </a:spcBef>
              <a:spcAft>
                <a:spcPts val="0"/>
              </a:spcAft>
              <a:buClr>
                <a:schemeClr val="dk1"/>
              </a:buClr>
              <a:buSzPts val="1900"/>
              <a:buChar char="○"/>
            </a:pPr>
            <a:r>
              <a:rPr lang="en-GB" sz="1900" i="1">
                <a:solidFill>
                  <a:schemeClr val="dk1"/>
                </a:solidFill>
              </a:rPr>
              <a:t>Consider how your skills help you within your personal life, away from a work setting. What do they help you achieve, what do they allow you to do?</a:t>
            </a:r>
            <a:endParaRP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Sources of Job Opportunities…</a:t>
            </a:r>
            <a:endParaRPr/>
          </a:p>
        </p:txBody>
      </p:sp>
      <p:sp>
        <p:nvSpPr>
          <p:cNvPr id="197" name="Google Shape;197;p29"/>
          <p:cNvSpPr txBox="1">
            <a:spLocks noGrp="1"/>
          </p:cNvSpPr>
          <p:nvPr>
            <p:ph type="body" idx="1"/>
          </p:nvPr>
        </p:nvSpPr>
        <p:spPr>
          <a:xfrm>
            <a:off x="311700" y="1282525"/>
            <a:ext cx="8520600" cy="3074400"/>
          </a:xfrm>
          <a:prstGeom prst="rect">
            <a:avLst/>
          </a:prstGeom>
          <a:noFill/>
          <a:ln>
            <a:noFill/>
          </a:ln>
        </p:spPr>
        <p:txBody>
          <a:bodyPr spcFirstLastPara="1" wrap="square" lIns="68575" tIns="34275" rIns="68575" bIns="34275" anchor="t" anchorCtr="0">
            <a:normAutofit/>
          </a:bodyPr>
          <a:lstStyle/>
          <a:p>
            <a:pPr marL="457200" lvl="0" indent="-342900" algn="l" rtl="0">
              <a:lnSpc>
                <a:spcPct val="90000"/>
              </a:lnSpc>
              <a:spcBef>
                <a:spcPts val="0"/>
              </a:spcBef>
              <a:spcAft>
                <a:spcPts val="0"/>
              </a:spcAft>
              <a:buSzPts val="1800"/>
              <a:buChar char="●"/>
            </a:pPr>
            <a:r>
              <a:rPr lang="en-GB"/>
              <a:t>What possible sources of information are available that identify job opportunities?</a:t>
            </a:r>
            <a:endParaRPr/>
          </a:p>
          <a:p>
            <a:pPr marL="914400" lvl="1" indent="-330200" algn="l" rtl="0">
              <a:lnSpc>
                <a:spcPct val="90000"/>
              </a:lnSpc>
              <a:spcBef>
                <a:spcPts val="0"/>
              </a:spcBef>
              <a:spcAft>
                <a:spcPts val="0"/>
              </a:spcAft>
              <a:buSzPts val="1600"/>
              <a:buChar char="○"/>
            </a:pPr>
            <a:r>
              <a:rPr lang="en-GB" sz="1600"/>
              <a:t>Search with online job boards</a:t>
            </a:r>
            <a:endParaRPr sz="1600"/>
          </a:p>
          <a:p>
            <a:pPr marL="914400" lvl="1" indent="-330200" algn="l" rtl="0">
              <a:lnSpc>
                <a:spcPct val="90000"/>
              </a:lnSpc>
              <a:spcBef>
                <a:spcPts val="0"/>
              </a:spcBef>
              <a:spcAft>
                <a:spcPts val="0"/>
              </a:spcAft>
              <a:buSzPts val="1600"/>
              <a:buChar char="○"/>
            </a:pPr>
            <a:r>
              <a:rPr lang="en-GB" sz="1600"/>
              <a:t>Visit company websites</a:t>
            </a:r>
            <a:endParaRPr sz="1600"/>
          </a:p>
          <a:p>
            <a:pPr marL="914400" lvl="1" indent="-330200" algn="l" rtl="0">
              <a:lnSpc>
                <a:spcPct val="90000"/>
              </a:lnSpc>
              <a:spcBef>
                <a:spcPts val="0"/>
              </a:spcBef>
              <a:spcAft>
                <a:spcPts val="0"/>
              </a:spcAft>
              <a:buSzPts val="1600"/>
              <a:buChar char="○"/>
            </a:pPr>
            <a:r>
              <a:rPr lang="en-GB" sz="1600"/>
              <a:t>Look at recruiter websites</a:t>
            </a:r>
            <a:endParaRPr sz="1600"/>
          </a:p>
          <a:p>
            <a:pPr marL="914400" lvl="1" indent="-330200" algn="l" rtl="0">
              <a:lnSpc>
                <a:spcPct val="90000"/>
              </a:lnSpc>
              <a:spcBef>
                <a:spcPts val="0"/>
              </a:spcBef>
              <a:spcAft>
                <a:spcPts val="0"/>
              </a:spcAft>
              <a:buSzPts val="1600"/>
              <a:buChar char="○"/>
            </a:pPr>
            <a:r>
              <a:rPr lang="en-GB" sz="1600"/>
              <a:t>Ask friends and family</a:t>
            </a:r>
            <a:endParaRPr sz="1600"/>
          </a:p>
          <a:p>
            <a:pPr marL="914400" lvl="1" indent="-330200" algn="l" rtl="0">
              <a:lnSpc>
                <a:spcPct val="90000"/>
              </a:lnSpc>
              <a:spcBef>
                <a:spcPts val="0"/>
              </a:spcBef>
              <a:spcAft>
                <a:spcPts val="0"/>
              </a:spcAft>
              <a:buSzPts val="1600"/>
              <a:buChar char="○"/>
            </a:pPr>
            <a:r>
              <a:rPr lang="en-GB" sz="1600"/>
              <a:t>Social Media</a:t>
            </a:r>
            <a:endParaRPr sz="1600"/>
          </a:p>
          <a:p>
            <a:pPr marL="914400" lvl="1" indent="-330200" algn="l" rtl="0">
              <a:lnSpc>
                <a:spcPct val="90000"/>
              </a:lnSpc>
              <a:spcBef>
                <a:spcPts val="0"/>
              </a:spcBef>
              <a:spcAft>
                <a:spcPts val="0"/>
              </a:spcAft>
              <a:buSzPts val="1600"/>
              <a:buChar char="○"/>
            </a:pPr>
            <a:r>
              <a:rPr lang="en-GB" sz="1600"/>
              <a:t>University Careers Sites</a:t>
            </a:r>
            <a:endParaRPr sz="1600"/>
          </a:p>
          <a:p>
            <a:pPr marL="914400" lvl="1" indent="-330200" algn="l" rtl="0">
              <a:lnSpc>
                <a:spcPct val="90000"/>
              </a:lnSpc>
              <a:spcBef>
                <a:spcPts val="0"/>
              </a:spcBef>
              <a:spcAft>
                <a:spcPts val="0"/>
              </a:spcAft>
              <a:buSzPts val="1600"/>
              <a:buChar char="○"/>
            </a:pPr>
            <a:r>
              <a:rPr lang="en-GB" sz="1600"/>
              <a:t>Personal Contacts</a:t>
            </a:r>
            <a:endParaRPr sz="1600"/>
          </a:p>
          <a:p>
            <a:pPr marL="914400" lvl="1" indent="-330200" algn="l" rtl="0">
              <a:lnSpc>
                <a:spcPct val="90000"/>
              </a:lnSpc>
              <a:spcBef>
                <a:spcPts val="0"/>
              </a:spcBef>
              <a:spcAft>
                <a:spcPts val="0"/>
              </a:spcAft>
              <a:buSzPts val="1600"/>
              <a:buChar char="○"/>
            </a:pPr>
            <a:r>
              <a:rPr lang="en-GB" sz="1600"/>
              <a:t>National &amp; Local Newspapers</a:t>
            </a:r>
            <a:endParaRPr sz="1600"/>
          </a:p>
          <a:p>
            <a:pPr marL="177800" lvl="0" indent="-50800" algn="l" rtl="0">
              <a:lnSpc>
                <a:spcPct val="90000"/>
              </a:lnSpc>
              <a:spcBef>
                <a:spcPts val="800"/>
              </a:spcBef>
              <a:spcAft>
                <a:spcPts val="1200"/>
              </a:spcAft>
              <a:buClr>
                <a:schemeClr val="dk1"/>
              </a:buClr>
              <a:buSzPts val="2100"/>
              <a:buNone/>
            </a:pPr>
            <a:endParaRPr/>
          </a:p>
        </p:txBody>
      </p:sp>
      <p:grpSp>
        <p:nvGrpSpPr>
          <p:cNvPr id="198" name="Google Shape;198;p29"/>
          <p:cNvGrpSpPr/>
          <p:nvPr/>
        </p:nvGrpSpPr>
        <p:grpSpPr>
          <a:xfrm>
            <a:off x="4998310" y="1758333"/>
            <a:ext cx="3834000" cy="2122800"/>
            <a:chOff x="3442635" y="3303533"/>
            <a:chExt cx="3834000" cy="2122800"/>
          </a:xfrm>
        </p:grpSpPr>
        <p:sp>
          <p:nvSpPr>
            <p:cNvPr id="199" name="Google Shape;199;p29"/>
            <p:cNvSpPr/>
            <p:nvPr/>
          </p:nvSpPr>
          <p:spPr>
            <a:xfrm>
              <a:off x="3442635" y="3303533"/>
              <a:ext cx="3834000" cy="2122800"/>
            </a:xfrm>
            <a:prstGeom prst="cloudCallout">
              <a:avLst>
                <a:gd name="adj1" fmla="val -74128"/>
                <a:gd name="adj2" fmla="val -7028"/>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00" name="Google Shape;200;p29"/>
            <p:cNvSpPr txBox="1"/>
            <p:nvPr/>
          </p:nvSpPr>
          <p:spPr>
            <a:xfrm>
              <a:off x="4242721" y="3530283"/>
              <a:ext cx="2233800" cy="14547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i="0" u="none" strike="noStrike" cap="none">
                  <a:solidFill>
                    <a:schemeClr val="lt1"/>
                  </a:solidFill>
                  <a:latin typeface="Roboto"/>
                  <a:ea typeface="Roboto"/>
                  <a:cs typeface="Roboto"/>
                  <a:sym typeface="Roboto"/>
                </a:rPr>
                <a:t>Think of examples of ‘Sources of Information’ – which ones have you used before? </a:t>
              </a:r>
              <a:endParaRPr sz="800">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sz="2700"/>
              <a:t>Own suitability and readiness…</a:t>
            </a:r>
            <a:endParaRPr sz="2700"/>
          </a:p>
        </p:txBody>
      </p:sp>
      <p:sp>
        <p:nvSpPr>
          <p:cNvPr id="206" name="Google Shape;206;p30"/>
          <p:cNvSpPr txBox="1">
            <a:spLocks noGrp="1"/>
          </p:cNvSpPr>
          <p:nvPr>
            <p:ph type="body" idx="1"/>
          </p:nvPr>
        </p:nvSpPr>
        <p:spPr>
          <a:xfrm>
            <a:off x="311700" y="2078175"/>
            <a:ext cx="4070400" cy="2490600"/>
          </a:xfrm>
          <a:prstGeom prst="rect">
            <a:avLst/>
          </a:prstGeom>
          <a:noFill/>
          <a:ln>
            <a:noFill/>
          </a:ln>
        </p:spPr>
        <p:txBody>
          <a:bodyPr spcFirstLastPara="1" wrap="square" lIns="68575" tIns="34275" rIns="68575" bIns="34275" anchor="t" anchorCtr="0">
            <a:normAutofit/>
          </a:bodyPr>
          <a:lstStyle/>
          <a:p>
            <a:pPr marL="457200" lvl="0" indent="-355600" algn="l" rtl="0">
              <a:lnSpc>
                <a:spcPct val="90000"/>
              </a:lnSpc>
              <a:spcBef>
                <a:spcPts val="0"/>
              </a:spcBef>
              <a:spcAft>
                <a:spcPts val="0"/>
              </a:spcAft>
              <a:buClr>
                <a:srgbClr val="00B050"/>
              </a:buClr>
              <a:buSzPts val="2000"/>
              <a:buChar char="●"/>
            </a:pPr>
            <a:r>
              <a:rPr lang="en-GB" sz="2000">
                <a:solidFill>
                  <a:srgbClr val="00B050"/>
                </a:solidFill>
              </a:rPr>
              <a:t>Positives…</a:t>
            </a:r>
            <a:endParaRPr sz="2000"/>
          </a:p>
          <a:p>
            <a:pPr marL="914400" lvl="1" indent="-330200" algn="l" rtl="0">
              <a:lnSpc>
                <a:spcPct val="90000"/>
              </a:lnSpc>
              <a:spcBef>
                <a:spcPts val="0"/>
              </a:spcBef>
              <a:spcAft>
                <a:spcPts val="0"/>
              </a:spcAft>
              <a:buClr>
                <a:srgbClr val="00B050"/>
              </a:buClr>
              <a:buSzPts val="1600"/>
              <a:buChar char="○"/>
            </a:pPr>
            <a:r>
              <a:rPr lang="en-GB" sz="1600">
                <a:solidFill>
                  <a:srgbClr val="00B050"/>
                </a:solidFill>
              </a:rPr>
              <a:t>Previous experience</a:t>
            </a:r>
            <a:endParaRPr sz="1600"/>
          </a:p>
          <a:p>
            <a:pPr marL="914400" lvl="1" indent="-330200" algn="l" rtl="0">
              <a:lnSpc>
                <a:spcPct val="90000"/>
              </a:lnSpc>
              <a:spcBef>
                <a:spcPts val="0"/>
              </a:spcBef>
              <a:spcAft>
                <a:spcPts val="0"/>
              </a:spcAft>
              <a:buClr>
                <a:srgbClr val="00B050"/>
              </a:buClr>
              <a:buSzPts val="1600"/>
              <a:buChar char="○"/>
            </a:pPr>
            <a:r>
              <a:rPr lang="en-GB" sz="1600">
                <a:solidFill>
                  <a:srgbClr val="00B050"/>
                </a:solidFill>
              </a:rPr>
              <a:t>Technical knowledge</a:t>
            </a:r>
            <a:endParaRPr sz="1600"/>
          </a:p>
          <a:p>
            <a:pPr marL="914400" lvl="1" indent="-330200" algn="l" rtl="0">
              <a:lnSpc>
                <a:spcPct val="90000"/>
              </a:lnSpc>
              <a:spcBef>
                <a:spcPts val="0"/>
              </a:spcBef>
              <a:spcAft>
                <a:spcPts val="0"/>
              </a:spcAft>
              <a:buClr>
                <a:srgbClr val="00B050"/>
              </a:buClr>
              <a:buSzPts val="1600"/>
              <a:buChar char="○"/>
            </a:pPr>
            <a:r>
              <a:rPr lang="en-GB" sz="1600">
                <a:solidFill>
                  <a:srgbClr val="00B050"/>
                </a:solidFill>
              </a:rPr>
              <a:t>Transferable skills</a:t>
            </a:r>
            <a:endParaRPr sz="1600"/>
          </a:p>
          <a:p>
            <a:pPr marL="914400" lvl="1" indent="-330200" algn="l" rtl="0">
              <a:lnSpc>
                <a:spcPct val="90000"/>
              </a:lnSpc>
              <a:spcBef>
                <a:spcPts val="0"/>
              </a:spcBef>
              <a:spcAft>
                <a:spcPts val="0"/>
              </a:spcAft>
              <a:buClr>
                <a:srgbClr val="00B050"/>
              </a:buClr>
              <a:buSzPts val="1600"/>
              <a:buChar char="○"/>
            </a:pPr>
            <a:r>
              <a:rPr lang="en-GB" sz="1600">
                <a:solidFill>
                  <a:srgbClr val="00B050"/>
                </a:solidFill>
              </a:rPr>
              <a:t>Understanding of the industry</a:t>
            </a:r>
            <a:endParaRPr sz="1600"/>
          </a:p>
          <a:p>
            <a:pPr marL="914400" lvl="1" indent="-330200" algn="l" rtl="0">
              <a:lnSpc>
                <a:spcPct val="90000"/>
              </a:lnSpc>
              <a:spcBef>
                <a:spcPts val="0"/>
              </a:spcBef>
              <a:spcAft>
                <a:spcPts val="0"/>
              </a:spcAft>
              <a:buClr>
                <a:srgbClr val="00B050"/>
              </a:buClr>
              <a:buSzPts val="1600"/>
              <a:buChar char="○"/>
            </a:pPr>
            <a:r>
              <a:rPr lang="en-GB" sz="1600">
                <a:solidFill>
                  <a:srgbClr val="00B050"/>
                </a:solidFill>
              </a:rPr>
              <a:t>Ability to adapt and develop quickly to meet the requirements.</a:t>
            </a:r>
            <a:endParaRPr sz="1600"/>
          </a:p>
        </p:txBody>
      </p:sp>
      <p:sp>
        <p:nvSpPr>
          <p:cNvPr id="207" name="Google Shape;207;p30"/>
          <p:cNvSpPr txBox="1"/>
          <p:nvPr/>
        </p:nvSpPr>
        <p:spPr>
          <a:xfrm>
            <a:off x="4251375" y="2078171"/>
            <a:ext cx="3943200" cy="2584800"/>
          </a:xfrm>
          <a:prstGeom prst="rect">
            <a:avLst/>
          </a:prstGeom>
          <a:noFill/>
          <a:ln>
            <a:noFill/>
          </a:ln>
        </p:spPr>
        <p:txBody>
          <a:bodyPr spcFirstLastPara="1" wrap="square" lIns="68575" tIns="34275" rIns="68575" bIns="34275" anchor="t" anchorCtr="0">
            <a:normAutofit/>
          </a:bodyPr>
          <a:lstStyle/>
          <a:p>
            <a:pPr marL="457200" marR="0" lvl="0" indent="-355600" algn="l" rtl="0">
              <a:lnSpc>
                <a:spcPct val="90000"/>
              </a:lnSpc>
              <a:spcBef>
                <a:spcPts val="0"/>
              </a:spcBef>
              <a:spcAft>
                <a:spcPts val="0"/>
              </a:spcAft>
              <a:buClr>
                <a:srgbClr val="C00000"/>
              </a:buClr>
              <a:buSzPts val="2000"/>
              <a:buFont typeface="Roboto"/>
              <a:buChar char="●"/>
            </a:pPr>
            <a:r>
              <a:rPr lang="en-GB" sz="2000">
                <a:solidFill>
                  <a:srgbClr val="C00000"/>
                </a:solidFill>
                <a:latin typeface="Roboto"/>
                <a:ea typeface="Roboto"/>
                <a:cs typeface="Roboto"/>
                <a:sym typeface="Roboto"/>
              </a:rPr>
              <a:t>Negatives…</a:t>
            </a:r>
            <a:endParaRPr sz="2000">
              <a:latin typeface="Roboto"/>
              <a:ea typeface="Roboto"/>
              <a:cs typeface="Roboto"/>
              <a:sym typeface="Roboto"/>
            </a:endParaRPr>
          </a:p>
          <a:p>
            <a:pPr marL="914400" marR="0" lvl="1" indent="-330200" algn="l" rtl="0">
              <a:lnSpc>
                <a:spcPct val="90000"/>
              </a:lnSpc>
              <a:spcBef>
                <a:spcPts val="0"/>
              </a:spcBef>
              <a:spcAft>
                <a:spcPts val="0"/>
              </a:spcAft>
              <a:buClr>
                <a:srgbClr val="C00000"/>
              </a:buClr>
              <a:buSzPts val="1600"/>
              <a:buFont typeface="Roboto"/>
              <a:buChar char="○"/>
            </a:pPr>
            <a:r>
              <a:rPr lang="en-GB" sz="1600">
                <a:solidFill>
                  <a:srgbClr val="C00000"/>
                </a:solidFill>
                <a:latin typeface="Roboto"/>
                <a:ea typeface="Roboto"/>
                <a:cs typeface="Roboto"/>
                <a:sym typeface="Roboto"/>
              </a:rPr>
              <a:t>No previous experience</a:t>
            </a:r>
            <a:endParaRPr sz="1600">
              <a:latin typeface="Roboto"/>
              <a:ea typeface="Roboto"/>
              <a:cs typeface="Roboto"/>
              <a:sym typeface="Roboto"/>
            </a:endParaRPr>
          </a:p>
          <a:p>
            <a:pPr marL="914400" marR="0" lvl="1" indent="-330200" algn="l" rtl="0">
              <a:lnSpc>
                <a:spcPct val="90000"/>
              </a:lnSpc>
              <a:spcBef>
                <a:spcPts val="0"/>
              </a:spcBef>
              <a:spcAft>
                <a:spcPts val="0"/>
              </a:spcAft>
              <a:buClr>
                <a:srgbClr val="C00000"/>
              </a:buClr>
              <a:buSzPts val="1600"/>
              <a:buFont typeface="Roboto"/>
              <a:buChar char="○"/>
            </a:pPr>
            <a:r>
              <a:rPr lang="en-GB" sz="1600">
                <a:solidFill>
                  <a:srgbClr val="C00000"/>
                </a:solidFill>
                <a:latin typeface="Roboto"/>
                <a:ea typeface="Roboto"/>
                <a:cs typeface="Roboto"/>
                <a:sym typeface="Roboto"/>
              </a:rPr>
              <a:t>No knowledge in the required field</a:t>
            </a:r>
            <a:endParaRPr sz="1600">
              <a:latin typeface="Roboto"/>
              <a:ea typeface="Roboto"/>
              <a:cs typeface="Roboto"/>
              <a:sym typeface="Roboto"/>
            </a:endParaRPr>
          </a:p>
          <a:p>
            <a:pPr marL="914400" marR="0" lvl="1" indent="-330200" algn="l" rtl="0">
              <a:lnSpc>
                <a:spcPct val="90000"/>
              </a:lnSpc>
              <a:spcBef>
                <a:spcPts val="0"/>
              </a:spcBef>
              <a:spcAft>
                <a:spcPts val="0"/>
              </a:spcAft>
              <a:buClr>
                <a:srgbClr val="C00000"/>
              </a:buClr>
              <a:buSzPts val="1600"/>
              <a:buFont typeface="Roboto"/>
              <a:buChar char="○"/>
            </a:pPr>
            <a:r>
              <a:rPr lang="en-GB" sz="1600">
                <a:solidFill>
                  <a:srgbClr val="C00000"/>
                </a:solidFill>
                <a:latin typeface="Roboto"/>
                <a:ea typeface="Roboto"/>
                <a:cs typeface="Roboto"/>
                <a:sym typeface="Roboto"/>
              </a:rPr>
              <a:t>No knowledge of the industry and its requirements</a:t>
            </a:r>
            <a:endParaRPr sz="1600">
              <a:latin typeface="Roboto"/>
              <a:ea typeface="Roboto"/>
              <a:cs typeface="Roboto"/>
              <a:sym typeface="Roboto"/>
            </a:endParaRPr>
          </a:p>
          <a:p>
            <a:pPr marL="914400" marR="0" lvl="1" indent="-330200" algn="l" rtl="0">
              <a:lnSpc>
                <a:spcPct val="90000"/>
              </a:lnSpc>
              <a:spcBef>
                <a:spcPts val="0"/>
              </a:spcBef>
              <a:spcAft>
                <a:spcPts val="0"/>
              </a:spcAft>
              <a:buClr>
                <a:srgbClr val="C00000"/>
              </a:buClr>
              <a:buSzPts val="1600"/>
              <a:buFont typeface="Roboto"/>
              <a:buChar char="○"/>
            </a:pPr>
            <a:r>
              <a:rPr lang="en-GB" sz="1600">
                <a:solidFill>
                  <a:srgbClr val="C00000"/>
                </a:solidFill>
                <a:latin typeface="Roboto"/>
                <a:ea typeface="Roboto"/>
                <a:cs typeface="Roboto"/>
                <a:sym typeface="Roboto"/>
              </a:rPr>
              <a:t>Unable to meet the demands of the role (physically)</a:t>
            </a:r>
            <a:endParaRPr sz="1600">
              <a:latin typeface="Roboto"/>
              <a:ea typeface="Roboto"/>
              <a:cs typeface="Roboto"/>
              <a:sym typeface="Roboto"/>
            </a:endParaRPr>
          </a:p>
        </p:txBody>
      </p:sp>
      <p:sp>
        <p:nvSpPr>
          <p:cNvPr id="208" name="Google Shape;208;p30"/>
          <p:cNvSpPr txBox="1"/>
          <p:nvPr/>
        </p:nvSpPr>
        <p:spPr>
          <a:xfrm>
            <a:off x="311700" y="1133475"/>
            <a:ext cx="8520600" cy="778500"/>
          </a:xfrm>
          <a:prstGeom prst="rect">
            <a:avLst/>
          </a:prstGeom>
          <a:noFill/>
          <a:ln w="9525" cap="flat" cmpd="sng">
            <a:solidFill>
              <a:srgbClr val="000000"/>
            </a:solidFill>
            <a:prstDash val="solid"/>
            <a:round/>
            <a:headEnd type="none" w="sm" len="sm"/>
            <a:tailEnd type="none" w="sm" len="sm"/>
          </a:ln>
        </p:spPr>
        <p:txBody>
          <a:bodyPr spcFirstLastPara="1" wrap="square" lIns="68575" tIns="34275" rIns="68575" bIns="34275" anchor="t" anchorCtr="0">
            <a:normAutofit fontScale="92500" lnSpcReduction="10000"/>
          </a:bodyPr>
          <a:lstStyle/>
          <a:p>
            <a:pPr marL="0" marR="0" lvl="0" indent="0" algn="ctr" rtl="0">
              <a:lnSpc>
                <a:spcPct val="100000"/>
              </a:lnSpc>
              <a:spcBef>
                <a:spcPts val="0"/>
              </a:spcBef>
              <a:spcAft>
                <a:spcPts val="0"/>
              </a:spcAft>
              <a:buClr>
                <a:schemeClr val="dk1"/>
              </a:buClr>
              <a:buSzPct val="123529"/>
              <a:buFont typeface="Arial"/>
              <a:buNone/>
            </a:pPr>
            <a:r>
              <a:rPr lang="en-GB" sz="1700" i="1">
                <a:solidFill>
                  <a:schemeClr val="dk1"/>
                </a:solidFill>
                <a:latin typeface="Roboto"/>
                <a:ea typeface="Roboto"/>
                <a:cs typeface="Roboto"/>
                <a:sym typeface="Roboto"/>
              </a:rPr>
              <a:t>Q5 - </a:t>
            </a:r>
            <a:endParaRPr sz="1700" i="1">
              <a:solidFill>
                <a:schemeClr val="dk1"/>
              </a:solidFill>
              <a:latin typeface="Roboto"/>
              <a:ea typeface="Roboto"/>
              <a:cs typeface="Roboto"/>
              <a:sym typeface="Roboto"/>
            </a:endParaRPr>
          </a:p>
          <a:p>
            <a:pPr marL="0" marR="0" lvl="0" indent="0" algn="ctr" rtl="0">
              <a:lnSpc>
                <a:spcPct val="100000"/>
              </a:lnSpc>
              <a:spcBef>
                <a:spcPts val="0"/>
              </a:spcBef>
              <a:spcAft>
                <a:spcPts val="0"/>
              </a:spcAft>
              <a:buClr>
                <a:schemeClr val="dk1"/>
              </a:buClr>
              <a:buSzPct val="123529"/>
              <a:buFont typeface="Arial"/>
              <a:buNone/>
            </a:pPr>
            <a:r>
              <a:rPr lang="en-GB" sz="1700" i="1">
                <a:solidFill>
                  <a:schemeClr val="dk1"/>
                </a:solidFill>
                <a:latin typeface="Roboto"/>
                <a:ea typeface="Roboto"/>
                <a:cs typeface="Roboto"/>
                <a:sym typeface="Roboto"/>
              </a:rPr>
              <a:t>Consider 2 different job roles and consider how you are a suitable candidate for them. Think about both positive and negative issues that would make you suitable (or not) for the role.</a:t>
            </a:r>
            <a:endParaRPr sz="17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sz="2700"/>
              <a:t>Career objectives…</a:t>
            </a:r>
            <a:endParaRPr sz="2700"/>
          </a:p>
        </p:txBody>
      </p:sp>
      <p:sp>
        <p:nvSpPr>
          <p:cNvPr id="214" name="Google Shape;214;p31"/>
          <p:cNvSpPr txBox="1">
            <a:spLocks noGrp="1"/>
          </p:cNvSpPr>
          <p:nvPr>
            <p:ph type="body" idx="1"/>
          </p:nvPr>
        </p:nvSpPr>
        <p:spPr>
          <a:xfrm>
            <a:off x="311700" y="902525"/>
            <a:ext cx="8416800" cy="3666300"/>
          </a:xfrm>
          <a:prstGeom prst="rect">
            <a:avLst/>
          </a:prstGeom>
          <a:noFill/>
          <a:ln>
            <a:noFill/>
          </a:ln>
        </p:spPr>
        <p:txBody>
          <a:bodyPr spcFirstLastPara="1" wrap="square" lIns="68575" tIns="34275" rIns="68575" bIns="34275" anchor="t" anchorCtr="0">
            <a:normAutofit/>
          </a:bodyPr>
          <a:lstStyle/>
          <a:p>
            <a:pPr marL="457200" lvl="0" indent="-342900" algn="l" rtl="0">
              <a:lnSpc>
                <a:spcPct val="100000"/>
              </a:lnSpc>
              <a:spcBef>
                <a:spcPts val="0"/>
              </a:spcBef>
              <a:spcAft>
                <a:spcPts val="0"/>
              </a:spcAft>
              <a:buSzPts val="1800"/>
              <a:buChar char="●"/>
            </a:pPr>
            <a:r>
              <a:rPr lang="en-GB"/>
              <a:t>Short term Goals</a:t>
            </a:r>
            <a:endParaRPr/>
          </a:p>
          <a:p>
            <a:pPr marL="914400" lvl="1" indent="-330200" algn="l" rtl="0">
              <a:lnSpc>
                <a:spcPct val="100000"/>
              </a:lnSpc>
              <a:spcBef>
                <a:spcPts val="0"/>
              </a:spcBef>
              <a:spcAft>
                <a:spcPts val="0"/>
              </a:spcAft>
              <a:buSzPts val="1600"/>
              <a:buChar char="○"/>
            </a:pPr>
            <a:r>
              <a:rPr lang="en-GB" sz="1600"/>
              <a:t>A short-term goal is something you want to do in the near future. The near future can mean today, this week, this month, or even this year. A short-term goal is something you want to accomplish soon.</a:t>
            </a:r>
            <a:endParaRPr sz="1600"/>
          </a:p>
          <a:p>
            <a:pPr marL="457200" lvl="0" indent="-342900" algn="l" rtl="0">
              <a:lnSpc>
                <a:spcPct val="100000"/>
              </a:lnSpc>
              <a:spcBef>
                <a:spcPts val="1000"/>
              </a:spcBef>
              <a:spcAft>
                <a:spcPts val="0"/>
              </a:spcAft>
              <a:buSzPts val="1800"/>
              <a:buChar char="●"/>
            </a:pPr>
            <a:r>
              <a:rPr lang="en-GB"/>
              <a:t>Medium term Goals</a:t>
            </a:r>
            <a:endParaRPr/>
          </a:p>
          <a:p>
            <a:pPr marL="914400" lvl="1" indent="-330200" algn="l" rtl="0">
              <a:lnSpc>
                <a:spcPct val="100000"/>
              </a:lnSpc>
              <a:spcBef>
                <a:spcPts val="0"/>
              </a:spcBef>
              <a:spcAft>
                <a:spcPts val="0"/>
              </a:spcAft>
              <a:buSzPts val="1600"/>
              <a:buChar char="○"/>
            </a:pPr>
            <a:r>
              <a:rPr lang="en-GB" sz="1600"/>
              <a:t>Medium-term goals are set to be achieved somewhere between a person's short-term goals and long-term goals. Since long-term goals can take a long time to achieve, medium-term goals help a person stay motivated while they are taking the day-to-day short-term steps necessary for steady progress.</a:t>
            </a:r>
            <a:endParaRPr sz="1600"/>
          </a:p>
          <a:p>
            <a:pPr marL="457200" lvl="0" indent="-342900" algn="l" rtl="0">
              <a:lnSpc>
                <a:spcPct val="100000"/>
              </a:lnSpc>
              <a:spcBef>
                <a:spcPts val="1000"/>
              </a:spcBef>
              <a:spcAft>
                <a:spcPts val="0"/>
              </a:spcAft>
              <a:buSzPts val="1800"/>
              <a:buChar char="●"/>
            </a:pPr>
            <a:r>
              <a:rPr lang="en-GB"/>
              <a:t>Long term Goals</a:t>
            </a:r>
            <a:endParaRPr/>
          </a:p>
          <a:p>
            <a:pPr marL="914400" lvl="1" indent="-330200" algn="l" rtl="0">
              <a:lnSpc>
                <a:spcPct val="100000"/>
              </a:lnSpc>
              <a:spcBef>
                <a:spcPts val="0"/>
              </a:spcBef>
              <a:spcAft>
                <a:spcPts val="1000"/>
              </a:spcAft>
              <a:buSzPts val="1600"/>
              <a:buChar char="○"/>
            </a:pPr>
            <a:r>
              <a:rPr lang="en-GB" sz="1600"/>
              <a:t>Long-term goals help you think about jobs you want in the future. Careers take time and planning. These plans will include your long-term goals.</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a:spLocks noGrp="1"/>
          </p:cNvSpPr>
          <p:nvPr>
            <p:ph type="title"/>
          </p:nvPr>
        </p:nvSpPr>
        <p:spPr>
          <a:xfrm>
            <a:off x="383789" y="294451"/>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04166"/>
              <a:buNone/>
            </a:pPr>
            <a:r>
              <a:rPr lang="en-GB" sz="3200"/>
              <a:t>Career Goals</a:t>
            </a:r>
            <a:br>
              <a:rPr lang="en-GB" sz="3200"/>
            </a:br>
            <a:endParaRPr/>
          </a:p>
        </p:txBody>
      </p:sp>
      <p:sp>
        <p:nvSpPr>
          <p:cNvPr id="220" name="Google Shape;220;p32"/>
          <p:cNvSpPr txBox="1">
            <a:spLocks noGrp="1"/>
          </p:cNvSpPr>
          <p:nvPr>
            <p:ph type="body" idx="1"/>
          </p:nvPr>
        </p:nvSpPr>
        <p:spPr>
          <a:xfrm>
            <a:off x="311700" y="902249"/>
            <a:ext cx="8520600" cy="390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GB" sz="1900" b="1" dirty="0"/>
              <a:t>Short term goals </a:t>
            </a:r>
            <a:r>
              <a:rPr lang="en-GB" sz="1900" dirty="0"/>
              <a:t>– learning, overcoming fears, getting feedback, building relationships that might help you in the future. </a:t>
            </a:r>
            <a:endParaRPr sz="1900" dirty="0"/>
          </a:p>
          <a:p>
            <a:pPr marL="0" lvl="0" indent="0" algn="l" rtl="0">
              <a:lnSpc>
                <a:spcPct val="115000"/>
              </a:lnSpc>
              <a:spcBef>
                <a:spcPts val="0"/>
              </a:spcBef>
              <a:spcAft>
                <a:spcPts val="0"/>
              </a:spcAft>
              <a:buSzPts val="1800"/>
              <a:buNone/>
            </a:pPr>
            <a:endParaRPr sz="1900" dirty="0"/>
          </a:p>
          <a:p>
            <a:pPr marL="0" lvl="0" indent="0" algn="l" rtl="0">
              <a:lnSpc>
                <a:spcPct val="115000"/>
              </a:lnSpc>
              <a:spcBef>
                <a:spcPts val="0"/>
              </a:spcBef>
              <a:spcAft>
                <a:spcPts val="0"/>
              </a:spcAft>
              <a:buSzPts val="1800"/>
              <a:buNone/>
            </a:pPr>
            <a:endParaRPr sz="1900" dirty="0"/>
          </a:p>
          <a:p>
            <a:pPr marL="0" lvl="0" indent="0" algn="l" rtl="0">
              <a:lnSpc>
                <a:spcPct val="115000"/>
              </a:lnSpc>
              <a:spcBef>
                <a:spcPts val="0"/>
              </a:spcBef>
              <a:spcAft>
                <a:spcPts val="0"/>
              </a:spcAft>
              <a:buSzPts val="1800"/>
              <a:buNone/>
            </a:pPr>
            <a:r>
              <a:rPr lang="en-GB" sz="1900" b="1" dirty="0"/>
              <a:t>Long-term goals – </a:t>
            </a:r>
            <a:r>
              <a:rPr lang="en-GB" sz="1900" dirty="0"/>
              <a:t>what role would you like to have in the next few years?</a:t>
            </a:r>
            <a:endParaRPr sz="1900" dirty="0"/>
          </a:p>
          <a:p>
            <a:pPr marL="0" lvl="0" indent="0" algn="l" rtl="0">
              <a:lnSpc>
                <a:spcPct val="115000"/>
              </a:lnSpc>
              <a:spcBef>
                <a:spcPts val="0"/>
              </a:spcBef>
              <a:spcAft>
                <a:spcPts val="0"/>
              </a:spcAft>
              <a:buSzPts val="1800"/>
              <a:buNone/>
            </a:pPr>
            <a:endParaRPr sz="1900" dirty="0"/>
          </a:p>
          <a:p>
            <a:pPr marL="457200" lvl="0" indent="-228600" algn="l" rtl="0">
              <a:lnSpc>
                <a:spcPct val="115000"/>
              </a:lnSpc>
              <a:spcBef>
                <a:spcPts val="0"/>
              </a:spcBef>
              <a:spcAft>
                <a:spcPts val="0"/>
              </a:spcAft>
              <a:buSzPts val="1800"/>
              <a:buNone/>
            </a:pPr>
            <a:endParaRPr sz="2500" dirty="0"/>
          </a:p>
          <a:p>
            <a:pPr marL="457200" lvl="0" indent="-228600" algn="l" rtl="0">
              <a:lnSpc>
                <a:spcPct val="115000"/>
              </a:lnSpc>
              <a:spcBef>
                <a:spcPts val="0"/>
              </a:spcBef>
              <a:spcAft>
                <a:spcPts val="0"/>
              </a:spcAft>
              <a:buSzPts val="1800"/>
              <a:buNone/>
            </a:pPr>
            <a:endParaRPr sz="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a:spLocks noGrp="1"/>
          </p:cNvSpPr>
          <p:nvPr>
            <p:ph type="title"/>
          </p:nvPr>
        </p:nvSpPr>
        <p:spPr>
          <a:xfrm>
            <a:off x="311700" y="251041"/>
            <a:ext cx="8520600" cy="60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GB" sz="2700"/>
              <a:t>Job role positives and negatives </a:t>
            </a:r>
            <a:endParaRPr/>
          </a:p>
        </p:txBody>
      </p:sp>
      <p:grpSp>
        <p:nvGrpSpPr>
          <p:cNvPr id="226" name="Google Shape;226;p33"/>
          <p:cNvGrpSpPr/>
          <p:nvPr/>
        </p:nvGrpSpPr>
        <p:grpSpPr>
          <a:xfrm>
            <a:off x="403295" y="1485756"/>
            <a:ext cx="8634578" cy="3100782"/>
            <a:chOff x="403295" y="371659"/>
            <a:chExt cx="8634578" cy="3100782"/>
          </a:xfrm>
        </p:grpSpPr>
        <p:grpSp>
          <p:nvGrpSpPr>
            <p:cNvPr id="227" name="Google Shape;227;p33"/>
            <p:cNvGrpSpPr/>
            <p:nvPr/>
          </p:nvGrpSpPr>
          <p:grpSpPr>
            <a:xfrm>
              <a:off x="403295" y="371659"/>
              <a:ext cx="8634578" cy="3100782"/>
              <a:chOff x="403295" y="371659"/>
              <a:chExt cx="8634578" cy="3100782"/>
            </a:xfrm>
          </p:grpSpPr>
          <p:grpSp>
            <p:nvGrpSpPr>
              <p:cNvPr id="228" name="Google Shape;228;p33"/>
              <p:cNvGrpSpPr/>
              <p:nvPr/>
            </p:nvGrpSpPr>
            <p:grpSpPr>
              <a:xfrm>
                <a:off x="403295" y="371659"/>
                <a:ext cx="8634578" cy="3100782"/>
                <a:chOff x="1074017" y="-1686271"/>
                <a:chExt cx="13951491" cy="5010150"/>
              </a:xfrm>
            </p:grpSpPr>
            <p:pic>
              <p:nvPicPr>
                <p:cNvPr id="229" name="Google Shape;229;p33"/>
                <p:cNvPicPr preferRelativeResize="0"/>
                <p:nvPr/>
              </p:nvPicPr>
              <p:blipFill rotWithShape="1">
                <a:blip r:embed="rId3">
                  <a:alphaModFix/>
                </a:blip>
                <a:srcRect/>
                <a:stretch/>
              </p:blipFill>
              <p:spPr>
                <a:xfrm>
                  <a:off x="8348485" y="88322"/>
                  <a:ext cx="6677023" cy="3086100"/>
                </a:xfrm>
                <a:prstGeom prst="rect">
                  <a:avLst/>
                </a:prstGeom>
                <a:noFill/>
                <a:ln w="9525" cap="flat" cmpd="sng">
                  <a:solidFill>
                    <a:srgbClr val="7F7F7F"/>
                  </a:solidFill>
                  <a:prstDash val="solid"/>
                  <a:round/>
                  <a:headEnd type="none" w="sm" len="sm"/>
                  <a:tailEnd type="none" w="sm" len="sm"/>
                </a:ln>
              </p:spPr>
            </p:pic>
            <p:pic>
              <p:nvPicPr>
                <p:cNvPr id="230" name="Google Shape;230;p33"/>
                <p:cNvPicPr preferRelativeResize="0"/>
                <p:nvPr/>
              </p:nvPicPr>
              <p:blipFill rotWithShape="1">
                <a:blip r:embed="rId4">
                  <a:alphaModFix/>
                </a:blip>
                <a:srcRect/>
                <a:stretch/>
              </p:blipFill>
              <p:spPr>
                <a:xfrm>
                  <a:off x="1074017" y="-1686271"/>
                  <a:ext cx="6800850" cy="5010150"/>
                </a:xfrm>
                <a:prstGeom prst="rect">
                  <a:avLst/>
                </a:prstGeom>
                <a:noFill/>
                <a:ln w="9525" cap="flat" cmpd="sng">
                  <a:solidFill>
                    <a:srgbClr val="7F7F7F"/>
                  </a:solidFill>
                  <a:prstDash val="solid"/>
                  <a:round/>
                  <a:headEnd type="none" w="sm" len="sm"/>
                  <a:tailEnd type="none" w="sm" len="sm"/>
                </a:ln>
              </p:spPr>
            </p:pic>
          </p:grpSp>
          <p:grpSp>
            <p:nvGrpSpPr>
              <p:cNvPr id="231" name="Google Shape;231;p33"/>
              <p:cNvGrpSpPr/>
              <p:nvPr/>
            </p:nvGrpSpPr>
            <p:grpSpPr>
              <a:xfrm>
                <a:off x="6718019" y="1559840"/>
                <a:ext cx="2278835" cy="1200157"/>
                <a:chOff x="6718019" y="1559840"/>
                <a:chExt cx="2278835" cy="1200157"/>
              </a:xfrm>
            </p:grpSpPr>
            <p:sp>
              <p:nvSpPr>
                <p:cNvPr id="232" name="Google Shape;232;p33"/>
                <p:cNvSpPr txBox="1"/>
                <p:nvPr/>
              </p:nvSpPr>
              <p:spPr>
                <a:xfrm>
                  <a:off x="8082454" y="1698898"/>
                  <a:ext cx="9144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300" b="0" i="0" u="none" strike="noStrike" cap="none">
                      <a:solidFill>
                        <a:srgbClr val="00B050"/>
                      </a:solidFill>
                      <a:latin typeface="Arimo"/>
                      <a:ea typeface="Arimo"/>
                      <a:cs typeface="Arimo"/>
                      <a:sym typeface="Arimo"/>
                    </a:rPr>
                    <a:t>a</a:t>
                  </a:r>
                  <a:endParaRPr/>
                </a:p>
              </p:txBody>
            </p:sp>
            <p:sp>
              <p:nvSpPr>
                <p:cNvPr id="233" name="Google Shape;233;p33"/>
                <p:cNvSpPr txBox="1"/>
                <p:nvPr/>
              </p:nvSpPr>
              <p:spPr>
                <a:xfrm>
                  <a:off x="6971465" y="1559840"/>
                  <a:ext cx="9144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300" b="0" i="0" u="none" strike="noStrike" cap="none">
                      <a:solidFill>
                        <a:srgbClr val="00B050"/>
                      </a:solidFill>
                      <a:latin typeface="Arimo"/>
                      <a:ea typeface="Arimo"/>
                      <a:cs typeface="Arimo"/>
                      <a:sym typeface="Arimo"/>
                    </a:rPr>
                    <a:t>a</a:t>
                  </a:r>
                  <a:endParaRPr/>
                </a:p>
              </p:txBody>
            </p:sp>
            <p:sp>
              <p:nvSpPr>
                <p:cNvPr id="234" name="Google Shape;234;p33"/>
                <p:cNvSpPr txBox="1"/>
                <p:nvPr/>
              </p:nvSpPr>
              <p:spPr>
                <a:xfrm>
                  <a:off x="6718019" y="2313597"/>
                  <a:ext cx="9144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300" b="0" i="0" u="none" strike="noStrike" cap="none">
                      <a:solidFill>
                        <a:srgbClr val="00B050"/>
                      </a:solidFill>
                      <a:latin typeface="Arimo"/>
                      <a:ea typeface="Arimo"/>
                      <a:cs typeface="Arimo"/>
                      <a:sym typeface="Arimo"/>
                    </a:rPr>
                    <a:t>a</a:t>
                  </a:r>
                  <a:endParaRPr/>
                </a:p>
              </p:txBody>
            </p:sp>
            <p:sp>
              <p:nvSpPr>
                <p:cNvPr id="235" name="Google Shape;235;p33"/>
                <p:cNvSpPr txBox="1"/>
                <p:nvPr/>
              </p:nvSpPr>
              <p:spPr>
                <a:xfrm>
                  <a:off x="7304247" y="2293944"/>
                  <a:ext cx="9144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300" b="0" i="0" u="none" strike="noStrike" cap="none">
                      <a:solidFill>
                        <a:srgbClr val="00B050"/>
                      </a:solidFill>
                      <a:latin typeface="Arimo"/>
                      <a:ea typeface="Arimo"/>
                      <a:cs typeface="Arimo"/>
                      <a:sym typeface="Arimo"/>
                    </a:rPr>
                    <a:t>a</a:t>
                  </a:r>
                  <a:endParaRPr/>
                </a:p>
              </p:txBody>
            </p:sp>
          </p:grpSp>
        </p:grpSp>
        <p:sp>
          <p:nvSpPr>
            <p:cNvPr id="236" name="Google Shape;236;p33"/>
            <p:cNvSpPr txBox="1"/>
            <p:nvPr/>
          </p:nvSpPr>
          <p:spPr>
            <a:xfrm>
              <a:off x="7739675" y="2312142"/>
              <a:ext cx="9144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300" b="1" i="0" u="none" strike="noStrike" cap="none">
                  <a:solidFill>
                    <a:srgbClr val="FF0000"/>
                  </a:solidFill>
                  <a:latin typeface="Arial"/>
                  <a:ea typeface="Arial"/>
                  <a:cs typeface="Arial"/>
                  <a:sym typeface="Arial"/>
                </a:rPr>
                <a:t>x</a:t>
              </a:r>
              <a:endParaRPr/>
            </a:p>
          </p:txBody>
        </p:sp>
      </p:grpSp>
      <p:sp>
        <p:nvSpPr>
          <p:cNvPr id="237" name="Google Shape;237;p33"/>
          <p:cNvSpPr txBox="1"/>
          <p:nvPr/>
        </p:nvSpPr>
        <p:spPr>
          <a:xfrm>
            <a:off x="4905601" y="858856"/>
            <a:ext cx="4067400" cy="147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800" i="0" u="none" strike="noStrike" cap="none">
                <a:solidFill>
                  <a:srgbClr val="000000"/>
                </a:solidFill>
                <a:latin typeface="Roboto"/>
                <a:ea typeface="Roboto"/>
                <a:cs typeface="Roboto"/>
                <a:sym typeface="Roboto"/>
              </a:rPr>
              <a:t>With any role there will be positives and negatives. For example a skill or experience you already have is a positive, something you do not have yet can be a negative.</a:t>
            </a:r>
            <a:endParaRPr sz="10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Identify suitable Job Opportunities </a:t>
            </a:r>
            <a:endParaRPr/>
          </a:p>
        </p:txBody>
      </p:sp>
      <p:sp>
        <p:nvSpPr>
          <p:cNvPr id="243" name="Google Shape;243;p34"/>
          <p:cNvSpPr txBox="1">
            <a:spLocks noGrp="1"/>
          </p:cNvSpPr>
          <p:nvPr>
            <p:ph type="body" idx="1"/>
          </p:nvPr>
        </p:nvSpPr>
        <p:spPr>
          <a:xfrm>
            <a:off x="311700" y="1229875"/>
            <a:ext cx="8520600" cy="11349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GB" sz="1900" dirty="0"/>
              <a:t>You can find out about job roles through word of mouth and on company websites. </a:t>
            </a:r>
            <a:endParaRPr sz="1900" dirty="0"/>
          </a:p>
          <a:p>
            <a:pPr marL="114300" lvl="0" indent="0" algn="l" rtl="0">
              <a:lnSpc>
                <a:spcPct val="115000"/>
              </a:lnSpc>
              <a:spcBef>
                <a:spcPts val="0"/>
              </a:spcBef>
              <a:spcAft>
                <a:spcPts val="0"/>
              </a:spcAft>
              <a:buSzPts val="1800"/>
              <a:buNone/>
            </a:pPr>
            <a:r>
              <a:rPr lang="en-GB" sz="1900" dirty="0"/>
              <a:t>A large number of roles can be found at job sites and though job agencies. </a:t>
            </a:r>
            <a:endParaRPr sz="1900" dirty="0"/>
          </a:p>
          <a:p>
            <a:pPr marL="114300" lvl="0" indent="0" algn="l" rtl="0">
              <a:lnSpc>
                <a:spcPct val="115000"/>
              </a:lnSpc>
              <a:spcBef>
                <a:spcPts val="0"/>
              </a:spcBef>
              <a:spcAft>
                <a:spcPts val="0"/>
              </a:spcAft>
              <a:buSzPts val="1800"/>
              <a:buNone/>
            </a:pPr>
            <a:endParaRPr sz="1900" dirty="0"/>
          </a:p>
          <a:p>
            <a:pPr marL="114300" lvl="0" indent="0" algn="l" rtl="0">
              <a:lnSpc>
                <a:spcPct val="115000"/>
              </a:lnSpc>
              <a:spcBef>
                <a:spcPts val="0"/>
              </a:spcBef>
              <a:spcAft>
                <a:spcPts val="0"/>
              </a:spcAft>
              <a:buSzPts val="1800"/>
              <a:buNone/>
            </a:pPr>
            <a:endParaRPr sz="1900" dirty="0">
              <a:highlight>
                <a:srgbClr val="FFFF00"/>
              </a:highlight>
            </a:endParaRPr>
          </a:p>
          <a:p>
            <a:pPr marL="114300" lvl="0" indent="0" algn="l" rtl="0">
              <a:lnSpc>
                <a:spcPct val="115000"/>
              </a:lnSpc>
              <a:spcBef>
                <a:spcPts val="0"/>
              </a:spcBef>
              <a:spcAft>
                <a:spcPts val="0"/>
              </a:spcAft>
              <a:buSzPts val="1800"/>
              <a:buNone/>
            </a:pPr>
            <a:endParaRPr sz="1900" dirty="0">
              <a:highlight>
                <a:srgbClr val="FF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5"/>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Identify Suitable Job Opportunities…</a:t>
            </a:r>
            <a:endParaRPr/>
          </a:p>
        </p:txBody>
      </p:sp>
      <p:sp>
        <p:nvSpPr>
          <p:cNvPr id="249" name="Google Shape;249;p35"/>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42900" algn="l" rtl="0">
              <a:lnSpc>
                <a:spcPct val="100000"/>
              </a:lnSpc>
              <a:spcBef>
                <a:spcPts val="0"/>
              </a:spcBef>
              <a:spcAft>
                <a:spcPts val="0"/>
              </a:spcAft>
              <a:buSzPts val="1800"/>
              <a:buChar char="●"/>
            </a:pPr>
            <a:r>
              <a:rPr lang="en-GB" dirty="0"/>
              <a:t>For Q10 in the workbook, you are asked to provide three examples of job vacancies that interest you.</a:t>
            </a:r>
            <a:endParaRPr dirty="0"/>
          </a:p>
          <a:p>
            <a:pPr marL="457200" lvl="0" indent="-342900" algn="l" rtl="0">
              <a:lnSpc>
                <a:spcPct val="100000"/>
              </a:lnSpc>
              <a:spcBef>
                <a:spcPts val="1000"/>
              </a:spcBef>
              <a:spcAft>
                <a:spcPts val="0"/>
              </a:spcAft>
              <a:buSzPts val="1800"/>
              <a:buChar char="●"/>
            </a:pPr>
            <a:r>
              <a:rPr lang="en-GB" dirty="0"/>
              <a:t>Please use the internet to look for/identify potential roles that you could apply for and document them in the workbook.</a:t>
            </a:r>
            <a:endParaRPr dirty="0"/>
          </a:p>
          <a:p>
            <a:pPr marL="457200" lvl="0" indent="-342900" algn="l" rtl="0">
              <a:lnSpc>
                <a:spcPct val="100000"/>
              </a:lnSpc>
              <a:spcBef>
                <a:spcPts val="1000"/>
              </a:spcBef>
              <a:spcAft>
                <a:spcPts val="1000"/>
              </a:spcAft>
              <a:buSzPts val="1800"/>
              <a:buChar char="●"/>
            </a:pPr>
            <a:r>
              <a:rPr lang="en-GB" dirty="0"/>
              <a:t>These should be genuine job vacancies and you should use the methods we discussed earlier to find them.</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6"/>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Support networks available…</a:t>
            </a:r>
            <a:endParaRPr/>
          </a:p>
        </p:txBody>
      </p:sp>
      <p:sp>
        <p:nvSpPr>
          <p:cNvPr id="255" name="Google Shape;255;p36"/>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36550" algn="l" rtl="0">
              <a:lnSpc>
                <a:spcPct val="100000"/>
              </a:lnSpc>
              <a:spcBef>
                <a:spcPts val="0"/>
              </a:spcBef>
              <a:spcAft>
                <a:spcPts val="0"/>
              </a:spcAft>
              <a:buSzPts val="1700"/>
              <a:buChar char="●"/>
            </a:pPr>
            <a:r>
              <a:rPr lang="en-GB" sz="1700"/>
              <a:t>What support networks are available for finding work?</a:t>
            </a:r>
            <a:endParaRPr sz="1700"/>
          </a:p>
          <a:p>
            <a:pPr marL="914400" lvl="1" indent="-336550" algn="l" rtl="0">
              <a:lnSpc>
                <a:spcPct val="100000"/>
              </a:lnSpc>
              <a:spcBef>
                <a:spcPts val="0"/>
              </a:spcBef>
              <a:spcAft>
                <a:spcPts val="0"/>
              </a:spcAft>
              <a:buSzPts val="1700"/>
              <a:buChar char="○"/>
            </a:pPr>
            <a:r>
              <a:rPr lang="en-GB" sz="1700"/>
              <a:t>Government website, Jobcentre Plus, LinkedIn, Find a Job Service, College &amp; University internet sites, Industry specific support sites, Professional career coaching companies, Remploy, Job Help Campaign (Gov.uk), Citizen's advice…</a:t>
            </a:r>
            <a:endParaRPr sz="1700"/>
          </a:p>
          <a:p>
            <a:pPr marL="914400" lvl="0" indent="0" algn="l" rtl="0">
              <a:lnSpc>
                <a:spcPct val="100000"/>
              </a:lnSpc>
              <a:spcBef>
                <a:spcPts val="800"/>
              </a:spcBef>
              <a:spcAft>
                <a:spcPts val="0"/>
              </a:spcAft>
              <a:buNone/>
            </a:pPr>
            <a:endParaRPr sz="1700"/>
          </a:p>
          <a:p>
            <a:pPr marL="457200" lvl="0" indent="-336550" algn="l" rtl="0">
              <a:lnSpc>
                <a:spcPct val="100000"/>
              </a:lnSpc>
              <a:spcBef>
                <a:spcPts val="800"/>
              </a:spcBef>
              <a:spcAft>
                <a:spcPts val="0"/>
              </a:spcAft>
              <a:buSzPts val="1700"/>
              <a:buChar char="●"/>
            </a:pPr>
            <a:r>
              <a:rPr lang="en-GB" sz="1700"/>
              <a:t>How can you track an application for a job?</a:t>
            </a:r>
            <a:endParaRPr sz="1700"/>
          </a:p>
          <a:p>
            <a:pPr marL="914400" lvl="1" indent="-336550" algn="l" rtl="0">
              <a:lnSpc>
                <a:spcPct val="100000"/>
              </a:lnSpc>
              <a:spcBef>
                <a:spcPts val="0"/>
              </a:spcBef>
              <a:spcAft>
                <a:spcPts val="0"/>
              </a:spcAft>
              <a:buSzPts val="1700"/>
              <a:buChar char="○"/>
            </a:pPr>
            <a:r>
              <a:rPr lang="en-GB" sz="1700"/>
              <a:t>What methods could you use to keep track of your job applications? Consider what job it is, when you applied, when was the closing date and what was the outcome.</a:t>
            </a:r>
            <a:endParaRPr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Activity</a:t>
            </a:r>
            <a:endParaRPr/>
          </a:p>
        </p:txBody>
      </p:sp>
      <p:sp>
        <p:nvSpPr>
          <p:cNvPr id="271" name="Google Shape;271;p38"/>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177800" lvl="0" indent="-152400" algn="l" rtl="0">
              <a:lnSpc>
                <a:spcPct val="90000"/>
              </a:lnSpc>
              <a:spcBef>
                <a:spcPts val="0"/>
              </a:spcBef>
              <a:spcAft>
                <a:spcPts val="0"/>
              </a:spcAft>
              <a:buSzPts val="1800"/>
              <a:buChar char="●"/>
            </a:pPr>
            <a:r>
              <a:rPr lang="en-GB"/>
              <a:t>Now complete the Securing Employment Workbook…</a:t>
            </a:r>
            <a:endParaRPr/>
          </a:p>
          <a:p>
            <a:pPr marL="457200" lvl="0" indent="0" algn="l" rtl="0">
              <a:lnSpc>
                <a:spcPct val="90000"/>
              </a:lnSpc>
              <a:spcBef>
                <a:spcPts val="0"/>
              </a:spcBef>
              <a:spcAft>
                <a:spcPts val="0"/>
              </a:spcAft>
              <a:buNone/>
            </a:pPr>
            <a:endParaRPr/>
          </a:p>
          <a:p>
            <a:pPr marL="914400" lvl="1" indent="-336550" algn="l" rtl="0">
              <a:lnSpc>
                <a:spcPct val="90000"/>
              </a:lnSpc>
              <a:spcBef>
                <a:spcPts val="0"/>
              </a:spcBef>
              <a:spcAft>
                <a:spcPts val="0"/>
              </a:spcAft>
              <a:buSzPts val="1700"/>
              <a:buChar char="○"/>
            </a:pPr>
            <a:r>
              <a:rPr lang="en-GB" sz="1700"/>
              <a:t>Complete all questions within Unit A in the workbook.</a:t>
            </a:r>
            <a:endParaRPr sz="1700"/>
          </a:p>
          <a:p>
            <a:pPr marL="914400" lvl="1" indent="-336550" algn="l" rtl="0">
              <a:lnSpc>
                <a:spcPct val="90000"/>
              </a:lnSpc>
              <a:spcBef>
                <a:spcPts val="800"/>
              </a:spcBef>
              <a:spcAft>
                <a:spcPts val="0"/>
              </a:spcAft>
              <a:buSzPts val="1700"/>
              <a:buChar char="○"/>
            </a:pPr>
            <a:r>
              <a:rPr lang="en-GB" sz="1700"/>
              <a:t>Ensure all questions are fully answered and that correct English is used (grammar, spelling, etc.)</a:t>
            </a:r>
            <a:endParaRPr sz="1700"/>
          </a:p>
          <a:p>
            <a:pPr marL="914400" lvl="1" indent="-336550" algn="l" rtl="0">
              <a:lnSpc>
                <a:spcPct val="90000"/>
              </a:lnSpc>
              <a:spcBef>
                <a:spcPts val="800"/>
              </a:spcBef>
              <a:spcAft>
                <a:spcPts val="0"/>
              </a:spcAft>
              <a:buSzPts val="1700"/>
              <a:buChar char="○"/>
            </a:pPr>
            <a:r>
              <a:rPr lang="en-GB" sz="1700"/>
              <a:t>Answers should be suitable for the question – if it is asking for a description or explanation, then ensure you have given this and not just a bullet point list or single word answer.</a:t>
            </a:r>
            <a:endParaRPr sz="1700"/>
          </a:p>
          <a:p>
            <a:pPr marL="914400" lvl="1" indent="-336550" algn="l" rtl="0">
              <a:lnSpc>
                <a:spcPct val="90000"/>
              </a:lnSpc>
              <a:spcBef>
                <a:spcPts val="800"/>
              </a:spcBef>
              <a:spcAft>
                <a:spcPts val="0"/>
              </a:spcAft>
              <a:buSzPts val="1700"/>
              <a:buChar char="○"/>
            </a:pPr>
            <a:r>
              <a:rPr lang="en-GB" sz="1700"/>
              <a:t>Complete the Learner Feedback Page (see next slide…)</a:t>
            </a:r>
            <a:endParaRPr sz="1700"/>
          </a:p>
          <a:p>
            <a:pPr marL="0" lvl="0" indent="0" algn="l" rtl="0">
              <a:lnSpc>
                <a:spcPct val="90000"/>
              </a:lnSpc>
              <a:spcBef>
                <a:spcPts val="800"/>
              </a:spcBef>
              <a:spcAft>
                <a:spcPts val="1200"/>
              </a:spcAft>
              <a:buClr>
                <a:schemeClr val="dk1"/>
              </a:buClr>
              <a:buSzPts val="2100"/>
              <a:buNone/>
            </a:pP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9"/>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At the end of each unit…</a:t>
            </a:r>
            <a:endParaRPr/>
          </a:p>
        </p:txBody>
      </p:sp>
      <p:sp>
        <p:nvSpPr>
          <p:cNvPr id="277" name="Google Shape;277;p39"/>
          <p:cNvSpPr txBox="1">
            <a:spLocks noGrp="1"/>
          </p:cNvSpPr>
          <p:nvPr>
            <p:ph type="body" idx="1"/>
          </p:nvPr>
        </p:nvSpPr>
        <p:spPr>
          <a:xfrm>
            <a:off x="311700" y="1092525"/>
            <a:ext cx="8520600" cy="1175700"/>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dk1"/>
              </a:buClr>
              <a:buSzPts val="2100"/>
              <a:buChar char="●"/>
            </a:pPr>
            <a:r>
              <a:rPr lang="en-GB" dirty="0"/>
              <a:t>Complete the ‘Learner Feedback’ section on the Assessment Feedback Sheet.</a:t>
            </a:r>
            <a:endParaRPr dirty="0"/>
          </a:p>
          <a:p>
            <a:pPr marL="177800" lvl="0" indent="-171450" algn="l" rtl="0">
              <a:lnSpc>
                <a:spcPct val="90000"/>
              </a:lnSpc>
              <a:spcBef>
                <a:spcPts val="800"/>
              </a:spcBef>
              <a:spcAft>
                <a:spcPts val="0"/>
              </a:spcAft>
              <a:buClr>
                <a:schemeClr val="dk1"/>
              </a:buClr>
              <a:buSzPts val="2100"/>
              <a:buChar char="●"/>
            </a:pPr>
            <a:r>
              <a:rPr lang="en-GB" dirty="0"/>
              <a:t>Sign the ‘Learner Signature’ box and add the date. </a:t>
            </a:r>
            <a:endParaRPr dirty="0"/>
          </a:p>
        </p:txBody>
      </p:sp>
      <p:pic>
        <p:nvPicPr>
          <p:cNvPr id="278" name="Google Shape;278;p39"/>
          <p:cNvPicPr preferRelativeResize="0"/>
          <p:nvPr/>
        </p:nvPicPr>
        <p:blipFill>
          <a:blip r:embed="rId3">
            <a:alphaModFix/>
          </a:blip>
          <a:stretch>
            <a:fillRect/>
          </a:stretch>
        </p:blipFill>
        <p:spPr>
          <a:xfrm>
            <a:off x="438450" y="2199175"/>
            <a:ext cx="5261700" cy="26052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2024</Words>
  <Application>Microsoft Office PowerPoint</Application>
  <PresentationFormat>On-screen Show (16:9)</PresentationFormat>
  <Paragraphs>211</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Comic Sans MS</vt:lpstr>
      <vt:lpstr>Roboto</vt:lpstr>
      <vt:lpstr>Calibri</vt:lpstr>
      <vt:lpstr>Roboto Black</vt:lpstr>
      <vt:lpstr>Arial</vt:lpstr>
      <vt:lpstr>Arimo</vt:lpstr>
      <vt:lpstr>Geometric</vt:lpstr>
      <vt:lpstr>PowerPoint Presentation</vt:lpstr>
      <vt:lpstr>Learning Outcomes</vt:lpstr>
      <vt:lpstr>Introduction - Unit Aim</vt:lpstr>
      <vt:lpstr>Strengths and weaknesses</vt:lpstr>
      <vt:lpstr>Identify Suitable Job Opportunities</vt:lpstr>
      <vt:lpstr>Discussion…</vt:lpstr>
      <vt:lpstr>How to improve on areas of weakness to increase suitable job opportunities</vt:lpstr>
      <vt:lpstr>How to improve on areas of weakness to increase the suitable job opportunities</vt:lpstr>
      <vt:lpstr>Skills and Qualities. </vt:lpstr>
      <vt:lpstr>Skills and Qualities. </vt:lpstr>
      <vt:lpstr>Identify Suitable Job Opportunities</vt:lpstr>
      <vt:lpstr>Using Skills in career and personal life…</vt:lpstr>
      <vt:lpstr>Sources of Job Opportunities…</vt:lpstr>
      <vt:lpstr>Own suitability and readiness…</vt:lpstr>
      <vt:lpstr>Career objectives…</vt:lpstr>
      <vt:lpstr>Career Goals </vt:lpstr>
      <vt:lpstr>Job role positives and negatives </vt:lpstr>
      <vt:lpstr>Identify suitable Job Opportunities </vt:lpstr>
      <vt:lpstr>Identify Suitable Job Opportunities…</vt:lpstr>
      <vt:lpstr>Support networks available…</vt:lpstr>
      <vt:lpstr>Activity</vt:lpstr>
      <vt:lpstr>At the end of each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Mohaan Biswas</dc:creator>
  <cp:lastModifiedBy>Mohaan Biswas</cp:lastModifiedBy>
  <cp:revision>5</cp:revision>
  <dcterms:modified xsi:type="dcterms:W3CDTF">2026-01-03T11:17:22Z</dcterms:modified>
</cp:coreProperties>
</file>