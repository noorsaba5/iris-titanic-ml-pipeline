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6858000" cy="9906000" type="A4"/>
  <p:notesSz cx="6858000" cy="9906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6FB5F7-47B5-494B-B370-13B26C4B1611}" v="215" dt="2026-01-03T11:56:39.31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9" d="100"/>
          <a:sy n="99" d="100"/>
        </p:scale>
        <p:origin x="1704" y="-2717"/>
      </p:cViewPr>
      <p:guideLst>
        <p:guide orient="horz" pos="2880"/>
        <p:guide pos="2160"/>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4350" y="3070860"/>
            <a:ext cx="5829300" cy="208025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028700" y="5547360"/>
            <a:ext cx="4800600" cy="2476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050" b="0" i="0">
                <a:solidFill>
                  <a:schemeClr val="tx1"/>
                </a:solidFill>
                <a:latin typeface="Century Gothic"/>
                <a:cs typeface="Century Gothic"/>
              </a:defRPr>
            </a:lvl1p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defRPr sz="800" b="0" i="0">
                <a:solidFill>
                  <a:schemeClr val="tx1"/>
                </a:solidFill>
                <a:latin typeface="Arial"/>
                <a:cs typeface="Arial"/>
              </a:defRPr>
            </a:lvl1pPr>
          </a:lstStyle>
          <a:p>
            <a:pPr marL="12700">
              <a:lnSpc>
                <a:spcPct val="100000"/>
              </a:lnSpc>
              <a:spcBef>
                <a:spcPts val="25"/>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050" b="0" i="0">
                <a:solidFill>
                  <a:schemeClr val="tx1"/>
                </a:solidFill>
                <a:latin typeface="Century Gothic"/>
                <a:cs typeface="Century Gothic"/>
              </a:defRPr>
            </a:lvl1p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defRPr sz="800" b="0" i="0">
                <a:solidFill>
                  <a:schemeClr val="tx1"/>
                </a:solidFill>
                <a:latin typeface="Arial"/>
                <a:cs typeface="Arial"/>
              </a:defRPr>
            </a:lvl1pPr>
          </a:lstStyle>
          <a:p>
            <a:pPr marL="12700">
              <a:lnSpc>
                <a:spcPct val="100000"/>
              </a:lnSpc>
              <a:spcBef>
                <a:spcPts val="25"/>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42900" y="2278380"/>
            <a:ext cx="2983230" cy="653796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531870" y="2278380"/>
            <a:ext cx="2983230" cy="653796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050" b="0" i="0">
                <a:solidFill>
                  <a:schemeClr val="tx1"/>
                </a:solidFill>
                <a:latin typeface="Century Gothic"/>
                <a:cs typeface="Century Gothic"/>
              </a:defRPr>
            </a:lvl1p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7" name="Holder 7"/>
          <p:cNvSpPr>
            <a:spLocks noGrp="1"/>
          </p:cNvSpPr>
          <p:nvPr>
            <p:ph type="sldNum" sz="quarter" idx="7"/>
          </p:nvPr>
        </p:nvSpPr>
        <p:spPr/>
        <p:txBody>
          <a:bodyPr lIns="0" tIns="0" rIns="0" bIns="0"/>
          <a:lstStyle>
            <a:lvl1pPr>
              <a:defRPr sz="800" b="0" i="0">
                <a:solidFill>
                  <a:schemeClr val="tx1"/>
                </a:solidFill>
                <a:latin typeface="Arial"/>
                <a:cs typeface="Arial"/>
              </a:defRPr>
            </a:lvl1pPr>
          </a:lstStyle>
          <a:p>
            <a:pPr marL="12700">
              <a:lnSpc>
                <a:spcPct val="100000"/>
              </a:lnSpc>
              <a:spcBef>
                <a:spcPts val="25"/>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defRPr sz="1050" b="0" i="0">
                <a:solidFill>
                  <a:schemeClr val="tx1"/>
                </a:solidFill>
                <a:latin typeface="Century Gothic"/>
                <a:cs typeface="Century Gothic"/>
              </a:defRPr>
            </a:lvl1p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5" name="Holder 5"/>
          <p:cNvSpPr>
            <a:spLocks noGrp="1"/>
          </p:cNvSpPr>
          <p:nvPr>
            <p:ph type="sldNum" sz="quarter" idx="7"/>
          </p:nvPr>
        </p:nvSpPr>
        <p:spPr/>
        <p:txBody>
          <a:bodyPr lIns="0" tIns="0" rIns="0" bIns="0"/>
          <a:lstStyle>
            <a:lvl1pPr>
              <a:defRPr sz="800" b="0" i="0">
                <a:solidFill>
                  <a:schemeClr val="tx1"/>
                </a:solidFill>
                <a:latin typeface="Arial"/>
                <a:cs typeface="Arial"/>
              </a:defRPr>
            </a:lvl1pPr>
          </a:lstStyle>
          <a:p>
            <a:pPr marL="12700">
              <a:lnSpc>
                <a:spcPct val="100000"/>
              </a:lnSpc>
              <a:spcBef>
                <a:spcPts val="25"/>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50" b="0" i="0">
                <a:solidFill>
                  <a:schemeClr val="tx1"/>
                </a:solidFill>
                <a:latin typeface="Century Gothic"/>
                <a:cs typeface="Century Gothic"/>
              </a:defRPr>
            </a:lvl1p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4" name="Holder 4"/>
          <p:cNvSpPr>
            <a:spLocks noGrp="1"/>
          </p:cNvSpPr>
          <p:nvPr>
            <p:ph type="sldNum" sz="quarter" idx="7"/>
          </p:nvPr>
        </p:nvSpPr>
        <p:spPr/>
        <p:txBody>
          <a:bodyPr lIns="0" tIns="0" rIns="0" bIns="0"/>
          <a:lstStyle>
            <a:lvl1pPr>
              <a:defRPr sz="800" b="0" i="0">
                <a:solidFill>
                  <a:schemeClr val="tx1"/>
                </a:solidFill>
                <a:latin typeface="Arial"/>
                <a:cs typeface="Arial"/>
              </a:defRPr>
            </a:lvl1pPr>
          </a:lstStyle>
          <a:p>
            <a:pPr marL="12700">
              <a:lnSpc>
                <a:spcPct val="100000"/>
              </a:lnSpc>
              <a:spcBef>
                <a:spcPts val="25"/>
              </a:spcBef>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6858000" cy="9906000"/>
          </a:xfrm>
          <a:prstGeom prst="rect">
            <a:avLst/>
          </a:prstGeom>
        </p:spPr>
      </p:pic>
      <p:sp>
        <p:nvSpPr>
          <p:cNvPr id="2" name="Holder 2"/>
          <p:cNvSpPr>
            <a:spLocks noGrp="1"/>
          </p:cNvSpPr>
          <p:nvPr>
            <p:ph type="title"/>
          </p:nvPr>
        </p:nvSpPr>
        <p:spPr>
          <a:xfrm>
            <a:off x="342900" y="396240"/>
            <a:ext cx="6172200" cy="158496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42900" y="2278380"/>
            <a:ext cx="6172200" cy="653796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66052" y="9597254"/>
            <a:ext cx="1753870" cy="189229"/>
          </a:xfrm>
          <a:prstGeom prst="rect">
            <a:avLst/>
          </a:prstGeom>
        </p:spPr>
        <p:txBody>
          <a:bodyPr wrap="square" lIns="0" tIns="0" rIns="0" bIns="0">
            <a:spAutoFit/>
          </a:bodyPr>
          <a:lstStyle>
            <a:lvl1pPr>
              <a:defRPr sz="1050" b="0" i="0">
                <a:solidFill>
                  <a:schemeClr val="tx1"/>
                </a:solidFill>
                <a:latin typeface="Century Gothic"/>
                <a:cs typeface="Century Gothic"/>
              </a:defRPr>
            </a:lvl1p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5" name="Holder 5"/>
          <p:cNvSpPr>
            <a:spLocks noGrp="1"/>
          </p:cNvSpPr>
          <p:nvPr>
            <p:ph type="dt" sz="half" idx="6"/>
          </p:nvPr>
        </p:nvSpPr>
        <p:spPr>
          <a:xfrm>
            <a:off x="342900" y="9212580"/>
            <a:ext cx="1577340" cy="4953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a:xfrm>
            <a:off x="5817908" y="9702723"/>
            <a:ext cx="176529" cy="139065"/>
          </a:xfrm>
          <a:prstGeom prst="rect">
            <a:avLst/>
          </a:prstGeom>
        </p:spPr>
        <p:txBody>
          <a:bodyPr wrap="square" lIns="0" tIns="0" rIns="0" bIns="0">
            <a:spAutoFit/>
          </a:bodyPr>
          <a:lstStyle>
            <a:lvl1pPr>
              <a:defRPr sz="800" b="0" i="0">
                <a:solidFill>
                  <a:schemeClr val="tx1"/>
                </a:solidFill>
                <a:latin typeface="Arial"/>
                <a:cs typeface="Arial"/>
              </a:defRPr>
            </a:lvl1pPr>
          </a:lstStyle>
          <a:p>
            <a:pPr marL="12700">
              <a:lnSpc>
                <a:spcPct val="100000"/>
              </a:lnSpc>
              <a:spcBef>
                <a:spcPts val="25"/>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85640" y="9589914"/>
            <a:ext cx="1753870" cy="186690"/>
          </a:xfrm>
          <a:prstGeom prst="rect">
            <a:avLst/>
          </a:prstGeom>
        </p:spPr>
        <p:txBody>
          <a:bodyPr vert="horz" wrap="square" lIns="0" tIns="13335" rIns="0" bIns="0" rtlCol="0">
            <a:spAutoFit/>
          </a:bodyPr>
          <a:lstStyle/>
          <a:p>
            <a:pPr marL="12700">
              <a:lnSpc>
                <a:spcPct val="100000"/>
              </a:lnSpc>
              <a:spcBef>
                <a:spcPts val="105"/>
              </a:spcBef>
            </a:pPr>
            <a:r>
              <a:rPr sz="1050" spc="60" dirty="0">
                <a:latin typeface="Century Gothic"/>
                <a:cs typeface="Century Gothic"/>
              </a:rPr>
              <a:t>©</a:t>
            </a:r>
            <a:r>
              <a:rPr sz="1050" spc="-20" dirty="0">
                <a:latin typeface="Century Gothic"/>
                <a:cs typeface="Century Gothic"/>
              </a:rPr>
              <a:t> </a:t>
            </a:r>
            <a:r>
              <a:rPr sz="1050" spc="65" dirty="0">
                <a:latin typeface="Century Gothic"/>
                <a:cs typeface="Century Gothic"/>
              </a:rPr>
              <a:t>ETC</a:t>
            </a:r>
            <a:r>
              <a:rPr sz="1050" spc="-45" dirty="0">
                <a:latin typeface="Century Gothic"/>
                <a:cs typeface="Century Gothic"/>
              </a:rPr>
              <a:t> </a:t>
            </a:r>
            <a:r>
              <a:rPr sz="1050" spc="65" dirty="0">
                <a:latin typeface="Century Gothic"/>
                <a:cs typeface="Century Gothic"/>
              </a:rPr>
              <a:t>AWARDS</a:t>
            </a:r>
            <a:r>
              <a:rPr sz="1050" spc="-45" dirty="0">
                <a:latin typeface="Century Gothic"/>
                <a:cs typeface="Century Gothic"/>
              </a:rPr>
              <a:t> </a:t>
            </a:r>
            <a:r>
              <a:rPr sz="1050" spc="120" dirty="0">
                <a:latin typeface="Century Gothic"/>
                <a:cs typeface="Century Gothic"/>
              </a:rPr>
              <a:t>LTD</a:t>
            </a:r>
            <a:r>
              <a:rPr sz="1050" spc="-35" dirty="0">
                <a:latin typeface="Century Gothic"/>
                <a:cs typeface="Century Gothic"/>
              </a:rPr>
              <a:t> </a:t>
            </a:r>
            <a:r>
              <a:rPr sz="1050" spc="35" dirty="0">
                <a:latin typeface="Century Gothic"/>
                <a:cs typeface="Century Gothic"/>
              </a:rPr>
              <a:t>2024</a:t>
            </a:r>
            <a:endParaRPr sz="1050">
              <a:latin typeface="Century Gothic"/>
              <a:cs typeface="Century Gothic"/>
            </a:endParaRPr>
          </a:p>
        </p:txBody>
      </p:sp>
      <p:pic>
        <p:nvPicPr>
          <p:cNvPr id="3" name="object 3" descr="A close up of a sign  Description automatically generated"/>
          <p:cNvPicPr/>
          <p:nvPr/>
        </p:nvPicPr>
        <p:blipFill>
          <a:blip r:embed="rId2" cstate="print"/>
          <a:stretch>
            <a:fillRect/>
          </a:stretch>
        </p:blipFill>
        <p:spPr>
          <a:xfrm>
            <a:off x="2159507" y="1929383"/>
            <a:ext cx="2538983" cy="1149167"/>
          </a:xfrm>
          <a:prstGeom prst="rect">
            <a:avLst/>
          </a:prstGeom>
        </p:spPr>
      </p:pic>
      <p:sp>
        <p:nvSpPr>
          <p:cNvPr id="4" name="object 4"/>
          <p:cNvSpPr txBox="1"/>
          <p:nvPr/>
        </p:nvSpPr>
        <p:spPr>
          <a:xfrm>
            <a:off x="1252499" y="3968965"/>
            <a:ext cx="4354830" cy="2071370"/>
          </a:xfrm>
          <a:prstGeom prst="rect">
            <a:avLst/>
          </a:prstGeom>
        </p:spPr>
        <p:txBody>
          <a:bodyPr vert="horz" wrap="square" lIns="0" tIns="12065" rIns="0" bIns="0" rtlCol="0">
            <a:spAutoFit/>
          </a:bodyPr>
          <a:lstStyle/>
          <a:p>
            <a:pPr marL="12700" marR="5080" algn="ctr">
              <a:lnSpc>
                <a:spcPct val="114999"/>
              </a:lnSpc>
              <a:spcBef>
                <a:spcPts val="95"/>
              </a:spcBef>
            </a:pPr>
            <a:r>
              <a:rPr sz="2000" b="1" spc="330" dirty="0">
                <a:latin typeface="Calibri"/>
                <a:cs typeface="Calibri"/>
              </a:rPr>
              <a:t>ETCAL</a:t>
            </a:r>
            <a:r>
              <a:rPr sz="2000" b="1" spc="105" dirty="0">
                <a:latin typeface="Calibri"/>
                <a:cs typeface="Calibri"/>
              </a:rPr>
              <a:t> </a:t>
            </a:r>
            <a:r>
              <a:rPr sz="2000" b="1" spc="235" dirty="0">
                <a:latin typeface="Calibri"/>
                <a:cs typeface="Calibri"/>
              </a:rPr>
              <a:t>Level</a:t>
            </a:r>
            <a:r>
              <a:rPr sz="2000" b="1" spc="125" dirty="0">
                <a:latin typeface="Calibri"/>
                <a:cs typeface="Calibri"/>
              </a:rPr>
              <a:t> </a:t>
            </a:r>
            <a:r>
              <a:rPr sz="2000" b="1" spc="-240" dirty="0">
                <a:latin typeface="Calibri"/>
                <a:cs typeface="Calibri"/>
              </a:rPr>
              <a:t>1</a:t>
            </a:r>
            <a:r>
              <a:rPr sz="2000" b="1" spc="114" dirty="0">
                <a:latin typeface="Calibri"/>
                <a:cs typeface="Calibri"/>
              </a:rPr>
              <a:t> </a:t>
            </a:r>
            <a:r>
              <a:rPr sz="2000" b="1" spc="280" dirty="0">
                <a:latin typeface="Calibri"/>
                <a:cs typeface="Calibri"/>
              </a:rPr>
              <a:t>Award</a:t>
            </a:r>
            <a:r>
              <a:rPr sz="2000" b="1" spc="110" dirty="0">
                <a:latin typeface="Calibri"/>
                <a:cs typeface="Calibri"/>
              </a:rPr>
              <a:t> </a:t>
            </a:r>
            <a:r>
              <a:rPr sz="2000" b="1" spc="204" dirty="0">
                <a:latin typeface="Calibri"/>
                <a:cs typeface="Calibri"/>
              </a:rPr>
              <a:t>in</a:t>
            </a:r>
            <a:r>
              <a:rPr sz="2000" b="1" spc="114" dirty="0">
                <a:latin typeface="Calibri"/>
                <a:cs typeface="Calibri"/>
              </a:rPr>
              <a:t> </a:t>
            </a:r>
            <a:r>
              <a:rPr sz="2000" b="1" spc="260" dirty="0">
                <a:latin typeface="Calibri"/>
                <a:cs typeface="Calibri"/>
              </a:rPr>
              <a:t>Securing </a:t>
            </a:r>
            <a:r>
              <a:rPr sz="2000" b="1" spc="240" dirty="0">
                <a:latin typeface="Calibri"/>
                <a:cs typeface="Calibri"/>
              </a:rPr>
              <a:t>Progression</a:t>
            </a:r>
            <a:endParaRPr sz="2000">
              <a:latin typeface="Calibri"/>
              <a:cs typeface="Calibri"/>
            </a:endParaRPr>
          </a:p>
          <a:p>
            <a:pPr>
              <a:lnSpc>
                <a:spcPct val="100000"/>
              </a:lnSpc>
              <a:spcBef>
                <a:spcPts val="1019"/>
              </a:spcBef>
            </a:pPr>
            <a:endParaRPr sz="2000">
              <a:latin typeface="Calibri"/>
              <a:cs typeface="Calibri"/>
            </a:endParaRPr>
          </a:p>
          <a:p>
            <a:pPr algn="ctr">
              <a:lnSpc>
                <a:spcPct val="100000"/>
              </a:lnSpc>
            </a:pPr>
            <a:r>
              <a:rPr sz="1800" spc="80" dirty="0">
                <a:latin typeface="Century Gothic"/>
                <a:cs typeface="Century Gothic"/>
              </a:rPr>
              <a:t>603/440</a:t>
            </a:r>
            <a:r>
              <a:rPr sz="1800" spc="80" dirty="0">
                <a:latin typeface="Calibri"/>
                <a:cs typeface="Calibri"/>
              </a:rPr>
              <a:t>8</a:t>
            </a:r>
            <a:r>
              <a:rPr sz="1800" spc="80" dirty="0">
                <a:latin typeface="Century Gothic"/>
                <a:cs typeface="Century Gothic"/>
              </a:rPr>
              <a:t>/</a:t>
            </a:r>
            <a:r>
              <a:rPr sz="1800" spc="80" dirty="0">
                <a:latin typeface="Calibri"/>
                <a:cs typeface="Calibri"/>
              </a:rPr>
              <a:t>8</a:t>
            </a:r>
            <a:endParaRPr sz="1800">
              <a:latin typeface="Calibri"/>
              <a:cs typeface="Calibri"/>
            </a:endParaRPr>
          </a:p>
          <a:p>
            <a:pPr>
              <a:lnSpc>
                <a:spcPct val="100000"/>
              </a:lnSpc>
              <a:spcBef>
                <a:spcPts val="610"/>
              </a:spcBef>
            </a:pPr>
            <a:endParaRPr sz="1800">
              <a:latin typeface="Calibri"/>
              <a:cs typeface="Calibri"/>
            </a:endParaRPr>
          </a:p>
          <a:p>
            <a:pPr marL="635" algn="ctr">
              <a:lnSpc>
                <a:spcPct val="100000"/>
              </a:lnSpc>
            </a:pPr>
            <a:r>
              <a:rPr sz="1800" b="1" spc="275" dirty="0">
                <a:latin typeface="Calibri"/>
                <a:cs typeface="Calibri"/>
              </a:rPr>
              <a:t>ASSESSMENT</a:t>
            </a:r>
            <a:r>
              <a:rPr sz="1800" b="1" spc="114" dirty="0">
                <a:latin typeface="Calibri"/>
                <a:cs typeface="Calibri"/>
              </a:rPr>
              <a:t> </a:t>
            </a:r>
            <a:r>
              <a:rPr sz="1800" b="1" spc="300" dirty="0">
                <a:latin typeface="Calibri"/>
                <a:cs typeface="Calibri"/>
              </a:rPr>
              <a:t>BOOK</a:t>
            </a:r>
            <a:endParaRPr sz="1800">
              <a:latin typeface="Calibri"/>
              <a:cs typeface="Calibri"/>
            </a:endParaRPr>
          </a:p>
        </p:txBody>
      </p:sp>
      <p:sp>
        <p:nvSpPr>
          <p:cNvPr id="5" name="object 5"/>
          <p:cNvSpPr txBox="1"/>
          <p:nvPr/>
        </p:nvSpPr>
        <p:spPr>
          <a:xfrm>
            <a:off x="750062" y="6684911"/>
            <a:ext cx="5367655" cy="239395"/>
          </a:xfrm>
          <a:prstGeom prst="rect">
            <a:avLst/>
          </a:prstGeom>
        </p:spPr>
        <p:txBody>
          <a:bodyPr vert="horz" wrap="square" lIns="0" tIns="12700" rIns="0" bIns="0" rtlCol="0">
            <a:spAutoFit/>
          </a:bodyPr>
          <a:lstStyle/>
          <a:p>
            <a:pPr marL="12700">
              <a:lnSpc>
                <a:spcPct val="100000"/>
              </a:lnSpc>
              <a:spcBef>
                <a:spcPts val="100"/>
              </a:spcBef>
              <a:tabLst>
                <a:tab pos="5354320" algn="l"/>
              </a:tabLst>
            </a:pPr>
            <a:r>
              <a:rPr sz="1400" dirty="0">
                <a:latin typeface="Century Gothic"/>
                <a:cs typeface="Century Gothic"/>
              </a:rPr>
              <a:t>Learner</a:t>
            </a:r>
            <a:r>
              <a:rPr sz="1400" spc="135" dirty="0">
                <a:latin typeface="Century Gothic"/>
                <a:cs typeface="Century Gothic"/>
              </a:rPr>
              <a:t> </a:t>
            </a:r>
            <a:r>
              <a:rPr sz="1400" dirty="0">
                <a:latin typeface="Century Gothic"/>
                <a:cs typeface="Century Gothic"/>
              </a:rPr>
              <a:t>Name</a:t>
            </a:r>
            <a:r>
              <a:rPr sz="1400" spc="155" dirty="0">
                <a:latin typeface="Century Gothic"/>
                <a:cs typeface="Century Gothic"/>
              </a:rPr>
              <a:t> </a:t>
            </a:r>
            <a:r>
              <a:rPr sz="1400" u="sng" dirty="0">
                <a:uFill>
                  <a:solidFill>
                    <a:srgbClr val="000000"/>
                  </a:solidFill>
                </a:uFill>
                <a:latin typeface="Times New Roman"/>
                <a:cs typeface="Times New Roman"/>
              </a:rPr>
              <a:t>	</a:t>
            </a:r>
            <a:endParaRPr sz="1400" dirty="0">
              <a:latin typeface="Times New Roman"/>
              <a:cs typeface="Times New Roman"/>
            </a:endParaRPr>
          </a:p>
        </p:txBody>
      </p:sp>
      <p:sp>
        <p:nvSpPr>
          <p:cNvPr id="6" name="object 6"/>
          <p:cNvSpPr txBox="1"/>
          <p:nvPr/>
        </p:nvSpPr>
        <p:spPr>
          <a:xfrm>
            <a:off x="5874410" y="9693099"/>
            <a:ext cx="81915" cy="147320"/>
          </a:xfrm>
          <a:prstGeom prst="rect">
            <a:avLst/>
          </a:prstGeom>
        </p:spPr>
        <p:txBody>
          <a:bodyPr vert="horz" wrap="square" lIns="0" tIns="12700" rIns="0" bIns="0" rtlCol="0">
            <a:spAutoFit/>
          </a:bodyPr>
          <a:lstStyle/>
          <a:p>
            <a:pPr marL="12700">
              <a:lnSpc>
                <a:spcPct val="100000"/>
              </a:lnSpc>
              <a:spcBef>
                <a:spcPts val="100"/>
              </a:spcBef>
            </a:pPr>
            <a:r>
              <a:rPr sz="800" spc="-50" dirty="0">
                <a:latin typeface="Arial"/>
                <a:cs typeface="Arial"/>
              </a:rPr>
              <a:t>1</a:t>
            </a:r>
            <a:endParaRPr sz="800">
              <a:latin typeface="Arial"/>
              <a:cs typeface="Arial"/>
            </a:endParaRPr>
          </a:p>
        </p:txBody>
      </p:sp>
      <p:sp>
        <p:nvSpPr>
          <p:cNvPr id="8" name="TextBox 7">
            <a:extLst>
              <a:ext uri="{FF2B5EF4-FFF2-40B4-BE49-F238E27FC236}">
                <a16:creationId xmlns:a16="http://schemas.microsoft.com/office/drawing/2014/main" id="{0F122E91-DD8C-43B5-EEA5-3840865F32BB}"/>
              </a:ext>
            </a:extLst>
          </p:cNvPr>
          <p:cNvSpPr txBox="1"/>
          <p:nvPr/>
        </p:nvSpPr>
        <p:spPr>
          <a:xfrm>
            <a:off x="2159507" y="6477000"/>
            <a:ext cx="3958210" cy="369332"/>
          </a:xfrm>
          <a:prstGeom prst="rect">
            <a:avLst/>
          </a:prstGeom>
          <a:noFill/>
          <a:ln>
            <a:solidFill>
              <a:schemeClr val="tx1"/>
            </a:solidFill>
          </a:ln>
        </p:spPr>
        <p:txBody>
          <a:bodyPr wrap="square" rtlCol="0">
            <a:spAutoFit/>
          </a:bodyPr>
          <a:lstStyle/>
          <a:p>
            <a:r>
              <a:rPr lang="en-GB" dirty="0"/>
              <a:t>NOOR SABA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4484" y="2575835"/>
            <a:ext cx="4980940" cy="534670"/>
          </a:xfrm>
          <a:prstGeom prst="rect">
            <a:avLst/>
          </a:prstGeom>
        </p:spPr>
        <p:txBody>
          <a:bodyPr vert="horz" wrap="square" lIns="0" tIns="12065" rIns="0" bIns="0" rtlCol="0">
            <a:spAutoFit/>
          </a:bodyPr>
          <a:lstStyle/>
          <a:p>
            <a:pPr marL="12700" marR="5080">
              <a:lnSpc>
                <a:spcPct val="119300"/>
              </a:lnSpc>
              <a:spcBef>
                <a:spcPts val="95"/>
              </a:spcBef>
            </a:pPr>
            <a:r>
              <a:rPr sz="1400" spc="114" dirty="0">
                <a:latin typeface="Century Gothic"/>
                <a:cs typeface="Century Gothic"/>
              </a:rPr>
              <a:t>Unit</a:t>
            </a:r>
            <a:r>
              <a:rPr sz="1400" spc="120" dirty="0">
                <a:latin typeface="Century Gothic"/>
                <a:cs typeface="Century Gothic"/>
              </a:rPr>
              <a:t> </a:t>
            </a:r>
            <a:r>
              <a:rPr sz="1400" dirty="0">
                <a:latin typeface="Century Gothic"/>
                <a:cs typeface="Century Gothic"/>
              </a:rPr>
              <a:t>A</a:t>
            </a:r>
            <a:r>
              <a:rPr sz="1400" spc="130" dirty="0">
                <a:latin typeface="Century Gothic"/>
                <a:cs typeface="Century Gothic"/>
              </a:rPr>
              <a:t> </a:t>
            </a:r>
            <a:r>
              <a:rPr sz="1400" dirty="0">
                <a:latin typeface="Century Gothic"/>
                <a:cs typeface="Century Gothic"/>
              </a:rPr>
              <a:t>Identify</a:t>
            </a:r>
            <a:r>
              <a:rPr sz="1400" spc="120" dirty="0">
                <a:latin typeface="Century Gothic"/>
                <a:cs typeface="Century Gothic"/>
              </a:rPr>
              <a:t> </a:t>
            </a:r>
            <a:r>
              <a:rPr sz="1400" dirty="0">
                <a:latin typeface="Century Gothic"/>
                <a:cs typeface="Century Gothic"/>
              </a:rPr>
              <a:t>Suitable</a:t>
            </a:r>
            <a:r>
              <a:rPr sz="1400" spc="100" dirty="0">
                <a:latin typeface="Century Gothic"/>
                <a:cs typeface="Century Gothic"/>
              </a:rPr>
              <a:t> </a:t>
            </a:r>
            <a:r>
              <a:rPr sz="1400" spc="-50" dirty="0">
                <a:latin typeface="Century Gothic"/>
                <a:cs typeface="Century Gothic"/>
              </a:rPr>
              <a:t>Opportunities......................................... </a:t>
            </a:r>
            <a:r>
              <a:rPr sz="1400" spc="114" dirty="0">
                <a:latin typeface="Century Gothic"/>
                <a:cs typeface="Century Gothic"/>
              </a:rPr>
              <a:t>Unit</a:t>
            </a:r>
            <a:r>
              <a:rPr sz="1400" spc="10" dirty="0">
                <a:latin typeface="Century Gothic"/>
                <a:cs typeface="Century Gothic"/>
              </a:rPr>
              <a:t> </a:t>
            </a:r>
            <a:r>
              <a:rPr sz="1400" spc="254" dirty="0">
                <a:latin typeface="Century Gothic"/>
                <a:cs typeface="Century Gothic"/>
              </a:rPr>
              <a:t>B</a:t>
            </a:r>
            <a:r>
              <a:rPr sz="1400" spc="15" dirty="0">
                <a:latin typeface="Century Gothic"/>
                <a:cs typeface="Century Gothic"/>
              </a:rPr>
              <a:t> </a:t>
            </a:r>
            <a:r>
              <a:rPr sz="1400" dirty="0">
                <a:latin typeface="Century Gothic"/>
                <a:cs typeface="Century Gothic"/>
              </a:rPr>
              <a:t>Apply</a:t>
            </a:r>
            <a:r>
              <a:rPr sz="1400" spc="25" dirty="0">
                <a:latin typeface="Century Gothic"/>
                <a:cs typeface="Century Gothic"/>
              </a:rPr>
              <a:t> </a:t>
            </a:r>
            <a:r>
              <a:rPr sz="1400" dirty="0">
                <a:latin typeface="Century Gothic"/>
                <a:cs typeface="Century Gothic"/>
              </a:rPr>
              <a:t>for</a:t>
            </a:r>
            <a:r>
              <a:rPr sz="1400" spc="10" dirty="0">
                <a:latin typeface="Century Gothic"/>
                <a:cs typeface="Century Gothic"/>
              </a:rPr>
              <a:t> </a:t>
            </a:r>
            <a:r>
              <a:rPr sz="1400" spc="-70" dirty="0">
                <a:latin typeface="Century Gothic"/>
                <a:cs typeface="Century Gothic"/>
              </a:rPr>
              <a:t>Opportunities...........................................................</a:t>
            </a:r>
            <a:endParaRPr sz="1400">
              <a:latin typeface="Century Gothic"/>
              <a:cs typeface="Century Gothic"/>
            </a:endParaRPr>
          </a:p>
        </p:txBody>
      </p:sp>
      <p:sp>
        <p:nvSpPr>
          <p:cNvPr id="3" name="object 3"/>
          <p:cNvSpPr txBox="1"/>
          <p:nvPr/>
        </p:nvSpPr>
        <p:spPr>
          <a:xfrm>
            <a:off x="2641085" y="9550400"/>
            <a:ext cx="1753870" cy="186690"/>
          </a:xfrm>
          <a:prstGeom prst="rect">
            <a:avLst/>
          </a:prstGeom>
        </p:spPr>
        <p:txBody>
          <a:bodyPr vert="horz" wrap="square" lIns="0" tIns="13335" rIns="0" bIns="0" rtlCol="0">
            <a:spAutoFit/>
          </a:bodyPr>
          <a:lstStyle/>
          <a:p>
            <a:pPr marL="12700">
              <a:lnSpc>
                <a:spcPct val="100000"/>
              </a:lnSpc>
              <a:spcBef>
                <a:spcPts val="105"/>
              </a:spcBef>
            </a:pPr>
            <a:r>
              <a:rPr sz="1050" spc="60" dirty="0">
                <a:latin typeface="Century Gothic"/>
                <a:cs typeface="Century Gothic"/>
              </a:rPr>
              <a:t>©</a:t>
            </a:r>
            <a:r>
              <a:rPr sz="1050" spc="-20" dirty="0">
                <a:latin typeface="Century Gothic"/>
                <a:cs typeface="Century Gothic"/>
              </a:rPr>
              <a:t> </a:t>
            </a:r>
            <a:r>
              <a:rPr sz="1050" spc="65" dirty="0">
                <a:latin typeface="Century Gothic"/>
                <a:cs typeface="Century Gothic"/>
              </a:rPr>
              <a:t>ETC</a:t>
            </a:r>
            <a:r>
              <a:rPr sz="1050" spc="-45" dirty="0">
                <a:latin typeface="Century Gothic"/>
                <a:cs typeface="Century Gothic"/>
              </a:rPr>
              <a:t> </a:t>
            </a:r>
            <a:r>
              <a:rPr sz="1050" spc="65" dirty="0">
                <a:latin typeface="Century Gothic"/>
                <a:cs typeface="Century Gothic"/>
              </a:rPr>
              <a:t>AWARDS</a:t>
            </a:r>
            <a:r>
              <a:rPr sz="1050" spc="-45" dirty="0">
                <a:latin typeface="Century Gothic"/>
                <a:cs typeface="Century Gothic"/>
              </a:rPr>
              <a:t> </a:t>
            </a:r>
            <a:r>
              <a:rPr sz="1050" spc="120" dirty="0">
                <a:latin typeface="Century Gothic"/>
                <a:cs typeface="Century Gothic"/>
              </a:rPr>
              <a:t>LTD</a:t>
            </a:r>
            <a:r>
              <a:rPr sz="1050" spc="-35" dirty="0">
                <a:latin typeface="Century Gothic"/>
                <a:cs typeface="Century Gothic"/>
              </a:rPr>
              <a:t> </a:t>
            </a:r>
            <a:r>
              <a:rPr sz="1050" spc="35" dirty="0">
                <a:latin typeface="Century Gothic"/>
                <a:cs typeface="Century Gothic"/>
              </a:rPr>
              <a:t>2024</a:t>
            </a:r>
            <a:endParaRPr sz="1050">
              <a:latin typeface="Century Gothic"/>
              <a:cs typeface="Century Gothic"/>
            </a:endParaRPr>
          </a:p>
        </p:txBody>
      </p:sp>
      <p:pic>
        <p:nvPicPr>
          <p:cNvPr id="4" name="object 4" descr="A close up of a sign  Description automatically generated"/>
          <p:cNvPicPr/>
          <p:nvPr/>
        </p:nvPicPr>
        <p:blipFill>
          <a:blip r:embed="rId2" cstate="print"/>
          <a:stretch>
            <a:fillRect/>
          </a:stretch>
        </p:blipFill>
        <p:spPr>
          <a:xfrm>
            <a:off x="5634228" y="457200"/>
            <a:ext cx="888491" cy="539495"/>
          </a:xfrm>
          <a:prstGeom prst="rect">
            <a:avLst/>
          </a:prstGeom>
        </p:spPr>
      </p:pic>
      <p:sp>
        <p:nvSpPr>
          <p:cNvPr id="5" name="object 5"/>
          <p:cNvSpPr txBox="1"/>
          <p:nvPr/>
        </p:nvSpPr>
        <p:spPr>
          <a:xfrm>
            <a:off x="1321282" y="718299"/>
            <a:ext cx="3749675" cy="838835"/>
          </a:xfrm>
          <a:prstGeom prst="rect">
            <a:avLst/>
          </a:prstGeom>
        </p:spPr>
        <p:txBody>
          <a:bodyPr vert="horz" wrap="square" lIns="0" tIns="12700" rIns="0" bIns="0" rtlCol="0">
            <a:spAutoFit/>
          </a:bodyPr>
          <a:lstStyle/>
          <a:p>
            <a:pPr marL="12700">
              <a:lnSpc>
                <a:spcPct val="100000"/>
              </a:lnSpc>
              <a:spcBef>
                <a:spcPts val="100"/>
              </a:spcBef>
            </a:pPr>
            <a:r>
              <a:rPr sz="1800" b="1" spc="250" dirty="0">
                <a:latin typeface="Calibri"/>
                <a:cs typeface="Calibri"/>
              </a:rPr>
              <a:t>Award</a:t>
            </a:r>
            <a:r>
              <a:rPr sz="1800" b="1" spc="125" dirty="0">
                <a:latin typeface="Calibri"/>
                <a:cs typeface="Calibri"/>
              </a:rPr>
              <a:t> </a:t>
            </a:r>
            <a:r>
              <a:rPr sz="1800" b="1" spc="185" dirty="0">
                <a:latin typeface="Calibri"/>
                <a:cs typeface="Calibri"/>
              </a:rPr>
              <a:t>in</a:t>
            </a:r>
            <a:r>
              <a:rPr sz="1800" b="1" spc="120" dirty="0">
                <a:latin typeface="Calibri"/>
                <a:cs typeface="Calibri"/>
              </a:rPr>
              <a:t> </a:t>
            </a:r>
            <a:r>
              <a:rPr sz="1800" b="1" spc="250" dirty="0">
                <a:latin typeface="Calibri"/>
                <a:cs typeface="Calibri"/>
              </a:rPr>
              <a:t>Securing</a:t>
            </a:r>
            <a:r>
              <a:rPr sz="1800" b="1" spc="114" dirty="0">
                <a:latin typeface="Calibri"/>
                <a:cs typeface="Calibri"/>
              </a:rPr>
              <a:t> </a:t>
            </a:r>
            <a:r>
              <a:rPr sz="1800" b="1" spc="215" dirty="0">
                <a:latin typeface="Calibri"/>
                <a:cs typeface="Calibri"/>
              </a:rPr>
              <a:t>Progression</a:t>
            </a:r>
            <a:endParaRPr sz="1800">
              <a:latin typeface="Calibri"/>
              <a:cs typeface="Calibri"/>
            </a:endParaRPr>
          </a:p>
          <a:p>
            <a:pPr>
              <a:lnSpc>
                <a:spcPct val="100000"/>
              </a:lnSpc>
              <a:spcBef>
                <a:spcPts val="360"/>
              </a:spcBef>
            </a:pPr>
            <a:endParaRPr sz="1800">
              <a:latin typeface="Calibri"/>
              <a:cs typeface="Calibri"/>
            </a:endParaRPr>
          </a:p>
          <a:p>
            <a:pPr marL="1678305">
              <a:lnSpc>
                <a:spcPct val="100000"/>
              </a:lnSpc>
            </a:pPr>
            <a:r>
              <a:rPr sz="1400" b="1" spc="175" dirty="0">
                <a:latin typeface="Calibri"/>
                <a:cs typeface="Calibri"/>
              </a:rPr>
              <a:t>Contents</a:t>
            </a:r>
            <a:endParaRPr sz="1400">
              <a:latin typeface="Calibri"/>
              <a:cs typeface="Calibri"/>
            </a:endParaRPr>
          </a:p>
        </p:txBody>
      </p:sp>
      <p:sp>
        <p:nvSpPr>
          <p:cNvPr id="6" name="object 6"/>
          <p:cNvSpPr txBox="1"/>
          <p:nvPr/>
        </p:nvSpPr>
        <p:spPr>
          <a:xfrm>
            <a:off x="489084" y="2338399"/>
            <a:ext cx="5283200" cy="269240"/>
          </a:xfrm>
          <a:prstGeom prst="rect">
            <a:avLst/>
          </a:prstGeom>
        </p:spPr>
        <p:txBody>
          <a:bodyPr vert="horz" wrap="square" lIns="0" tIns="12700" rIns="0" bIns="0" rtlCol="0">
            <a:spAutoFit/>
          </a:bodyPr>
          <a:lstStyle/>
          <a:p>
            <a:pPr marL="38100">
              <a:lnSpc>
                <a:spcPct val="100000"/>
              </a:lnSpc>
              <a:spcBef>
                <a:spcPts val="100"/>
              </a:spcBef>
            </a:pPr>
            <a:r>
              <a:rPr sz="1400" spc="-80" dirty="0">
                <a:latin typeface="Century Gothic"/>
                <a:cs typeface="Century Gothic"/>
              </a:rPr>
              <a:t>Documentation.............................................................................................</a:t>
            </a:r>
            <a:r>
              <a:rPr sz="1400" spc="190" dirty="0">
                <a:latin typeface="Century Gothic"/>
                <a:cs typeface="Century Gothic"/>
              </a:rPr>
              <a:t>  </a:t>
            </a:r>
            <a:r>
              <a:rPr sz="2400" spc="52" baseline="-10416" dirty="0">
                <a:latin typeface="Calibri"/>
                <a:cs typeface="Calibri"/>
              </a:rPr>
              <a:t>3</a:t>
            </a:r>
            <a:endParaRPr sz="2400" baseline="-10416">
              <a:latin typeface="Calibri"/>
              <a:cs typeface="Calibri"/>
            </a:endParaRPr>
          </a:p>
        </p:txBody>
      </p:sp>
      <p:sp>
        <p:nvSpPr>
          <p:cNvPr id="7" name="object 7"/>
          <p:cNvSpPr txBox="1"/>
          <p:nvPr/>
        </p:nvSpPr>
        <p:spPr>
          <a:xfrm>
            <a:off x="5606732" y="2621000"/>
            <a:ext cx="160020" cy="269240"/>
          </a:xfrm>
          <a:prstGeom prst="rect">
            <a:avLst/>
          </a:prstGeom>
        </p:spPr>
        <p:txBody>
          <a:bodyPr vert="horz" wrap="square" lIns="0" tIns="12700" rIns="0" bIns="0" rtlCol="0">
            <a:spAutoFit/>
          </a:bodyPr>
          <a:lstStyle/>
          <a:p>
            <a:pPr marL="12700">
              <a:lnSpc>
                <a:spcPct val="100000"/>
              </a:lnSpc>
              <a:spcBef>
                <a:spcPts val="100"/>
              </a:spcBef>
            </a:pPr>
            <a:r>
              <a:rPr sz="1600" spc="190" dirty="0">
                <a:latin typeface="Calibri"/>
                <a:cs typeface="Calibri"/>
              </a:rPr>
              <a:t>4</a:t>
            </a:r>
            <a:endParaRPr sz="1600">
              <a:latin typeface="Calibri"/>
              <a:cs typeface="Calibri"/>
            </a:endParaRPr>
          </a:p>
        </p:txBody>
      </p:sp>
      <p:sp>
        <p:nvSpPr>
          <p:cNvPr id="8" name="object 8"/>
          <p:cNvSpPr txBox="1"/>
          <p:nvPr/>
        </p:nvSpPr>
        <p:spPr>
          <a:xfrm>
            <a:off x="5606732" y="2864840"/>
            <a:ext cx="214629" cy="269240"/>
          </a:xfrm>
          <a:prstGeom prst="rect">
            <a:avLst/>
          </a:prstGeom>
        </p:spPr>
        <p:txBody>
          <a:bodyPr vert="horz" wrap="square" lIns="0" tIns="12700" rIns="0" bIns="0" rtlCol="0">
            <a:spAutoFit/>
          </a:bodyPr>
          <a:lstStyle/>
          <a:p>
            <a:pPr marL="12700">
              <a:lnSpc>
                <a:spcPct val="100000"/>
              </a:lnSpc>
              <a:spcBef>
                <a:spcPts val="100"/>
              </a:spcBef>
            </a:pPr>
            <a:r>
              <a:rPr sz="1600" spc="-50" dirty="0">
                <a:latin typeface="Calibri"/>
                <a:cs typeface="Calibri"/>
              </a:rPr>
              <a:t>12</a:t>
            </a:r>
            <a:endParaRPr sz="1600">
              <a:latin typeface="Calibri"/>
              <a:cs typeface="Calibri"/>
            </a:endParaRPr>
          </a:p>
        </p:txBody>
      </p:sp>
      <p:sp>
        <p:nvSpPr>
          <p:cNvPr id="9" name="object 9"/>
          <p:cNvSpPr txBox="1"/>
          <p:nvPr/>
        </p:nvSpPr>
        <p:spPr>
          <a:xfrm>
            <a:off x="514484" y="3108680"/>
            <a:ext cx="5353685" cy="269240"/>
          </a:xfrm>
          <a:prstGeom prst="rect">
            <a:avLst/>
          </a:prstGeom>
        </p:spPr>
        <p:txBody>
          <a:bodyPr vert="horz" wrap="square" lIns="0" tIns="12700" rIns="0" bIns="0" rtlCol="0">
            <a:spAutoFit/>
          </a:bodyPr>
          <a:lstStyle/>
          <a:p>
            <a:pPr marL="12700">
              <a:lnSpc>
                <a:spcPct val="100000"/>
              </a:lnSpc>
              <a:spcBef>
                <a:spcPts val="100"/>
              </a:spcBef>
            </a:pPr>
            <a:r>
              <a:rPr sz="2100" spc="172" baseline="1984" dirty="0">
                <a:latin typeface="Century Gothic"/>
                <a:cs typeface="Century Gothic"/>
              </a:rPr>
              <a:t>Unit</a:t>
            </a:r>
            <a:r>
              <a:rPr sz="2100" spc="142" baseline="1984" dirty="0">
                <a:latin typeface="Century Gothic"/>
                <a:cs typeface="Century Gothic"/>
              </a:rPr>
              <a:t> </a:t>
            </a:r>
            <a:r>
              <a:rPr sz="2100" spc="-217" baseline="1984" dirty="0">
                <a:latin typeface="Century Gothic"/>
                <a:cs typeface="Century Gothic"/>
              </a:rPr>
              <a:t>C</a:t>
            </a:r>
            <a:r>
              <a:rPr sz="2100" spc="172" baseline="1984" dirty="0">
                <a:latin typeface="Century Gothic"/>
                <a:cs typeface="Century Gothic"/>
              </a:rPr>
              <a:t> </a:t>
            </a:r>
            <a:r>
              <a:rPr sz="2100" baseline="1984" dirty="0">
                <a:latin typeface="Century Gothic"/>
                <a:cs typeface="Century Gothic"/>
              </a:rPr>
              <a:t>Participation</a:t>
            </a:r>
            <a:r>
              <a:rPr sz="2100" spc="67" baseline="1984" dirty="0">
                <a:latin typeface="Century Gothic"/>
                <a:cs typeface="Century Gothic"/>
              </a:rPr>
              <a:t> </a:t>
            </a:r>
            <a:r>
              <a:rPr sz="2100" baseline="1984" dirty="0">
                <a:latin typeface="Century Gothic"/>
                <a:cs typeface="Century Gothic"/>
              </a:rPr>
              <a:t>Personal</a:t>
            </a:r>
            <a:r>
              <a:rPr sz="2100" spc="142" baseline="1984" dirty="0">
                <a:latin typeface="Century Gothic"/>
                <a:cs typeface="Century Gothic"/>
              </a:rPr>
              <a:t> </a:t>
            </a:r>
            <a:r>
              <a:rPr sz="2100" spc="75" baseline="1984" dirty="0">
                <a:latin typeface="Century Gothic"/>
                <a:cs typeface="Century Gothic"/>
              </a:rPr>
              <a:t>Behaviours</a:t>
            </a:r>
            <a:r>
              <a:rPr sz="2100" spc="120" baseline="1984" dirty="0">
                <a:latin typeface="Century Gothic"/>
                <a:cs typeface="Century Gothic"/>
              </a:rPr>
              <a:t> </a:t>
            </a:r>
            <a:r>
              <a:rPr sz="2100" baseline="1984" dirty="0">
                <a:latin typeface="Century Gothic"/>
                <a:cs typeface="Century Gothic"/>
              </a:rPr>
              <a:t>and</a:t>
            </a:r>
            <a:r>
              <a:rPr sz="2100" spc="142" baseline="1984" dirty="0">
                <a:latin typeface="Century Gothic"/>
                <a:cs typeface="Century Gothic"/>
              </a:rPr>
              <a:t> </a:t>
            </a:r>
            <a:r>
              <a:rPr sz="2100" baseline="1984" dirty="0">
                <a:latin typeface="Century Gothic"/>
                <a:cs typeface="Century Gothic"/>
              </a:rPr>
              <a:t>Standards</a:t>
            </a:r>
            <a:r>
              <a:rPr sz="2100" spc="412" baseline="1984" dirty="0">
                <a:latin typeface="Century Gothic"/>
                <a:cs typeface="Century Gothic"/>
              </a:rPr>
              <a:t>  </a:t>
            </a:r>
            <a:r>
              <a:rPr sz="1600" spc="80" dirty="0">
                <a:latin typeface="Calibri"/>
                <a:cs typeface="Calibri"/>
              </a:rPr>
              <a:t>27</a:t>
            </a:r>
            <a:endParaRPr sz="1600">
              <a:latin typeface="Calibri"/>
              <a:cs typeface="Calibri"/>
            </a:endParaRPr>
          </a:p>
        </p:txBody>
      </p:sp>
      <p:sp>
        <p:nvSpPr>
          <p:cNvPr id="10" name="object 10"/>
          <p:cNvSpPr txBox="1"/>
          <p:nvPr/>
        </p:nvSpPr>
        <p:spPr>
          <a:xfrm>
            <a:off x="5874410" y="9693099"/>
            <a:ext cx="81915" cy="147320"/>
          </a:xfrm>
          <a:prstGeom prst="rect">
            <a:avLst/>
          </a:prstGeom>
        </p:spPr>
        <p:txBody>
          <a:bodyPr vert="horz" wrap="square" lIns="0" tIns="12700" rIns="0" bIns="0" rtlCol="0">
            <a:spAutoFit/>
          </a:bodyPr>
          <a:lstStyle/>
          <a:p>
            <a:pPr marL="12700">
              <a:lnSpc>
                <a:spcPct val="100000"/>
              </a:lnSpc>
              <a:spcBef>
                <a:spcPts val="100"/>
              </a:spcBef>
            </a:pPr>
            <a:r>
              <a:rPr sz="800" spc="-50" dirty="0">
                <a:latin typeface="Arial"/>
                <a:cs typeface="Arial"/>
              </a:rPr>
              <a:t>2</a:t>
            </a:r>
            <a:endParaRPr sz="80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A picture containing food  Description automatically generated"/>
          <p:cNvPicPr/>
          <p:nvPr/>
        </p:nvPicPr>
        <p:blipFill>
          <a:blip r:embed="rId2" cstate="print"/>
          <a:stretch>
            <a:fillRect/>
          </a:stretch>
        </p:blipFill>
        <p:spPr>
          <a:xfrm>
            <a:off x="6649" y="0"/>
            <a:ext cx="6851350" cy="9899350"/>
          </a:xfrm>
          <a:prstGeom prst="rect">
            <a:avLst/>
          </a:prstGeom>
        </p:spPr>
      </p:pic>
      <p:sp>
        <p:nvSpPr>
          <p:cNvPr id="3" name="object 3"/>
          <p:cNvSpPr txBox="1"/>
          <p:nvPr/>
        </p:nvSpPr>
        <p:spPr>
          <a:xfrm>
            <a:off x="252712" y="3993019"/>
            <a:ext cx="6201410" cy="909319"/>
          </a:xfrm>
          <a:prstGeom prst="rect">
            <a:avLst/>
          </a:prstGeom>
        </p:spPr>
        <p:txBody>
          <a:bodyPr vert="horz" wrap="square" lIns="0" tIns="12700" rIns="0" bIns="0" rtlCol="0">
            <a:spAutoFit/>
          </a:bodyPr>
          <a:lstStyle/>
          <a:p>
            <a:pPr marL="43180" algn="just">
              <a:lnSpc>
                <a:spcPct val="100000"/>
              </a:lnSpc>
              <a:spcBef>
                <a:spcPts val="100"/>
              </a:spcBef>
            </a:pPr>
            <a:r>
              <a:rPr sz="1200" spc="55" dirty="0">
                <a:latin typeface="Century Gothic"/>
                <a:cs typeface="Century Gothic"/>
              </a:rPr>
              <a:t>We</a:t>
            </a:r>
            <a:r>
              <a:rPr sz="1200" spc="5" dirty="0">
                <a:latin typeface="Century Gothic"/>
                <a:cs typeface="Century Gothic"/>
              </a:rPr>
              <a:t> </a:t>
            </a:r>
            <a:r>
              <a:rPr sz="1200" dirty="0">
                <a:latin typeface="Century Gothic"/>
                <a:cs typeface="Century Gothic"/>
              </a:rPr>
              <a:t>certify</a:t>
            </a:r>
            <a:r>
              <a:rPr sz="1200" spc="5" dirty="0">
                <a:latin typeface="Century Gothic"/>
                <a:cs typeface="Century Gothic"/>
              </a:rPr>
              <a:t> </a:t>
            </a:r>
            <a:r>
              <a:rPr sz="1200" spc="-20" dirty="0">
                <a:latin typeface="Century Gothic"/>
                <a:cs typeface="Century Gothic"/>
              </a:rPr>
              <a:t>that</a:t>
            </a:r>
            <a:endParaRPr sz="1200">
              <a:latin typeface="Century Gothic"/>
              <a:cs typeface="Century Gothic"/>
            </a:endParaRPr>
          </a:p>
          <a:p>
            <a:pPr marL="43180" marR="5080" indent="-31115" algn="just">
              <a:lnSpc>
                <a:spcPct val="100000"/>
              </a:lnSpc>
              <a:spcBef>
                <a:spcPts val="1200"/>
              </a:spcBef>
              <a:tabLst>
                <a:tab pos="5031740" algn="l"/>
              </a:tabLst>
            </a:pPr>
            <a:r>
              <a:rPr sz="1200" u="sng" dirty="0">
                <a:uFill>
                  <a:solidFill>
                    <a:srgbClr val="000000"/>
                  </a:solidFill>
                </a:uFill>
                <a:latin typeface="Times New Roman"/>
                <a:cs typeface="Times New Roman"/>
              </a:rPr>
              <a:t>		</a:t>
            </a:r>
            <a:r>
              <a:rPr sz="1200" u="none" dirty="0">
                <a:latin typeface="Century Gothic"/>
                <a:cs typeface="Century Gothic"/>
              </a:rPr>
              <a:t>has</a:t>
            </a:r>
            <a:r>
              <a:rPr sz="1200" u="none" spc="215" dirty="0">
                <a:latin typeface="Century Gothic"/>
                <a:cs typeface="Century Gothic"/>
              </a:rPr>
              <a:t> </a:t>
            </a:r>
            <a:r>
              <a:rPr sz="1200" u="none" dirty="0">
                <a:latin typeface="Century Gothic"/>
                <a:cs typeface="Century Gothic"/>
              </a:rPr>
              <a:t>satisfied</a:t>
            </a:r>
            <a:r>
              <a:rPr sz="1200" u="none" spc="229" dirty="0">
                <a:latin typeface="Century Gothic"/>
                <a:cs typeface="Century Gothic"/>
              </a:rPr>
              <a:t> </a:t>
            </a:r>
            <a:r>
              <a:rPr sz="1200" u="none" spc="-25" dirty="0">
                <a:latin typeface="Century Gothic"/>
                <a:cs typeface="Century Gothic"/>
              </a:rPr>
              <a:t>all </a:t>
            </a:r>
            <a:r>
              <a:rPr sz="1200" u="none" dirty="0">
                <a:latin typeface="Century Gothic"/>
                <a:cs typeface="Century Gothic"/>
              </a:rPr>
              <a:t>the</a:t>
            </a:r>
            <a:r>
              <a:rPr sz="1200" u="none" spc="105" dirty="0">
                <a:latin typeface="Century Gothic"/>
                <a:cs typeface="Century Gothic"/>
              </a:rPr>
              <a:t> </a:t>
            </a:r>
            <a:r>
              <a:rPr sz="1200" u="none" dirty="0">
                <a:latin typeface="Century Gothic"/>
                <a:cs typeface="Century Gothic"/>
              </a:rPr>
              <a:t>performance</a:t>
            </a:r>
            <a:r>
              <a:rPr sz="1200" u="none" spc="105" dirty="0">
                <a:latin typeface="Century Gothic"/>
                <a:cs typeface="Century Gothic"/>
              </a:rPr>
              <a:t> </a:t>
            </a:r>
            <a:r>
              <a:rPr sz="1200" u="none" dirty="0">
                <a:latin typeface="Century Gothic"/>
                <a:cs typeface="Century Gothic"/>
              </a:rPr>
              <a:t>and</a:t>
            </a:r>
            <a:r>
              <a:rPr sz="1200" u="none" spc="110" dirty="0">
                <a:latin typeface="Century Gothic"/>
                <a:cs typeface="Century Gothic"/>
              </a:rPr>
              <a:t> </a:t>
            </a:r>
            <a:r>
              <a:rPr sz="1200" u="none" dirty="0">
                <a:latin typeface="Century Gothic"/>
                <a:cs typeface="Century Gothic"/>
              </a:rPr>
              <a:t>knowledge</a:t>
            </a:r>
            <a:r>
              <a:rPr sz="1200" u="none" spc="100" dirty="0">
                <a:latin typeface="Century Gothic"/>
                <a:cs typeface="Century Gothic"/>
              </a:rPr>
              <a:t> </a:t>
            </a:r>
            <a:r>
              <a:rPr sz="1200" u="none" dirty="0">
                <a:latin typeface="Century Gothic"/>
                <a:cs typeface="Century Gothic"/>
              </a:rPr>
              <a:t>requirements</a:t>
            </a:r>
            <a:r>
              <a:rPr sz="1200" u="none" spc="105" dirty="0">
                <a:latin typeface="Century Gothic"/>
                <a:cs typeface="Century Gothic"/>
              </a:rPr>
              <a:t> </a:t>
            </a:r>
            <a:r>
              <a:rPr sz="1200" u="none" dirty="0">
                <a:latin typeface="Century Gothic"/>
                <a:cs typeface="Century Gothic"/>
              </a:rPr>
              <a:t>and</a:t>
            </a:r>
            <a:r>
              <a:rPr sz="1200" u="none" spc="110" dirty="0">
                <a:latin typeface="Century Gothic"/>
                <a:cs typeface="Century Gothic"/>
              </a:rPr>
              <a:t> </a:t>
            </a:r>
            <a:r>
              <a:rPr sz="1200" u="none" dirty="0">
                <a:latin typeface="Century Gothic"/>
                <a:cs typeface="Century Gothic"/>
              </a:rPr>
              <a:t>the</a:t>
            </a:r>
            <a:r>
              <a:rPr sz="1200" u="none" spc="110" dirty="0">
                <a:latin typeface="Century Gothic"/>
                <a:cs typeface="Century Gothic"/>
              </a:rPr>
              <a:t> </a:t>
            </a:r>
            <a:r>
              <a:rPr sz="1200" u="none" spc="-20" dirty="0">
                <a:latin typeface="Century Gothic"/>
                <a:cs typeface="Century Gothic"/>
              </a:rPr>
              <a:t>evidence</a:t>
            </a:r>
            <a:r>
              <a:rPr sz="1200" u="none" spc="95" dirty="0">
                <a:latin typeface="Century Gothic"/>
                <a:cs typeface="Century Gothic"/>
              </a:rPr>
              <a:t> </a:t>
            </a:r>
            <a:r>
              <a:rPr sz="1200" u="none" dirty="0">
                <a:latin typeface="Century Gothic"/>
                <a:cs typeface="Century Gothic"/>
              </a:rPr>
              <a:t>presented</a:t>
            </a:r>
            <a:r>
              <a:rPr sz="1200" u="none" spc="105" dirty="0">
                <a:latin typeface="Century Gothic"/>
                <a:cs typeface="Century Gothic"/>
              </a:rPr>
              <a:t> </a:t>
            </a:r>
            <a:r>
              <a:rPr sz="1200" u="none" spc="-25" dirty="0">
                <a:latin typeface="Century Gothic"/>
                <a:cs typeface="Century Gothic"/>
              </a:rPr>
              <a:t>was </a:t>
            </a:r>
            <a:r>
              <a:rPr sz="1200" u="none" dirty="0">
                <a:latin typeface="Century Gothic"/>
                <a:cs typeface="Century Gothic"/>
              </a:rPr>
              <a:t>authentic</a:t>
            </a:r>
            <a:r>
              <a:rPr sz="1200" u="none" spc="5" dirty="0">
                <a:latin typeface="Century Gothic"/>
                <a:cs typeface="Century Gothic"/>
              </a:rPr>
              <a:t> </a:t>
            </a:r>
            <a:r>
              <a:rPr sz="1200" u="none" spc="-20" dirty="0">
                <a:latin typeface="Century Gothic"/>
                <a:cs typeface="Century Gothic"/>
              </a:rPr>
              <a:t>and</a:t>
            </a:r>
            <a:r>
              <a:rPr sz="1200" u="none" spc="60" dirty="0">
                <a:latin typeface="Century Gothic"/>
                <a:cs typeface="Century Gothic"/>
              </a:rPr>
              <a:t> </a:t>
            </a:r>
            <a:r>
              <a:rPr sz="1200" u="none" dirty="0">
                <a:latin typeface="Century Gothic"/>
                <a:cs typeface="Century Gothic"/>
              </a:rPr>
              <a:t>the</a:t>
            </a:r>
            <a:r>
              <a:rPr sz="1200" u="none" spc="45" dirty="0">
                <a:latin typeface="Century Gothic"/>
                <a:cs typeface="Century Gothic"/>
              </a:rPr>
              <a:t> </a:t>
            </a:r>
            <a:r>
              <a:rPr sz="1200" u="none" dirty="0">
                <a:latin typeface="Century Gothic"/>
                <a:cs typeface="Century Gothic"/>
              </a:rPr>
              <a:t>assessment</a:t>
            </a:r>
            <a:r>
              <a:rPr sz="1200" u="none" spc="80" dirty="0">
                <a:latin typeface="Century Gothic"/>
                <a:cs typeface="Century Gothic"/>
              </a:rPr>
              <a:t> </a:t>
            </a:r>
            <a:r>
              <a:rPr sz="1200" u="none" dirty="0">
                <a:latin typeface="Century Gothic"/>
                <a:cs typeface="Century Gothic"/>
              </a:rPr>
              <a:t>was</a:t>
            </a:r>
            <a:r>
              <a:rPr sz="1200" u="none" spc="50" dirty="0">
                <a:latin typeface="Century Gothic"/>
                <a:cs typeface="Century Gothic"/>
              </a:rPr>
              <a:t> </a:t>
            </a:r>
            <a:r>
              <a:rPr sz="1200" u="none" spc="-10" dirty="0">
                <a:latin typeface="Century Gothic"/>
                <a:cs typeface="Century Gothic"/>
              </a:rPr>
              <a:t>conducted</a:t>
            </a:r>
            <a:r>
              <a:rPr sz="1200" u="none" spc="75" dirty="0">
                <a:latin typeface="Century Gothic"/>
                <a:cs typeface="Century Gothic"/>
              </a:rPr>
              <a:t> </a:t>
            </a:r>
            <a:r>
              <a:rPr sz="1200" u="none" dirty="0">
                <a:latin typeface="Century Gothic"/>
                <a:cs typeface="Century Gothic"/>
              </a:rPr>
              <a:t>under</a:t>
            </a:r>
            <a:r>
              <a:rPr sz="1200" u="none" spc="45" dirty="0">
                <a:latin typeface="Century Gothic"/>
                <a:cs typeface="Century Gothic"/>
              </a:rPr>
              <a:t> </a:t>
            </a:r>
            <a:r>
              <a:rPr sz="1200" u="none" dirty="0">
                <a:latin typeface="Century Gothic"/>
                <a:cs typeface="Century Gothic"/>
              </a:rPr>
              <a:t>the</a:t>
            </a:r>
            <a:r>
              <a:rPr sz="1200" u="none" spc="40" dirty="0">
                <a:latin typeface="Century Gothic"/>
                <a:cs typeface="Century Gothic"/>
              </a:rPr>
              <a:t> </a:t>
            </a:r>
            <a:r>
              <a:rPr sz="1200" u="none" dirty="0">
                <a:latin typeface="Century Gothic"/>
                <a:cs typeface="Century Gothic"/>
              </a:rPr>
              <a:t>specified</a:t>
            </a:r>
            <a:r>
              <a:rPr sz="1200" u="none" spc="100" dirty="0">
                <a:latin typeface="Century Gothic"/>
                <a:cs typeface="Century Gothic"/>
              </a:rPr>
              <a:t> </a:t>
            </a:r>
            <a:r>
              <a:rPr sz="1200" u="none" spc="-10" dirty="0">
                <a:latin typeface="Century Gothic"/>
                <a:cs typeface="Century Gothic"/>
              </a:rPr>
              <a:t>conditions.</a:t>
            </a:r>
            <a:endParaRPr sz="1200">
              <a:latin typeface="Century Gothic"/>
              <a:cs typeface="Century Gothic"/>
            </a:endParaRPr>
          </a:p>
        </p:txBody>
      </p:sp>
      <p:sp>
        <p:nvSpPr>
          <p:cNvPr id="4" name="object 4"/>
          <p:cNvSpPr txBox="1"/>
          <p:nvPr/>
        </p:nvSpPr>
        <p:spPr>
          <a:xfrm>
            <a:off x="488047" y="8961314"/>
            <a:ext cx="5786755" cy="361950"/>
          </a:xfrm>
          <a:prstGeom prst="rect">
            <a:avLst/>
          </a:prstGeom>
        </p:spPr>
        <p:txBody>
          <a:bodyPr vert="horz" wrap="square" lIns="0" tIns="12700" rIns="0" bIns="0" rtlCol="0">
            <a:spAutoFit/>
          </a:bodyPr>
          <a:lstStyle/>
          <a:p>
            <a:pPr marL="2467610" marR="5080" indent="-2455545">
              <a:lnSpc>
                <a:spcPct val="100000"/>
              </a:lnSpc>
              <a:spcBef>
                <a:spcPts val="100"/>
              </a:spcBef>
            </a:pPr>
            <a:r>
              <a:rPr sz="1100" dirty="0">
                <a:latin typeface="Century Gothic"/>
                <a:cs typeface="Century Gothic"/>
              </a:rPr>
              <a:t>Note:</a:t>
            </a:r>
            <a:r>
              <a:rPr sz="1100" spc="-10" dirty="0">
                <a:latin typeface="Century Gothic"/>
                <a:cs typeface="Century Gothic"/>
              </a:rPr>
              <a:t> </a:t>
            </a:r>
            <a:r>
              <a:rPr sz="1100" dirty="0">
                <a:latin typeface="Century Gothic"/>
                <a:cs typeface="Century Gothic"/>
              </a:rPr>
              <a:t>false</a:t>
            </a:r>
            <a:r>
              <a:rPr sz="1100" spc="20" dirty="0">
                <a:latin typeface="Century Gothic"/>
                <a:cs typeface="Century Gothic"/>
              </a:rPr>
              <a:t> </a:t>
            </a:r>
            <a:r>
              <a:rPr sz="1100" dirty="0">
                <a:latin typeface="Century Gothic"/>
                <a:cs typeface="Century Gothic"/>
              </a:rPr>
              <a:t>declaration</a:t>
            </a:r>
            <a:r>
              <a:rPr sz="1100" spc="15" dirty="0">
                <a:latin typeface="Century Gothic"/>
                <a:cs typeface="Century Gothic"/>
              </a:rPr>
              <a:t> </a:t>
            </a:r>
            <a:r>
              <a:rPr sz="1100" dirty="0">
                <a:latin typeface="Century Gothic"/>
                <a:cs typeface="Century Gothic"/>
              </a:rPr>
              <a:t>may</a:t>
            </a:r>
            <a:r>
              <a:rPr sz="1100" spc="-10" dirty="0">
                <a:latin typeface="Century Gothic"/>
                <a:cs typeface="Century Gothic"/>
              </a:rPr>
              <a:t> </a:t>
            </a:r>
            <a:r>
              <a:rPr sz="1100" spc="65" dirty="0">
                <a:latin typeface="Century Gothic"/>
                <a:cs typeface="Century Gothic"/>
              </a:rPr>
              <a:t>result</a:t>
            </a:r>
            <a:r>
              <a:rPr sz="1100" spc="-50" dirty="0">
                <a:latin typeface="Century Gothic"/>
                <a:cs typeface="Century Gothic"/>
              </a:rPr>
              <a:t> </a:t>
            </a:r>
            <a:r>
              <a:rPr sz="1100" spc="70" dirty="0">
                <a:latin typeface="Century Gothic"/>
                <a:cs typeface="Century Gothic"/>
              </a:rPr>
              <a:t>in</a:t>
            </a:r>
            <a:r>
              <a:rPr sz="1100" spc="45" dirty="0">
                <a:latin typeface="Century Gothic"/>
                <a:cs typeface="Century Gothic"/>
              </a:rPr>
              <a:t> </a:t>
            </a:r>
            <a:r>
              <a:rPr sz="1100" dirty="0">
                <a:latin typeface="Century Gothic"/>
                <a:cs typeface="Century Gothic"/>
              </a:rPr>
              <a:t>the</a:t>
            </a:r>
            <a:r>
              <a:rPr sz="1100" spc="35" dirty="0">
                <a:latin typeface="Century Gothic"/>
                <a:cs typeface="Century Gothic"/>
              </a:rPr>
              <a:t> </a:t>
            </a:r>
            <a:r>
              <a:rPr sz="1100" dirty="0">
                <a:latin typeface="Century Gothic"/>
                <a:cs typeface="Century Gothic"/>
              </a:rPr>
              <a:t>withdrawal</a:t>
            </a:r>
            <a:r>
              <a:rPr sz="1100" spc="20" dirty="0">
                <a:latin typeface="Century Gothic"/>
                <a:cs typeface="Century Gothic"/>
              </a:rPr>
              <a:t> </a:t>
            </a:r>
            <a:r>
              <a:rPr sz="1100" dirty="0">
                <a:latin typeface="Century Gothic"/>
                <a:cs typeface="Century Gothic"/>
              </a:rPr>
              <a:t>of the</a:t>
            </a:r>
            <a:r>
              <a:rPr sz="1100" spc="40" dirty="0">
                <a:latin typeface="Century Gothic"/>
                <a:cs typeface="Century Gothic"/>
              </a:rPr>
              <a:t> </a:t>
            </a:r>
            <a:r>
              <a:rPr sz="1100" dirty="0">
                <a:latin typeface="Century Gothic"/>
                <a:cs typeface="Century Gothic"/>
              </a:rPr>
              <a:t>centre's</a:t>
            </a:r>
            <a:r>
              <a:rPr sz="1100" spc="-30" dirty="0">
                <a:latin typeface="Century Gothic"/>
                <a:cs typeface="Century Gothic"/>
              </a:rPr>
              <a:t> </a:t>
            </a:r>
            <a:r>
              <a:rPr sz="1100" spc="-10" dirty="0">
                <a:latin typeface="Century Gothic"/>
                <a:cs typeface="Century Gothic"/>
              </a:rPr>
              <a:t>approval</a:t>
            </a:r>
            <a:r>
              <a:rPr sz="1100" spc="30" dirty="0">
                <a:latin typeface="Century Gothic"/>
                <a:cs typeface="Century Gothic"/>
              </a:rPr>
              <a:t> </a:t>
            </a:r>
            <a:r>
              <a:rPr sz="1100" dirty="0">
                <a:latin typeface="Century Gothic"/>
                <a:cs typeface="Century Gothic"/>
              </a:rPr>
              <a:t>for </a:t>
            </a:r>
            <a:r>
              <a:rPr sz="1100" spc="35" dirty="0">
                <a:latin typeface="Century Gothic"/>
                <a:cs typeface="Century Gothic"/>
              </a:rPr>
              <a:t>this </a:t>
            </a:r>
            <a:r>
              <a:rPr sz="1100" spc="-10" dirty="0">
                <a:latin typeface="Century Gothic"/>
                <a:cs typeface="Century Gothic"/>
              </a:rPr>
              <a:t>qualification.</a:t>
            </a:r>
            <a:endParaRPr sz="1100">
              <a:latin typeface="Century Gothic"/>
              <a:cs typeface="Century Gothic"/>
            </a:endParaRPr>
          </a:p>
        </p:txBody>
      </p:sp>
      <p:sp>
        <p:nvSpPr>
          <p:cNvPr id="5" name="object 5"/>
          <p:cNvSpPr txBox="1"/>
          <p:nvPr/>
        </p:nvSpPr>
        <p:spPr>
          <a:xfrm>
            <a:off x="3913113" y="5906259"/>
            <a:ext cx="450215" cy="239395"/>
          </a:xfrm>
          <a:prstGeom prst="rect">
            <a:avLst/>
          </a:prstGeom>
        </p:spPr>
        <p:txBody>
          <a:bodyPr vert="horz" wrap="square" lIns="0" tIns="13335" rIns="0" bIns="0" rtlCol="0">
            <a:spAutoFit/>
          </a:bodyPr>
          <a:lstStyle/>
          <a:p>
            <a:pPr marL="12700">
              <a:lnSpc>
                <a:spcPct val="100000"/>
              </a:lnSpc>
              <a:spcBef>
                <a:spcPts val="105"/>
              </a:spcBef>
            </a:pPr>
            <a:r>
              <a:rPr sz="1400" spc="-20" dirty="0">
                <a:latin typeface="Century Gothic"/>
                <a:cs typeface="Century Gothic"/>
              </a:rPr>
              <a:t>Date</a:t>
            </a:r>
            <a:endParaRPr sz="1400">
              <a:latin typeface="Century Gothic"/>
              <a:cs typeface="Century Gothic"/>
            </a:endParaRPr>
          </a:p>
        </p:txBody>
      </p:sp>
      <p:sp>
        <p:nvSpPr>
          <p:cNvPr id="6" name="object 6"/>
          <p:cNvSpPr txBox="1"/>
          <p:nvPr/>
        </p:nvSpPr>
        <p:spPr>
          <a:xfrm>
            <a:off x="325169" y="5946985"/>
            <a:ext cx="1619885" cy="239395"/>
          </a:xfrm>
          <a:prstGeom prst="rect">
            <a:avLst/>
          </a:prstGeom>
        </p:spPr>
        <p:txBody>
          <a:bodyPr vert="horz" wrap="square" lIns="0" tIns="13335" rIns="0" bIns="0" rtlCol="0">
            <a:spAutoFit/>
          </a:bodyPr>
          <a:lstStyle/>
          <a:p>
            <a:pPr marL="12700">
              <a:lnSpc>
                <a:spcPct val="100000"/>
              </a:lnSpc>
              <a:spcBef>
                <a:spcPts val="105"/>
              </a:spcBef>
            </a:pPr>
            <a:r>
              <a:rPr sz="1400" dirty="0">
                <a:latin typeface="Century Gothic"/>
                <a:cs typeface="Century Gothic"/>
              </a:rPr>
              <a:t>Learner</a:t>
            </a:r>
            <a:r>
              <a:rPr sz="1400" spc="180" dirty="0">
                <a:latin typeface="Century Gothic"/>
                <a:cs typeface="Century Gothic"/>
              </a:rPr>
              <a:t> </a:t>
            </a:r>
            <a:r>
              <a:rPr sz="1400" spc="-10" dirty="0">
                <a:latin typeface="Century Gothic"/>
                <a:cs typeface="Century Gothic"/>
              </a:rPr>
              <a:t>Signature</a:t>
            </a:r>
            <a:endParaRPr sz="1400">
              <a:latin typeface="Century Gothic"/>
              <a:cs typeface="Century Gothic"/>
            </a:endParaRPr>
          </a:p>
        </p:txBody>
      </p:sp>
      <p:sp>
        <p:nvSpPr>
          <p:cNvPr id="7" name="object 7"/>
          <p:cNvSpPr txBox="1"/>
          <p:nvPr/>
        </p:nvSpPr>
        <p:spPr>
          <a:xfrm>
            <a:off x="325169" y="6484945"/>
            <a:ext cx="1701800" cy="239395"/>
          </a:xfrm>
          <a:prstGeom prst="rect">
            <a:avLst/>
          </a:prstGeom>
        </p:spPr>
        <p:txBody>
          <a:bodyPr vert="horz" wrap="square" lIns="0" tIns="13335" rIns="0" bIns="0" rtlCol="0">
            <a:spAutoFit/>
          </a:bodyPr>
          <a:lstStyle/>
          <a:p>
            <a:pPr marL="12700">
              <a:lnSpc>
                <a:spcPct val="100000"/>
              </a:lnSpc>
              <a:spcBef>
                <a:spcPts val="105"/>
              </a:spcBef>
            </a:pPr>
            <a:r>
              <a:rPr sz="1400" spc="65" dirty="0">
                <a:latin typeface="Century Gothic"/>
                <a:cs typeface="Century Gothic"/>
              </a:rPr>
              <a:t>Assessor</a:t>
            </a:r>
            <a:r>
              <a:rPr sz="1400" spc="5" dirty="0">
                <a:latin typeface="Century Gothic"/>
                <a:cs typeface="Century Gothic"/>
              </a:rPr>
              <a:t> </a:t>
            </a:r>
            <a:r>
              <a:rPr sz="1400" spc="-10" dirty="0">
                <a:latin typeface="Century Gothic"/>
                <a:cs typeface="Century Gothic"/>
              </a:rPr>
              <a:t>Signature</a:t>
            </a:r>
            <a:endParaRPr sz="1400">
              <a:latin typeface="Century Gothic"/>
              <a:cs typeface="Century Gothic"/>
            </a:endParaRPr>
          </a:p>
        </p:txBody>
      </p:sp>
      <p:sp>
        <p:nvSpPr>
          <p:cNvPr id="8" name="object 8"/>
          <p:cNvSpPr txBox="1"/>
          <p:nvPr/>
        </p:nvSpPr>
        <p:spPr>
          <a:xfrm>
            <a:off x="3913291" y="6436368"/>
            <a:ext cx="450215" cy="239395"/>
          </a:xfrm>
          <a:prstGeom prst="rect">
            <a:avLst/>
          </a:prstGeom>
        </p:spPr>
        <p:txBody>
          <a:bodyPr vert="horz" wrap="square" lIns="0" tIns="13335" rIns="0" bIns="0" rtlCol="0">
            <a:spAutoFit/>
          </a:bodyPr>
          <a:lstStyle/>
          <a:p>
            <a:pPr marL="12700">
              <a:lnSpc>
                <a:spcPct val="100000"/>
              </a:lnSpc>
              <a:spcBef>
                <a:spcPts val="105"/>
              </a:spcBef>
            </a:pPr>
            <a:r>
              <a:rPr sz="1400" spc="-20" dirty="0">
                <a:latin typeface="Century Gothic"/>
                <a:cs typeface="Century Gothic"/>
              </a:rPr>
              <a:t>Date</a:t>
            </a:r>
            <a:endParaRPr sz="1400">
              <a:latin typeface="Century Gothic"/>
              <a:cs typeface="Century Gothic"/>
            </a:endParaRPr>
          </a:p>
        </p:txBody>
      </p:sp>
      <p:sp>
        <p:nvSpPr>
          <p:cNvPr id="9" name="object 9"/>
          <p:cNvSpPr txBox="1"/>
          <p:nvPr/>
        </p:nvSpPr>
        <p:spPr>
          <a:xfrm>
            <a:off x="312432" y="298205"/>
            <a:ext cx="5826125" cy="1572260"/>
          </a:xfrm>
          <a:prstGeom prst="rect">
            <a:avLst/>
          </a:prstGeom>
        </p:spPr>
        <p:txBody>
          <a:bodyPr vert="horz" wrap="square" lIns="0" tIns="12700" rIns="0" bIns="0" rtlCol="0">
            <a:spAutoFit/>
          </a:bodyPr>
          <a:lstStyle/>
          <a:p>
            <a:pPr marL="1809750" marR="1398270" indent="353060">
              <a:lnSpc>
                <a:spcPct val="100000"/>
              </a:lnSpc>
              <a:spcBef>
                <a:spcPts val="100"/>
              </a:spcBef>
            </a:pPr>
            <a:r>
              <a:rPr sz="1800" b="1" spc="200" dirty="0">
                <a:latin typeface="Calibri"/>
                <a:cs typeface="Calibri"/>
              </a:rPr>
              <a:t>UNIT</a:t>
            </a:r>
            <a:r>
              <a:rPr sz="1800" b="1" spc="100" dirty="0">
                <a:latin typeface="Calibri"/>
                <a:cs typeface="Calibri"/>
              </a:rPr>
              <a:t> </a:t>
            </a:r>
            <a:r>
              <a:rPr sz="1800" b="1" spc="225" dirty="0">
                <a:latin typeface="Calibri"/>
                <a:cs typeface="Calibri"/>
              </a:rPr>
              <a:t>SUMMARY </a:t>
            </a:r>
            <a:r>
              <a:rPr sz="1800" b="1" spc="220" dirty="0">
                <a:latin typeface="Calibri"/>
                <a:cs typeface="Calibri"/>
              </a:rPr>
              <a:t>IQA</a:t>
            </a:r>
            <a:r>
              <a:rPr sz="1800" b="1" spc="95" dirty="0">
                <a:latin typeface="Calibri"/>
                <a:cs typeface="Calibri"/>
              </a:rPr>
              <a:t> </a:t>
            </a:r>
            <a:r>
              <a:rPr sz="1800" b="1" spc="285" dirty="0">
                <a:latin typeface="Calibri"/>
                <a:cs typeface="Calibri"/>
              </a:rPr>
              <a:t>SAMPLE</a:t>
            </a:r>
            <a:r>
              <a:rPr sz="1800" b="1" spc="100" dirty="0">
                <a:latin typeface="Calibri"/>
                <a:cs typeface="Calibri"/>
              </a:rPr>
              <a:t> </a:t>
            </a:r>
            <a:r>
              <a:rPr sz="1800" b="1" spc="310" dirty="0">
                <a:latin typeface="Calibri"/>
                <a:cs typeface="Calibri"/>
              </a:rPr>
              <a:t>RECORD</a:t>
            </a:r>
            <a:endParaRPr sz="1800">
              <a:latin typeface="Calibri"/>
              <a:cs typeface="Calibri"/>
            </a:endParaRPr>
          </a:p>
          <a:p>
            <a:pPr marL="33655">
              <a:lnSpc>
                <a:spcPct val="100000"/>
              </a:lnSpc>
              <a:spcBef>
                <a:spcPts val="1645"/>
              </a:spcBef>
            </a:pPr>
            <a:r>
              <a:rPr sz="1000" b="1" spc="130" dirty="0">
                <a:latin typeface="Calibri"/>
                <a:cs typeface="Calibri"/>
              </a:rPr>
              <a:t>Award</a:t>
            </a:r>
            <a:r>
              <a:rPr sz="1000" b="1" spc="75" dirty="0">
                <a:latin typeface="Calibri"/>
                <a:cs typeface="Calibri"/>
              </a:rPr>
              <a:t> </a:t>
            </a:r>
            <a:r>
              <a:rPr sz="1000" b="1" spc="95" dirty="0">
                <a:latin typeface="Calibri"/>
                <a:cs typeface="Calibri"/>
              </a:rPr>
              <a:t>in</a:t>
            </a:r>
            <a:r>
              <a:rPr sz="1000" b="1" spc="60" dirty="0">
                <a:latin typeface="Calibri"/>
                <a:cs typeface="Calibri"/>
              </a:rPr>
              <a:t> </a:t>
            </a:r>
            <a:r>
              <a:rPr sz="1000" b="1" spc="130" dirty="0">
                <a:latin typeface="Calibri"/>
                <a:cs typeface="Calibri"/>
              </a:rPr>
              <a:t>Securing</a:t>
            </a:r>
            <a:r>
              <a:rPr sz="1000" b="1" spc="80" dirty="0">
                <a:latin typeface="Calibri"/>
                <a:cs typeface="Calibri"/>
              </a:rPr>
              <a:t> </a:t>
            </a:r>
            <a:r>
              <a:rPr sz="1000" b="1" spc="90" dirty="0">
                <a:latin typeface="Calibri"/>
                <a:cs typeface="Calibri"/>
              </a:rPr>
              <a:t>Progression</a:t>
            </a:r>
            <a:endParaRPr sz="1000">
              <a:latin typeface="Calibri"/>
              <a:cs typeface="Calibri"/>
            </a:endParaRPr>
          </a:p>
          <a:p>
            <a:pPr marL="33655">
              <a:lnSpc>
                <a:spcPct val="100000"/>
              </a:lnSpc>
              <a:spcBef>
                <a:spcPts val="600"/>
              </a:spcBef>
            </a:pPr>
            <a:r>
              <a:rPr sz="1000" dirty="0">
                <a:latin typeface="Century Gothic"/>
                <a:cs typeface="Century Gothic"/>
              </a:rPr>
              <a:t>If</a:t>
            </a:r>
            <a:r>
              <a:rPr sz="1000" spc="55" dirty="0">
                <a:latin typeface="Century Gothic"/>
                <a:cs typeface="Century Gothic"/>
              </a:rPr>
              <a:t> </a:t>
            </a:r>
            <a:r>
              <a:rPr sz="1000" dirty="0">
                <a:latin typeface="Century Gothic"/>
                <a:cs typeface="Century Gothic"/>
              </a:rPr>
              <a:t>the </a:t>
            </a:r>
            <a:r>
              <a:rPr sz="1000" spc="60" dirty="0">
                <a:latin typeface="Century Gothic"/>
                <a:cs typeface="Century Gothic"/>
              </a:rPr>
              <a:t>unit</a:t>
            </a:r>
            <a:r>
              <a:rPr sz="1000" spc="75" dirty="0">
                <a:latin typeface="Century Gothic"/>
                <a:cs typeface="Century Gothic"/>
              </a:rPr>
              <a:t> is</a:t>
            </a:r>
            <a:r>
              <a:rPr sz="1000" spc="55" dirty="0">
                <a:latin typeface="Century Gothic"/>
                <a:cs typeface="Century Gothic"/>
              </a:rPr>
              <a:t> </a:t>
            </a:r>
            <a:r>
              <a:rPr sz="1000" dirty="0">
                <a:latin typeface="Century Gothic"/>
                <a:cs typeface="Century Gothic"/>
              </a:rPr>
              <a:t>sampled</a:t>
            </a:r>
            <a:r>
              <a:rPr sz="1000" spc="45" dirty="0">
                <a:latin typeface="Century Gothic"/>
                <a:cs typeface="Century Gothic"/>
              </a:rPr>
              <a:t> </a:t>
            </a:r>
            <a:r>
              <a:rPr sz="1000" dirty="0">
                <a:latin typeface="Century Gothic"/>
                <a:cs typeface="Century Gothic"/>
              </a:rPr>
              <a:t>by</a:t>
            </a:r>
            <a:r>
              <a:rPr sz="1000" spc="50" dirty="0">
                <a:latin typeface="Century Gothic"/>
                <a:cs typeface="Century Gothic"/>
              </a:rPr>
              <a:t> </a:t>
            </a:r>
            <a:r>
              <a:rPr sz="1000" dirty="0">
                <a:latin typeface="Century Gothic"/>
                <a:cs typeface="Century Gothic"/>
              </a:rPr>
              <a:t>the</a:t>
            </a:r>
            <a:r>
              <a:rPr sz="1000" spc="15" dirty="0">
                <a:latin typeface="Century Gothic"/>
                <a:cs typeface="Century Gothic"/>
              </a:rPr>
              <a:t> </a:t>
            </a:r>
            <a:r>
              <a:rPr sz="1000" dirty="0">
                <a:latin typeface="Century Gothic"/>
                <a:cs typeface="Century Gothic"/>
              </a:rPr>
              <a:t>Internal</a:t>
            </a:r>
            <a:r>
              <a:rPr sz="1000" spc="50" dirty="0">
                <a:latin typeface="Century Gothic"/>
                <a:cs typeface="Century Gothic"/>
              </a:rPr>
              <a:t> </a:t>
            </a:r>
            <a:r>
              <a:rPr sz="1000" dirty="0">
                <a:latin typeface="Century Gothic"/>
                <a:cs typeface="Century Gothic"/>
              </a:rPr>
              <a:t>Verifier,</a:t>
            </a:r>
            <a:r>
              <a:rPr sz="1000" spc="85" dirty="0">
                <a:latin typeface="Century Gothic"/>
                <a:cs typeface="Century Gothic"/>
              </a:rPr>
              <a:t> </a:t>
            </a:r>
            <a:r>
              <a:rPr sz="1000" dirty="0">
                <a:latin typeface="Century Gothic"/>
                <a:cs typeface="Century Gothic"/>
              </a:rPr>
              <a:t>they</a:t>
            </a:r>
            <a:r>
              <a:rPr sz="1000" spc="25" dirty="0">
                <a:latin typeface="Century Gothic"/>
                <a:cs typeface="Century Gothic"/>
              </a:rPr>
              <a:t> </a:t>
            </a:r>
            <a:r>
              <a:rPr sz="1000" spc="55" dirty="0">
                <a:latin typeface="Century Gothic"/>
                <a:cs typeface="Century Gothic"/>
              </a:rPr>
              <a:t>will</a:t>
            </a:r>
            <a:r>
              <a:rPr sz="1000" spc="75" dirty="0">
                <a:latin typeface="Century Gothic"/>
                <a:cs typeface="Century Gothic"/>
              </a:rPr>
              <a:t> </a:t>
            </a:r>
            <a:r>
              <a:rPr sz="1000" spc="55" dirty="0">
                <a:latin typeface="Century Gothic"/>
                <a:cs typeface="Century Gothic"/>
              </a:rPr>
              <a:t>sign</a:t>
            </a:r>
            <a:r>
              <a:rPr sz="1000" spc="30" dirty="0">
                <a:latin typeface="Century Gothic"/>
                <a:cs typeface="Century Gothic"/>
              </a:rPr>
              <a:t> </a:t>
            </a:r>
            <a:r>
              <a:rPr sz="1000" dirty="0">
                <a:latin typeface="Century Gothic"/>
                <a:cs typeface="Century Gothic"/>
              </a:rPr>
              <a:t>to</a:t>
            </a:r>
            <a:r>
              <a:rPr sz="1000" spc="10" dirty="0">
                <a:latin typeface="Century Gothic"/>
                <a:cs typeface="Century Gothic"/>
              </a:rPr>
              <a:t> </a:t>
            </a:r>
            <a:r>
              <a:rPr sz="1000" dirty="0">
                <a:latin typeface="Century Gothic"/>
                <a:cs typeface="Century Gothic"/>
              </a:rPr>
              <a:t>indicate</a:t>
            </a:r>
            <a:r>
              <a:rPr sz="1000" spc="65" dirty="0">
                <a:latin typeface="Century Gothic"/>
                <a:cs typeface="Century Gothic"/>
              </a:rPr>
              <a:t> </a:t>
            </a:r>
            <a:r>
              <a:rPr sz="1000" dirty="0">
                <a:latin typeface="Century Gothic"/>
                <a:cs typeface="Century Gothic"/>
              </a:rPr>
              <a:t>the unit/s</a:t>
            </a:r>
            <a:r>
              <a:rPr sz="1000" spc="65" dirty="0">
                <a:latin typeface="Century Gothic"/>
                <a:cs typeface="Century Gothic"/>
              </a:rPr>
              <a:t> </a:t>
            </a:r>
            <a:r>
              <a:rPr sz="1000" spc="-10" dirty="0">
                <a:latin typeface="Century Gothic"/>
                <a:cs typeface="Century Gothic"/>
              </a:rPr>
              <a:t>sampled.</a:t>
            </a:r>
            <a:endParaRPr sz="1000">
              <a:latin typeface="Century Gothic"/>
              <a:cs typeface="Century Gothic"/>
            </a:endParaRPr>
          </a:p>
          <a:p>
            <a:pPr marL="12700" marR="5080" indent="-635">
              <a:lnSpc>
                <a:spcPct val="100000"/>
              </a:lnSpc>
              <a:spcBef>
                <a:spcPts val="815"/>
              </a:spcBef>
            </a:pPr>
            <a:r>
              <a:rPr sz="1000" spc="50" dirty="0">
                <a:latin typeface="Century Gothic"/>
                <a:cs typeface="Century Gothic"/>
              </a:rPr>
              <a:t>The</a:t>
            </a:r>
            <a:r>
              <a:rPr sz="1000" spc="300" dirty="0">
                <a:latin typeface="Century Gothic"/>
                <a:cs typeface="Century Gothic"/>
              </a:rPr>
              <a:t> </a:t>
            </a:r>
            <a:r>
              <a:rPr sz="1000" dirty="0">
                <a:latin typeface="Century Gothic"/>
                <a:cs typeface="Century Gothic"/>
              </a:rPr>
              <a:t>evidence</a:t>
            </a:r>
            <a:r>
              <a:rPr sz="1000" spc="305" dirty="0">
                <a:latin typeface="Century Gothic"/>
                <a:cs typeface="Century Gothic"/>
              </a:rPr>
              <a:t> </a:t>
            </a:r>
            <a:r>
              <a:rPr sz="1000" dirty="0">
                <a:latin typeface="Century Gothic"/>
                <a:cs typeface="Century Gothic"/>
              </a:rPr>
              <a:t>of</a:t>
            </a:r>
            <a:r>
              <a:rPr sz="1000" spc="305" dirty="0">
                <a:latin typeface="Century Gothic"/>
                <a:cs typeface="Century Gothic"/>
              </a:rPr>
              <a:t> </a:t>
            </a:r>
            <a:r>
              <a:rPr sz="1000" dirty="0">
                <a:latin typeface="Century Gothic"/>
                <a:cs typeface="Century Gothic"/>
              </a:rPr>
              <a:t>learning</a:t>
            </a:r>
            <a:r>
              <a:rPr sz="1000" spc="330" dirty="0">
                <a:latin typeface="Century Gothic"/>
                <a:cs typeface="Century Gothic"/>
              </a:rPr>
              <a:t> </a:t>
            </a:r>
            <a:r>
              <a:rPr sz="1000" dirty="0">
                <a:latin typeface="Century Gothic"/>
                <a:cs typeface="Century Gothic"/>
              </a:rPr>
              <a:t>outcomes</a:t>
            </a:r>
            <a:r>
              <a:rPr sz="1000" spc="300" dirty="0">
                <a:latin typeface="Century Gothic"/>
                <a:cs typeface="Century Gothic"/>
              </a:rPr>
              <a:t> </a:t>
            </a:r>
            <a:r>
              <a:rPr sz="1000" dirty="0">
                <a:latin typeface="Century Gothic"/>
                <a:cs typeface="Century Gothic"/>
              </a:rPr>
              <a:t>presented</a:t>
            </a:r>
            <a:r>
              <a:rPr sz="1000" spc="305" dirty="0">
                <a:latin typeface="Century Gothic"/>
                <a:cs typeface="Century Gothic"/>
              </a:rPr>
              <a:t> </a:t>
            </a:r>
            <a:r>
              <a:rPr sz="1000" dirty="0">
                <a:latin typeface="Century Gothic"/>
                <a:cs typeface="Century Gothic"/>
              </a:rPr>
              <a:t>and</a:t>
            </a:r>
            <a:r>
              <a:rPr sz="1000" spc="305" dirty="0">
                <a:latin typeface="Century Gothic"/>
                <a:cs typeface="Century Gothic"/>
              </a:rPr>
              <a:t> </a:t>
            </a:r>
            <a:r>
              <a:rPr sz="1000" dirty="0">
                <a:latin typeface="Century Gothic"/>
                <a:cs typeface="Century Gothic"/>
              </a:rPr>
              <a:t>assessed</a:t>
            </a:r>
            <a:r>
              <a:rPr sz="1000" spc="280" dirty="0">
                <a:latin typeface="Century Gothic"/>
                <a:cs typeface="Century Gothic"/>
              </a:rPr>
              <a:t> </a:t>
            </a:r>
            <a:r>
              <a:rPr sz="1000" spc="55" dirty="0">
                <a:latin typeface="Century Gothic"/>
                <a:cs typeface="Century Gothic"/>
              </a:rPr>
              <a:t>within</a:t>
            </a:r>
            <a:r>
              <a:rPr sz="1000" spc="315" dirty="0">
                <a:latin typeface="Century Gothic"/>
                <a:cs typeface="Century Gothic"/>
              </a:rPr>
              <a:t> </a:t>
            </a:r>
            <a:r>
              <a:rPr sz="1000" spc="70" dirty="0">
                <a:latin typeface="Century Gothic"/>
                <a:cs typeface="Century Gothic"/>
              </a:rPr>
              <a:t>this</a:t>
            </a:r>
            <a:r>
              <a:rPr sz="1000" spc="310" dirty="0">
                <a:latin typeface="Century Gothic"/>
                <a:cs typeface="Century Gothic"/>
              </a:rPr>
              <a:t> </a:t>
            </a:r>
            <a:r>
              <a:rPr sz="1000" dirty="0">
                <a:latin typeface="Century Gothic"/>
                <a:cs typeface="Century Gothic"/>
              </a:rPr>
              <a:t>portfolio</a:t>
            </a:r>
            <a:r>
              <a:rPr sz="1000" spc="330" dirty="0">
                <a:latin typeface="Century Gothic"/>
                <a:cs typeface="Century Gothic"/>
              </a:rPr>
              <a:t> </a:t>
            </a:r>
            <a:r>
              <a:rPr sz="1000" spc="-25" dirty="0">
                <a:latin typeface="Century Gothic"/>
                <a:cs typeface="Century Gothic"/>
              </a:rPr>
              <a:t>are </a:t>
            </a:r>
            <a:r>
              <a:rPr sz="1000" dirty="0">
                <a:latin typeface="Century Gothic"/>
                <a:cs typeface="Century Gothic"/>
              </a:rPr>
              <a:t>authentic</a:t>
            </a:r>
            <a:r>
              <a:rPr sz="1000" spc="45" dirty="0">
                <a:latin typeface="Century Gothic"/>
                <a:cs typeface="Century Gothic"/>
              </a:rPr>
              <a:t> </a:t>
            </a:r>
            <a:r>
              <a:rPr sz="1000" dirty="0">
                <a:latin typeface="Century Gothic"/>
                <a:cs typeface="Century Gothic"/>
              </a:rPr>
              <a:t>to</a:t>
            </a:r>
            <a:r>
              <a:rPr sz="1000" spc="35" dirty="0">
                <a:latin typeface="Century Gothic"/>
                <a:cs typeface="Century Gothic"/>
              </a:rPr>
              <a:t> </a:t>
            </a:r>
            <a:r>
              <a:rPr sz="1000" dirty="0">
                <a:latin typeface="Century Gothic"/>
                <a:cs typeface="Century Gothic"/>
              </a:rPr>
              <a:t>the</a:t>
            </a:r>
            <a:r>
              <a:rPr sz="1000" spc="30" dirty="0">
                <a:latin typeface="Century Gothic"/>
                <a:cs typeface="Century Gothic"/>
              </a:rPr>
              <a:t> </a:t>
            </a:r>
            <a:r>
              <a:rPr sz="1000" dirty="0">
                <a:latin typeface="Century Gothic"/>
                <a:cs typeface="Century Gothic"/>
              </a:rPr>
              <a:t>learner,</a:t>
            </a:r>
            <a:r>
              <a:rPr sz="1000" spc="65" dirty="0">
                <a:latin typeface="Century Gothic"/>
                <a:cs typeface="Century Gothic"/>
              </a:rPr>
              <a:t> </a:t>
            </a:r>
            <a:r>
              <a:rPr sz="1000" dirty="0">
                <a:latin typeface="Century Gothic"/>
                <a:cs typeface="Century Gothic"/>
              </a:rPr>
              <a:t>sufficient</a:t>
            </a:r>
            <a:r>
              <a:rPr sz="1000" spc="50" dirty="0">
                <a:latin typeface="Century Gothic"/>
                <a:cs typeface="Century Gothic"/>
              </a:rPr>
              <a:t> </a:t>
            </a:r>
            <a:r>
              <a:rPr sz="1000" spc="-20" dirty="0">
                <a:latin typeface="Century Gothic"/>
                <a:cs typeface="Century Gothic"/>
              </a:rPr>
              <a:t>and</a:t>
            </a:r>
            <a:r>
              <a:rPr sz="1000" spc="40" dirty="0">
                <a:latin typeface="Century Gothic"/>
                <a:cs typeface="Century Gothic"/>
              </a:rPr>
              <a:t> </a:t>
            </a:r>
            <a:r>
              <a:rPr sz="1000" dirty="0">
                <a:latin typeface="Century Gothic"/>
                <a:cs typeface="Century Gothic"/>
              </a:rPr>
              <a:t>valid</a:t>
            </a:r>
            <a:r>
              <a:rPr sz="1000" spc="65" dirty="0">
                <a:latin typeface="Century Gothic"/>
                <a:cs typeface="Century Gothic"/>
              </a:rPr>
              <a:t> </a:t>
            </a:r>
            <a:r>
              <a:rPr sz="1000" spc="55" dirty="0">
                <a:latin typeface="Century Gothic"/>
                <a:cs typeface="Century Gothic"/>
              </a:rPr>
              <a:t>in</a:t>
            </a:r>
            <a:r>
              <a:rPr sz="1000" spc="60" dirty="0">
                <a:latin typeface="Century Gothic"/>
                <a:cs typeface="Century Gothic"/>
              </a:rPr>
              <a:t> </a:t>
            </a:r>
            <a:r>
              <a:rPr sz="1000" dirty="0">
                <a:latin typeface="Century Gothic"/>
                <a:cs typeface="Century Gothic"/>
              </a:rPr>
              <a:t>line</a:t>
            </a:r>
            <a:r>
              <a:rPr sz="1000" spc="55" dirty="0">
                <a:latin typeface="Century Gothic"/>
                <a:cs typeface="Century Gothic"/>
              </a:rPr>
              <a:t> </a:t>
            </a:r>
            <a:r>
              <a:rPr sz="1000" spc="60" dirty="0">
                <a:latin typeface="Century Gothic"/>
                <a:cs typeface="Century Gothic"/>
              </a:rPr>
              <a:t>with</a:t>
            </a:r>
            <a:r>
              <a:rPr sz="1000" spc="40" dirty="0">
                <a:latin typeface="Century Gothic"/>
                <a:cs typeface="Century Gothic"/>
              </a:rPr>
              <a:t> </a:t>
            </a:r>
            <a:r>
              <a:rPr sz="1000" dirty="0">
                <a:latin typeface="Century Gothic"/>
                <a:cs typeface="Century Gothic"/>
              </a:rPr>
              <a:t>Awarding</a:t>
            </a:r>
            <a:r>
              <a:rPr sz="1000" spc="60" dirty="0">
                <a:latin typeface="Century Gothic"/>
                <a:cs typeface="Century Gothic"/>
              </a:rPr>
              <a:t> </a:t>
            </a:r>
            <a:r>
              <a:rPr sz="1000" dirty="0">
                <a:latin typeface="Century Gothic"/>
                <a:cs typeface="Century Gothic"/>
              </a:rPr>
              <a:t>Body</a:t>
            </a:r>
            <a:r>
              <a:rPr sz="1000" spc="30" dirty="0">
                <a:latin typeface="Century Gothic"/>
                <a:cs typeface="Century Gothic"/>
              </a:rPr>
              <a:t> </a:t>
            </a:r>
            <a:r>
              <a:rPr sz="1000" spc="50" dirty="0">
                <a:latin typeface="Century Gothic"/>
                <a:cs typeface="Century Gothic"/>
              </a:rPr>
              <a:t>Assessment</a:t>
            </a:r>
            <a:r>
              <a:rPr sz="1000" spc="10" dirty="0">
                <a:latin typeface="Century Gothic"/>
                <a:cs typeface="Century Gothic"/>
              </a:rPr>
              <a:t> </a:t>
            </a:r>
            <a:r>
              <a:rPr sz="1000" spc="-10" dirty="0">
                <a:latin typeface="Century Gothic"/>
                <a:cs typeface="Century Gothic"/>
              </a:rPr>
              <a:t>Criteria.</a:t>
            </a:r>
            <a:endParaRPr sz="1000">
              <a:latin typeface="Century Gothic"/>
              <a:cs typeface="Century Gothic"/>
            </a:endParaRPr>
          </a:p>
        </p:txBody>
      </p:sp>
      <p:pic>
        <p:nvPicPr>
          <p:cNvPr id="10" name="object 10" descr="A close up of a sign  Description automatically generated"/>
          <p:cNvPicPr/>
          <p:nvPr/>
        </p:nvPicPr>
        <p:blipFill>
          <a:blip r:embed="rId3" cstate="print"/>
          <a:stretch>
            <a:fillRect/>
          </a:stretch>
        </p:blipFill>
        <p:spPr>
          <a:xfrm>
            <a:off x="5715000" y="413004"/>
            <a:ext cx="886967" cy="539495"/>
          </a:xfrm>
          <a:prstGeom prst="rect">
            <a:avLst/>
          </a:prstGeom>
        </p:spPr>
      </p:pic>
      <p:graphicFrame>
        <p:nvGraphicFramePr>
          <p:cNvPr id="11" name="object 11"/>
          <p:cNvGraphicFramePr>
            <a:graphicFrameLocks noGrp="1"/>
          </p:cNvGraphicFramePr>
          <p:nvPr/>
        </p:nvGraphicFramePr>
        <p:xfrm>
          <a:off x="241631" y="2025426"/>
          <a:ext cx="6367779" cy="1578610"/>
        </p:xfrm>
        <a:graphic>
          <a:graphicData uri="http://schemas.openxmlformats.org/drawingml/2006/table">
            <a:tbl>
              <a:tblPr firstRow="1" bandRow="1">
                <a:tableStyleId>{2D5ABB26-0587-4C30-8999-92F81FD0307C}</a:tableStyleId>
              </a:tblPr>
              <a:tblGrid>
                <a:gridCol w="1591945">
                  <a:extLst>
                    <a:ext uri="{9D8B030D-6E8A-4147-A177-3AD203B41FA5}">
                      <a16:colId xmlns:a16="http://schemas.microsoft.com/office/drawing/2014/main" val="20000"/>
                    </a:ext>
                  </a:extLst>
                </a:gridCol>
                <a:gridCol w="2110739">
                  <a:extLst>
                    <a:ext uri="{9D8B030D-6E8A-4147-A177-3AD203B41FA5}">
                      <a16:colId xmlns:a16="http://schemas.microsoft.com/office/drawing/2014/main" val="20001"/>
                    </a:ext>
                  </a:extLst>
                </a:gridCol>
                <a:gridCol w="1073150">
                  <a:extLst>
                    <a:ext uri="{9D8B030D-6E8A-4147-A177-3AD203B41FA5}">
                      <a16:colId xmlns:a16="http://schemas.microsoft.com/office/drawing/2014/main" val="20002"/>
                    </a:ext>
                  </a:extLst>
                </a:gridCol>
                <a:gridCol w="1591945">
                  <a:extLst>
                    <a:ext uri="{9D8B030D-6E8A-4147-A177-3AD203B41FA5}">
                      <a16:colId xmlns:a16="http://schemas.microsoft.com/office/drawing/2014/main" val="20003"/>
                    </a:ext>
                  </a:extLst>
                </a:gridCol>
              </a:tblGrid>
              <a:tr h="316865">
                <a:tc>
                  <a:txBody>
                    <a:bodyPr/>
                    <a:lstStyle/>
                    <a:p>
                      <a:pPr marL="635" algn="ctr">
                        <a:lnSpc>
                          <a:spcPct val="100000"/>
                        </a:lnSpc>
                        <a:spcBef>
                          <a:spcPts val="310"/>
                        </a:spcBef>
                      </a:pPr>
                      <a:r>
                        <a:rPr sz="900" spc="55" dirty="0">
                          <a:latin typeface="Century Gothic"/>
                          <a:cs typeface="Century Gothic"/>
                        </a:rPr>
                        <a:t>Unit</a:t>
                      </a:r>
                      <a:endParaRPr sz="900">
                        <a:latin typeface="Century Gothic"/>
                        <a:cs typeface="Century Gothic"/>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sz="900" spc="70" dirty="0">
                          <a:latin typeface="Century Gothic"/>
                          <a:cs typeface="Century Gothic"/>
                        </a:rPr>
                        <a:t>Unit</a:t>
                      </a:r>
                      <a:r>
                        <a:rPr sz="900" dirty="0">
                          <a:latin typeface="Century Gothic"/>
                          <a:cs typeface="Century Gothic"/>
                        </a:rPr>
                        <a:t> </a:t>
                      </a:r>
                      <a:r>
                        <a:rPr sz="900" spc="-10" dirty="0">
                          <a:latin typeface="Century Gothic"/>
                          <a:cs typeface="Century Gothic"/>
                        </a:rPr>
                        <a:t>Title</a:t>
                      </a:r>
                      <a:endParaRPr sz="900">
                        <a:latin typeface="Century Gothic"/>
                        <a:cs typeface="Century Gothic"/>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05740">
                        <a:lnSpc>
                          <a:spcPct val="100000"/>
                        </a:lnSpc>
                        <a:spcBef>
                          <a:spcPts val="310"/>
                        </a:spcBef>
                      </a:pPr>
                      <a:r>
                        <a:rPr sz="900" dirty="0">
                          <a:latin typeface="Century Gothic"/>
                          <a:cs typeface="Century Gothic"/>
                        </a:rPr>
                        <a:t>IV</a:t>
                      </a:r>
                      <a:r>
                        <a:rPr sz="900" spc="40" dirty="0">
                          <a:latin typeface="Century Gothic"/>
                          <a:cs typeface="Century Gothic"/>
                        </a:rPr>
                        <a:t> </a:t>
                      </a:r>
                      <a:r>
                        <a:rPr sz="900" spc="-10" dirty="0">
                          <a:latin typeface="Century Gothic"/>
                          <a:cs typeface="Century Gothic"/>
                        </a:rPr>
                        <a:t>Sampled</a:t>
                      </a:r>
                      <a:endParaRPr sz="900">
                        <a:latin typeface="Century Gothic"/>
                        <a:cs typeface="Century Gothic"/>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85445">
                        <a:lnSpc>
                          <a:spcPct val="100000"/>
                        </a:lnSpc>
                        <a:spcBef>
                          <a:spcPts val="310"/>
                        </a:spcBef>
                      </a:pPr>
                      <a:r>
                        <a:rPr sz="900" dirty="0">
                          <a:latin typeface="Century Gothic"/>
                          <a:cs typeface="Century Gothic"/>
                        </a:rPr>
                        <a:t>Date</a:t>
                      </a:r>
                      <a:r>
                        <a:rPr sz="900" spc="-50" dirty="0">
                          <a:latin typeface="Century Gothic"/>
                          <a:cs typeface="Century Gothic"/>
                        </a:rPr>
                        <a:t> </a:t>
                      </a:r>
                      <a:r>
                        <a:rPr sz="900" spc="-10" dirty="0">
                          <a:latin typeface="Century Gothic"/>
                          <a:cs typeface="Century Gothic"/>
                        </a:rPr>
                        <a:t>Sampled</a:t>
                      </a:r>
                      <a:endParaRPr sz="900">
                        <a:latin typeface="Century Gothic"/>
                        <a:cs typeface="Century Gothic"/>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91160">
                <a:tc>
                  <a:txBody>
                    <a:bodyPr/>
                    <a:lstStyle/>
                    <a:p>
                      <a:pPr algn="ctr">
                        <a:lnSpc>
                          <a:spcPct val="100000"/>
                        </a:lnSpc>
                        <a:spcBef>
                          <a:spcPts val="310"/>
                        </a:spcBef>
                      </a:pPr>
                      <a:r>
                        <a:rPr sz="900" spc="-50" dirty="0">
                          <a:latin typeface="Century Gothic"/>
                          <a:cs typeface="Century Gothic"/>
                        </a:rPr>
                        <a:t>A</a:t>
                      </a:r>
                      <a:endParaRPr sz="900">
                        <a:latin typeface="Century Gothic"/>
                        <a:cs typeface="Century Gothic"/>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10"/>
                        </a:spcBef>
                      </a:pPr>
                      <a:r>
                        <a:rPr sz="900" dirty="0">
                          <a:latin typeface="Century Gothic"/>
                          <a:cs typeface="Century Gothic"/>
                        </a:rPr>
                        <a:t>Identify</a:t>
                      </a:r>
                      <a:r>
                        <a:rPr sz="900" spc="160" dirty="0">
                          <a:latin typeface="Century Gothic"/>
                          <a:cs typeface="Century Gothic"/>
                        </a:rPr>
                        <a:t> </a:t>
                      </a:r>
                      <a:r>
                        <a:rPr sz="900" dirty="0">
                          <a:latin typeface="Century Gothic"/>
                          <a:cs typeface="Century Gothic"/>
                        </a:rPr>
                        <a:t>Suitable</a:t>
                      </a:r>
                      <a:r>
                        <a:rPr sz="900" spc="150" dirty="0">
                          <a:latin typeface="Century Gothic"/>
                          <a:cs typeface="Century Gothic"/>
                        </a:rPr>
                        <a:t> </a:t>
                      </a:r>
                      <a:r>
                        <a:rPr sz="900" spc="-10" dirty="0">
                          <a:latin typeface="Century Gothic"/>
                          <a:cs typeface="Century Gothic"/>
                        </a:rPr>
                        <a:t>Opportunities</a:t>
                      </a:r>
                      <a:endParaRPr sz="900">
                        <a:latin typeface="Century Gothic"/>
                        <a:cs typeface="Century Gothic"/>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91160">
                <a:tc>
                  <a:txBody>
                    <a:bodyPr/>
                    <a:lstStyle/>
                    <a:p>
                      <a:pPr algn="ctr">
                        <a:lnSpc>
                          <a:spcPct val="100000"/>
                        </a:lnSpc>
                        <a:spcBef>
                          <a:spcPts val="310"/>
                        </a:spcBef>
                      </a:pPr>
                      <a:r>
                        <a:rPr sz="900" spc="110" dirty="0">
                          <a:latin typeface="Century Gothic"/>
                          <a:cs typeface="Century Gothic"/>
                        </a:rPr>
                        <a:t>B</a:t>
                      </a:r>
                      <a:endParaRPr sz="900">
                        <a:latin typeface="Century Gothic"/>
                        <a:cs typeface="Century Gothic"/>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10"/>
                        </a:spcBef>
                      </a:pPr>
                      <a:r>
                        <a:rPr sz="900" dirty="0">
                          <a:latin typeface="Century Gothic"/>
                          <a:cs typeface="Century Gothic"/>
                        </a:rPr>
                        <a:t>Apply</a:t>
                      </a:r>
                      <a:r>
                        <a:rPr sz="900" spc="20" dirty="0">
                          <a:latin typeface="Century Gothic"/>
                          <a:cs typeface="Century Gothic"/>
                        </a:rPr>
                        <a:t> </a:t>
                      </a:r>
                      <a:r>
                        <a:rPr sz="900" dirty="0">
                          <a:latin typeface="Century Gothic"/>
                          <a:cs typeface="Century Gothic"/>
                        </a:rPr>
                        <a:t>for</a:t>
                      </a:r>
                      <a:r>
                        <a:rPr sz="900" spc="35" dirty="0">
                          <a:latin typeface="Century Gothic"/>
                          <a:cs typeface="Century Gothic"/>
                        </a:rPr>
                        <a:t> </a:t>
                      </a:r>
                      <a:r>
                        <a:rPr sz="900" spc="-10" dirty="0">
                          <a:latin typeface="Century Gothic"/>
                          <a:cs typeface="Century Gothic"/>
                        </a:rPr>
                        <a:t>Opportunities</a:t>
                      </a:r>
                      <a:endParaRPr sz="900">
                        <a:latin typeface="Century Gothic"/>
                        <a:cs typeface="Century Gothic"/>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79425">
                <a:tc>
                  <a:txBody>
                    <a:bodyPr/>
                    <a:lstStyle/>
                    <a:p>
                      <a:pPr algn="ctr">
                        <a:lnSpc>
                          <a:spcPct val="100000"/>
                        </a:lnSpc>
                        <a:spcBef>
                          <a:spcPts val="310"/>
                        </a:spcBef>
                      </a:pPr>
                      <a:r>
                        <a:rPr sz="900" spc="-50" dirty="0">
                          <a:latin typeface="Century Gothic"/>
                          <a:cs typeface="Century Gothic"/>
                        </a:rPr>
                        <a:t>C</a:t>
                      </a:r>
                      <a:endParaRPr sz="900">
                        <a:latin typeface="Century Gothic"/>
                        <a:cs typeface="Century Gothic"/>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marR="504190">
                        <a:lnSpc>
                          <a:spcPct val="100000"/>
                        </a:lnSpc>
                        <a:spcBef>
                          <a:spcPts val="310"/>
                        </a:spcBef>
                      </a:pPr>
                      <a:r>
                        <a:rPr sz="900" dirty="0">
                          <a:latin typeface="Century Gothic"/>
                          <a:cs typeface="Century Gothic"/>
                        </a:rPr>
                        <a:t>Participation</a:t>
                      </a:r>
                      <a:r>
                        <a:rPr sz="900" spc="225" dirty="0">
                          <a:latin typeface="Century Gothic"/>
                          <a:cs typeface="Century Gothic"/>
                        </a:rPr>
                        <a:t> </a:t>
                      </a:r>
                      <a:r>
                        <a:rPr sz="900" spc="-10" dirty="0">
                          <a:latin typeface="Century Gothic"/>
                          <a:cs typeface="Century Gothic"/>
                        </a:rPr>
                        <a:t>Personal </a:t>
                      </a:r>
                      <a:r>
                        <a:rPr sz="900" spc="10" dirty="0">
                          <a:latin typeface="Century Gothic"/>
                          <a:cs typeface="Century Gothic"/>
                        </a:rPr>
                        <a:t>Behaviours</a:t>
                      </a:r>
                      <a:r>
                        <a:rPr sz="900" spc="55" dirty="0">
                          <a:latin typeface="Century Gothic"/>
                          <a:cs typeface="Century Gothic"/>
                        </a:rPr>
                        <a:t> </a:t>
                      </a:r>
                      <a:r>
                        <a:rPr sz="900" dirty="0">
                          <a:latin typeface="Century Gothic"/>
                          <a:cs typeface="Century Gothic"/>
                        </a:rPr>
                        <a:t>and</a:t>
                      </a:r>
                      <a:r>
                        <a:rPr sz="900" spc="70" dirty="0">
                          <a:latin typeface="Century Gothic"/>
                          <a:cs typeface="Century Gothic"/>
                        </a:rPr>
                        <a:t> </a:t>
                      </a:r>
                      <a:r>
                        <a:rPr sz="900" spc="-10" dirty="0">
                          <a:latin typeface="Century Gothic"/>
                          <a:cs typeface="Century Gothic"/>
                        </a:rPr>
                        <a:t>Standards</a:t>
                      </a:r>
                      <a:endParaRPr sz="900">
                        <a:latin typeface="Century Gothic"/>
                        <a:cs typeface="Century Gothic"/>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12" name="object 12"/>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13" name="object 13"/>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3</a:t>
            </a:fld>
            <a:endParaRPr spc="-25" dirty="0"/>
          </a:p>
        </p:txBody>
      </p:sp>
      <p:sp>
        <p:nvSpPr>
          <p:cNvPr id="16" name="TextBox 15">
            <a:extLst>
              <a:ext uri="{FF2B5EF4-FFF2-40B4-BE49-F238E27FC236}">
                <a16:creationId xmlns:a16="http://schemas.microsoft.com/office/drawing/2014/main" id="{CB60E93F-0356-94AF-0C5C-5E7C8785D46E}"/>
              </a:ext>
            </a:extLst>
          </p:cNvPr>
          <p:cNvSpPr txBox="1"/>
          <p:nvPr/>
        </p:nvSpPr>
        <p:spPr>
          <a:xfrm>
            <a:off x="1449773" y="4050330"/>
            <a:ext cx="3807288" cy="395282"/>
          </a:xfrm>
          <a:prstGeom prst="rect">
            <a:avLst/>
          </a:prstGeom>
          <a:noFill/>
          <a:ln>
            <a:solidFill>
              <a:schemeClr val="tx1"/>
            </a:solidFill>
          </a:ln>
        </p:spPr>
        <p:txBody>
          <a:bodyPr wrap="square" rtlCol="0">
            <a:spAutoFit/>
          </a:bodyPr>
          <a:lstStyle/>
          <a:p>
            <a:endParaRPr lang="en-GB" dirty="0"/>
          </a:p>
        </p:txBody>
      </p:sp>
      <p:sp>
        <p:nvSpPr>
          <p:cNvPr id="17" name="TextBox 16">
            <a:extLst>
              <a:ext uri="{FF2B5EF4-FFF2-40B4-BE49-F238E27FC236}">
                <a16:creationId xmlns:a16="http://schemas.microsoft.com/office/drawing/2014/main" id="{D750B8BA-92CA-2A0C-9884-E464BE7721C1}"/>
              </a:ext>
            </a:extLst>
          </p:cNvPr>
          <p:cNvSpPr txBox="1"/>
          <p:nvPr/>
        </p:nvSpPr>
        <p:spPr>
          <a:xfrm>
            <a:off x="4015332" y="2352449"/>
            <a:ext cx="937668" cy="314551"/>
          </a:xfrm>
          <a:prstGeom prst="rect">
            <a:avLst/>
          </a:prstGeom>
          <a:noFill/>
          <a:ln>
            <a:solidFill>
              <a:schemeClr val="tx1"/>
            </a:solidFill>
          </a:ln>
        </p:spPr>
        <p:txBody>
          <a:bodyPr wrap="square" rtlCol="0">
            <a:spAutoFit/>
          </a:bodyPr>
          <a:lstStyle/>
          <a:p>
            <a:endParaRPr lang="en-GB" dirty="0"/>
          </a:p>
        </p:txBody>
      </p:sp>
      <p:sp>
        <p:nvSpPr>
          <p:cNvPr id="18" name="TextBox 17">
            <a:extLst>
              <a:ext uri="{FF2B5EF4-FFF2-40B4-BE49-F238E27FC236}">
                <a16:creationId xmlns:a16="http://schemas.microsoft.com/office/drawing/2014/main" id="{1FACE668-515E-AF08-5532-5152F333E80D}"/>
              </a:ext>
            </a:extLst>
          </p:cNvPr>
          <p:cNvSpPr txBox="1"/>
          <p:nvPr/>
        </p:nvSpPr>
        <p:spPr>
          <a:xfrm>
            <a:off x="4015332" y="2774568"/>
            <a:ext cx="937668" cy="314551"/>
          </a:xfrm>
          <a:prstGeom prst="rect">
            <a:avLst/>
          </a:prstGeom>
          <a:noFill/>
          <a:ln>
            <a:solidFill>
              <a:schemeClr val="tx1"/>
            </a:solidFill>
          </a:ln>
        </p:spPr>
        <p:txBody>
          <a:bodyPr wrap="square" rtlCol="0">
            <a:spAutoFit/>
          </a:bodyPr>
          <a:lstStyle/>
          <a:p>
            <a:endParaRPr lang="en-GB" dirty="0"/>
          </a:p>
        </p:txBody>
      </p:sp>
      <p:sp>
        <p:nvSpPr>
          <p:cNvPr id="19" name="TextBox 18">
            <a:extLst>
              <a:ext uri="{FF2B5EF4-FFF2-40B4-BE49-F238E27FC236}">
                <a16:creationId xmlns:a16="http://schemas.microsoft.com/office/drawing/2014/main" id="{CBC887D9-6A40-F12B-1AD3-0720F0926892}"/>
              </a:ext>
            </a:extLst>
          </p:cNvPr>
          <p:cNvSpPr txBox="1"/>
          <p:nvPr/>
        </p:nvSpPr>
        <p:spPr>
          <a:xfrm>
            <a:off x="3989932" y="3181785"/>
            <a:ext cx="937668" cy="314551"/>
          </a:xfrm>
          <a:prstGeom prst="rect">
            <a:avLst/>
          </a:prstGeom>
          <a:noFill/>
          <a:ln>
            <a:solidFill>
              <a:schemeClr val="tx1"/>
            </a:solidFill>
          </a:ln>
        </p:spPr>
        <p:txBody>
          <a:bodyPr wrap="square" rtlCol="0">
            <a:spAutoFit/>
          </a:bodyPr>
          <a:lstStyle/>
          <a:p>
            <a:endParaRPr lang="en-GB" dirty="0"/>
          </a:p>
        </p:txBody>
      </p:sp>
      <p:sp>
        <p:nvSpPr>
          <p:cNvPr id="20" name="TextBox 19">
            <a:extLst>
              <a:ext uri="{FF2B5EF4-FFF2-40B4-BE49-F238E27FC236}">
                <a16:creationId xmlns:a16="http://schemas.microsoft.com/office/drawing/2014/main" id="{106C878D-0860-AB5A-555C-3CDCF44BEC38}"/>
              </a:ext>
            </a:extLst>
          </p:cNvPr>
          <p:cNvSpPr txBox="1"/>
          <p:nvPr/>
        </p:nvSpPr>
        <p:spPr>
          <a:xfrm>
            <a:off x="5274271" y="2385673"/>
            <a:ext cx="937668" cy="314551"/>
          </a:xfrm>
          <a:prstGeom prst="rect">
            <a:avLst/>
          </a:prstGeom>
          <a:noFill/>
          <a:ln>
            <a:solidFill>
              <a:schemeClr val="tx1"/>
            </a:solidFill>
          </a:ln>
        </p:spPr>
        <p:txBody>
          <a:bodyPr wrap="square" rtlCol="0">
            <a:spAutoFit/>
          </a:bodyPr>
          <a:lstStyle/>
          <a:p>
            <a:endParaRPr lang="en-GB" dirty="0"/>
          </a:p>
        </p:txBody>
      </p:sp>
      <p:sp>
        <p:nvSpPr>
          <p:cNvPr id="21" name="TextBox 20">
            <a:extLst>
              <a:ext uri="{FF2B5EF4-FFF2-40B4-BE49-F238E27FC236}">
                <a16:creationId xmlns:a16="http://schemas.microsoft.com/office/drawing/2014/main" id="{B50FBE09-FCF6-7A2F-0E36-B94B6CD67B0B}"/>
              </a:ext>
            </a:extLst>
          </p:cNvPr>
          <p:cNvSpPr txBox="1"/>
          <p:nvPr/>
        </p:nvSpPr>
        <p:spPr>
          <a:xfrm>
            <a:off x="5274271" y="2807792"/>
            <a:ext cx="937668" cy="314551"/>
          </a:xfrm>
          <a:prstGeom prst="rect">
            <a:avLst/>
          </a:prstGeom>
          <a:noFill/>
          <a:ln>
            <a:solidFill>
              <a:schemeClr val="tx1"/>
            </a:solidFill>
          </a:ln>
        </p:spPr>
        <p:txBody>
          <a:bodyPr wrap="square" rtlCol="0">
            <a:spAutoFit/>
          </a:bodyPr>
          <a:lstStyle/>
          <a:p>
            <a:endParaRPr lang="en-GB" dirty="0"/>
          </a:p>
        </p:txBody>
      </p:sp>
      <p:sp>
        <p:nvSpPr>
          <p:cNvPr id="22" name="TextBox 21">
            <a:extLst>
              <a:ext uri="{FF2B5EF4-FFF2-40B4-BE49-F238E27FC236}">
                <a16:creationId xmlns:a16="http://schemas.microsoft.com/office/drawing/2014/main" id="{13A798FF-4216-73C1-C17B-0660BFDE05CB}"/>
              </a:ext>
            </a:extLst>
          </p:cNvPr>
          <p:cNvSpPr txBox="1"/>
          <p:nvPr/>
        </p:nvSpPr>
        <p:spPr>
          <a:xfrm>
            <a:off x="5248871" y="3215009"/>
            <a:ext cx="937668" cy="314551"/>
          </a:xfrm>
          <a:prstGeom prst="rect">
            <a:avLst/>
          </a:prstGeom>
          <a:noFill/>
          <a:ln>
            <a:solidFill>
              <a:schemeClr val="tx1"/>
            </a:solidFill>
          </a:ln>
        </p:spPr>
        <p:txBody>
          <a:bodyPr wrap="square" rtlCol="0">
            <a:spAutoFit/>
          </a:bodyPr>
          <a:lstStyle/>
          <a:p>
            <a:endParaRPr lang="en-GB" dirty="0"/>
          </a:p>
        </p:txBody>
      </p:sp>
      <p:sp>
        <p:nvSpPr>
          <p:cNvPr id="23" name="TextBox 22">
            <a:extLst>
              <a:ext uri="{FF2B5EF4-FFF2-40B4-BE49-F238E27FC236}">
                <a16:creationId xmlns:a16="http://schemas.microsoft.com/office/drawing/2014/main" id="{130087D6-D385-B28B-D09A-8606047721DD}"/>
              </a:ext>
            </a:extLst>
          </p:cNvPr>
          <p:cNvSpPr txBox="1"/>
          <p:nvPr/>
        </p:nvSpPr>
        <p:spPr>
          <a:xfrm>
            <a:off x="2036227" y="5815111"/>
            <a:ext cx="1697573" cy="330543"/>
          </a:xfrm>
          <a:prstGeom prst="rect">
            <a:avLst/>
          </a:prstGeom>
          <a:noFill/>
          <a:ln>
            <a:solidFill>
              <a:schemeClr val="tx1"/>
            </a:solidFill>
          </a:ln>
        </p:spPr>
        <p:txBody>
          <a:bodyPr wrap="square" rtlCol="0">
            <a:spAutoFit/>
          </a:bodyPr>
          <a:lstStyle/>
          <a:p>
            <a:endParaRPr lang="en-GB" dirty="0"/>
          </a:p>
        </p:txBody>
      </p:sp>
      <p:sp>
        <p:nvSpPr>
          <p:cNvPr id="24" name="TextBox 23">
            <a:extLst>
              <a:ext uri="{FF2B5EF4-FFF2-40B4-BE49-F238E27FC236}">
                <a16:creationId xmlns:a16="http://schemas.microsoft.com/office/drawing/2014/main" id="{C837AD00-2A2E-BC9E-6D66-D8C9EB99A5AD}"/>
              </a:ext>
            </a:extLst>
          </p:cNvPr>
          <p:cNvSpPr txBox="1"/>
          <p:nvPr/>
        </p:nvSpPr>
        <p:spPr>
          <a:xfrm>
            <a:off x="2036227" y="6484945"/>
            <a:ext cx="1697573" cy="330543"/>
          </a:xfrm>
          <a:prstGeom prst="rect">
            <a:avLst/>
          </a:prstGeom>
          <a:noFill/>
          <a:ln>
            <a:solidFill>
              <a:schemeClr val="tx1"/>
            </a:solidFill>
          </a:ln>
        </p:spPr>
        <p:txBody>
          <a:bodyPr wrap="square" rtlCol="0">
            <a:spAutoFit/>
          </a:bodyPr>
          <a:lstStyle/>
          <a:p>
            <a:endParaRPr lang="en-GB" dirty="0"/>
          </a:p>
        </p:txBody>
      </p:sp>
      <p:sp>
        <p:nvSpPr>
          <p:cNvPr id="25" name="TextBox 24">
            <a:extLst>
              <a:ext uri="{FF2B5EF4-FFF2-40B4-BE49-F238E27FC236}">
                <a16:creationId xmlns:a16="http://schemas.microsoft.com/office/drawing/2014/main" id="{2B4862D7-5998-EA9B-89B2-DC169A4EA465}"/>
              </a:ext>
            </a:extLst>
          </p:cNvPr>
          <p:cNvSpPr txBox="1"/>
          <p:nvPr/>
        </p:nvSpPr>
        <p:spPr>
          <a:xfrm>
            <a:off x="4488966" y="5764169"/>
            <a:ext cx="1697573" cy="330543"/>
          </a:xfrm>
          <a:prstGeom prst="rect">
            <a:avLst/>
          </a:prstGeom>
          <a:noFill/>
          <a:ln>
            <a:solidFill>
              <a:schemeClr val="tx1"/>
            </a:solidFill>
          </a:ln>
        </p:spPr>
        <p:txBody>
          <a:bodyPr wrap="square" rtlCol="0">
            <a:spAutoFit/>
          </a:bodyPr>
          <a:lstStyle/>
          <a:p>
            <a:endParaRPr lang="en-GB" dirty="0"/>
          </a:p>
        </p:txBody>
      </p:sp>
      <p:sp>
        <p:nvSpPr>
          <p:cNvPr id="26" name="TextBox 25">
            <a:extLst>
              <a:ext uri="{FF2B5EF4-FFF2-40B4-BE49-F238E27FC236}">
                <a16:creationId xmlns:a16="http://schemas.microsoft.com/office/drawing/2014/main" id="{8BC1AEE4-691F-DBBA-364D-781EDCC1C3BE}"/>
              </a:ext>
            </a:extLst>
          </p:cNvPr>
          <p:cNvSpPr txBox="1"/>
          <p:nvPr/>
        </p:nvSpPr>
        <p:spPr>
          <a:xfrm>
            <a:off x="4488966" y="6434003"/>
            <a:ext cx="1697573" cy="330543"/>
          </a:xfrm>
          <a:prstGeom prst="rect">
            <a:avLst/>
          </a:prstGeom>
          <a:noFill/>
          <a:ln>
            <a:solidFill>
              <a:schemeClr val="tx1"/>
            </a:solidFill>
          </a:ln>
        </p:spPr>
        <p:txBody>
          <a:bodyPr wrap="square" rtlCol="0">
            <a:spAutoFit/>
          </a:bodyPr>
          <a:lstStyle/>
          <a:p>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63698" y="4328642"/>
            <a:ext cx="2520315" cy="1426210"/>
          </a:xfrm>
          <a:prstGeom prst="rect">
            <a:avLst/>
          </a:prstGeom>
        </p:spPr>
        <p:txBody>
          <a:bodyPr vert="horz" wrap="square" lIns="0" tIns="12700" rIns="0" bIns="0" rtlCol="0">
            <a:spAutoFit/>
          </a:bodyPr>
          <a:lstStyle/>
          <a:p>
            <a:pPr algn="ctr">
              <a:lnSpc>
                <a:spcPct val="100000"/>
              </a:lnSpc>
              <a:spcBef>
                <a:spcPts val="100"/>
              </a:spcBef>
            </a:pPr>
            <a:r>
              <a:rPr sz="2400" spc="240" dirty="0">
                <a:latin typeface="Calibri"/>
                <a:cs typeface="Calibri"/>
              </a:rPr>
              <a:t>Unit</a:t>
            </a:r>
            <a:r>
              <a:rPr sz="2400" spc="80" dirty="0">
                <a:latin typeface="Calibri"/>
                <a:cs typeface="Calibri"/>
              </a:rPr>
              <a:t> </a:t>
            </a:r>
            <a:r>
              <a:rPr sz="2400" spc="280" dirty="0">
                <a:latin typeface="Calibri"/>
                <a:cs typeface="Calibri"/>
              </a:rPr>
              <a:t>A</a:t>
            </a:r>
            <a:endParaRPr sz="2400">
              <a:latin typeface="Calibri"/>
              <a:cs typeface="Calibri"/>
            </a:endParaRPr>
          </a:p>
          <a:p>
            <a:pPr marL="12065" marR="5080" algn="ctr">
              <a:lnSpc>
                <a:spcPct val="100000"/>
              </a:lnSpc>
              <a:spcBef>
                <a:spcPts val="2395"/>
              </a:spcBef>
            </a:pPr>
            <a:r>
              <a:rPr sz="2400" spc="204" dirty="0">
                <a:latin typeface="Calibri"/>
                <a:cs typeface="Calibri"/>
              </a:rPr>
              <a:t>Identify</a:t>
            </a:r>
            <a:r>
              <a:rPr sz="2400" spc="65" dirty="0">
                <a:latin typeface="Calibri"/>
                <a:cs typeface="Calibri"/>
              </a:rPr>
              <a:t> </a:t>
            </a:r>
            <a:r>
              <a:rPr sz="2400" spc="235" dirty="0">
                <a:latin typeface="Calibri"/>
                <a:cs typeface="Calibri"/>
              </a:rPr>
              <a:t>Suitable </a:t>
            </a:r>
            <a:r>
              <a:rPr sz="2400" spc="240" dirty="0">
                <a:latin typeface="Calibri"/>
                <a:cs typeface="Calibri"/>
              </a:rPr>
              <a:t>Opportunities</a:t>
            </a:r>
            <a:endParaRPr sz="2400">
              <a:latin typeface="Calibri"/>
              <a:cs typeface="Calibri"/>
            </a:endParaRPr>
          </a:p>
        </p:txBody>
      </p:sp>
      <p:pic>
        <p:nvPicPr>
          <p:cNvPr id="3" name="object 3"/>
          <p:cNvPicPr/>
          <p:nvPr/>
        </p:nvPicPr>
        <p:blipFill>
          <a:blip r:embed="rId2" cstate="print"/>
          <a:stretch>
            <a:fillRect/>
          </a:stretch>
        </p:blipFill>
        <p:spPr>
          <a:xfrm>
            <a:off x="2081783" y="1641348"/>
            <a:ext cx="2694431" cy="1220698"/>
          </a:xfrm>
          <a:prstGeom prst="rect">
            <a:avLst/>
          </a:prstGeom>
        </p:spPr>
      </p:pic>
      <p:sp>
        <p:nvSpPr>
          <p:cNvPr id="4" name="object 4"/>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5" name="object 5"/>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4</a:t>
            </a:fld>
            <a:endParaRPr spc="-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A close up of a sign  Description automatically generated"/>
          <p:cNvPicPr/>
          <p:nvPr/>
        </p:nvPicPr>
        <p:blipFill>
          <a:blip r:embed="rId2" cstate="print"/>
          <a:stretch>
            <a:fillRect/>
          </a:stretch>
        </p:blipFill>
        <p:spPr>
          <a:xfrm>
            <a:off x="5635752" y="452628"/>
            <a:ext cx="888491" cy="539495"/>
          </a:xfrm>
          <a:prstGeom prst="rect">
            <a:avLst/>
          </a:prstGeom>
        </p:spPr>
      </p:pic>
      <p:sp>
        <p:nvSpPr>
          <p:cNvPr id="3" name="object 3"/>
          <p:cNvSpPr txBox="1"/>
          <p:nvPr/>
        </p:nvSpPr>
        <p:spPr>
          <a:xfrm>
            <a:off x="596562" y="1783321"/>
            <a:ext cx="5680075" cy="2835910"/>
          </a:xfrm>
          <a:prstGeom prst="rect">
            <a:avLst/>
          </a:prstGeom>
        </p:spPr>
        <p:txBody>
          <a:bodyPr vert="horz" wrap="square" lIns="0" tIns="12700" rIns="0" bIns="0" rtlCol="0">
            <a:spAutoFit/>
          </a:bodyPr>
          <a:lstStyle/>
          <a:p>
            <a:pPr marR="7620" algn="ctr">
              <a:lnSpc>
                <a:spcPct val="100000"/>
              </a:lnSpc>
              <a:spcBef>
                <a:spcPts val="100"/>
              </a:spcBef>
            </a:pPr>
            <a:r>
              <a:rPr sz="1100" spc="60" dirty="0">
                <a:latin typeface="Century Gothic"/>
                <a:cs typeface="Century Gothic"/>
              </a:rPr>
              <a:t>Assessment</a:t>
            </a:r>
            <a:r>
              <a:rPr sz="1100" spc="-45" dirty="0">
                <a:latin typeface="Century Gothic"/>
                <a:cs typeface="Century Gothic"/>
              </a:rPr>
              <a:t> </a:t>
            </a:r>
            <a:r>
              <a:rPr sz="1100" spc="-10" dirty="0">
                <a:latin typeface="Century Gothic"/>
                <a:cs typeface="Century Gothic"/>
              </a:rPr>
              <a:t>Criteria</a:t>
            </a:r>
            <a:endParaRPr sz="1100">
              <a:latin typeface="Century Gothic"/>
              <a:cs typeface="Century Gothic"/>
            </a:endParaRPr>
          </a:p>
          <a:p>
            <a:pPr>
              <a:lnSpc>
                <a:spcPct val="100000"/>
              </a:lnSpc>
            </a:pPr>
            <a:endParaRPr sz="1100">
              <a:latin typeface="Century Gothic"/>
              <a:cs typeface="Century Gothic"/>
            </a:endParaRPr>
          </a:p>
          <a:p>
            <a:pPr>
              <a:lnSpc>
                <a:spcPct val="100000"/>
              </a:lnSpc>
              <a:spcBef>
                <a:spcPts val="165"/>
              </a:spcBef>
            </a:pPr>
            <a:endParaRPr sz="1100">
              <a:latin typeface="Century Gothic"/>
              <a:cs typeface="Century Gothic"/>
            </a:endParaRPr>
          </a:p>
          <a:p>
            <a:pPr marL="161925" lvl="1" indent="-152400">
              <a:lnSpc>
                <a:spcPts val="1200"/>
              </a:lnSpc>
              <a:buSzPct val="80000"/>
              <a:buAutoNum type="arabicPeriod"/>
              <a:tabLst>
                <a:tab pos="161925" algn="l"/>
              </a:tabLst>
            </a:pPr>
            <a:r>
              <a:rPr sz="1000" dirty="0">
                <a:latin typeface="Century Gothic"/>
                <a:cs typeface="Century Gothic"/>
              </a:rPr>
              <a:t>Outline</a:t>
            </a:r>
            <a:r>
              <a:rPr sz="1000" spc="85" dirty="0">
                <a:latin typeface="Century Gothic"/>
                <a:cs typeface="Century Gothic"/>
              </a:rPr>
              <a:t> </a:t>
            </a:r>
            <a:r>
              <a:rPr sz="1000" dirty="0">
                <a:latin typeface="Century Gothic"/>
                <a:cs typeface="Century Gothic"/>
              </a:rPr>
              <a:t>why</a:t>
            </a:r>
            <a:r>
              <a:rPr sz="1000" spc="90" dirty="0">
                <a:latin typeface="Century Gothic"/>
                <a:cs typeface="Century Gothic"/>
              </a:rPr>
              <a:t> </a:t>
            </a:r>
            <a:r>
              <a:rPr sz="1000" spc="60" dirty="0">
                <a:latin typeface="Century Gothic"/>
                <a:cs typeface="Century Gothic"/>
              </a:rPr>
              <a:t>it</a:t>
            </a:r>
            <a:r>
              <a:rPr sz="1000" spc="70" dirty="0">
                <a:latin typeface="Century Gothic"/>
                <a:cs typeface="Century Gothic"/>
              </a:rPr>
              <a:t> </a:t>
            </a:r>
            <a:r>
              <a:rPr sz="1000" spc="80" dirty="0">
                <a:latin typeface="Century Gothic"/>
                <a:cs typeface="Century Gothic"/>
              </a:rPr>
              <a:t>is</a:t>
            </a:r>
            <a:r>
              <a:rPr sz="1000" spc="85" dirty="0">
                <a:latin typeface="Century Gothic"/>
                <a:cs typeface="Century Gothic"/>
              </a:rPr>
              <a:t> </a:t>
            </a:r>
            <a:r>
              <a:rPr sz="1000" dirty="0">
                <a:latin typeface="Century Gothic"/>
                <a:cs typeface="Century Gothic"/>
              </a:rPr>
              <a:t>important</a:t>
            </a:r>
            <a:r>
              <a:rPr sz="1000" spc="70" dirty="0">
                <a:latin typeface="Century Gothic"/>
                <a:cs typeface="Century Gothic"/>
              </a:rPr>
              <a:t> </a:t>
            </a:r>
            <a:r>
              <a:rPr sz="1000" dirty="0">
                <a:latin typeface="Century Gothic"/>
                <a:cs typeface="Century Gothic"/>
              </a:rPr>
              <a:t>to</a:t>
            </a:r>
            <a:r>
              <a:rPr sz="1000" spc="90" dirty="0">
                <a:latin typeface="Century Gothic"/>
                <a:cs typeface="Century Gothic"/>
              </a:rPr>
              <a:t> </a:t>
            </a:r>
            <a:r>
              <a:rPr sz="1000" dirty="0">
                <a:latin typeface="Century Gothic"/>
                <a:cs typeface="Century Gothic"/>
              </a:rPr>
              <a:t>assess</a:t>
            </a:r>
            <a:r>
              <a:rPr sz="1000" spc="55" dirty="0">
                <a:latin typeface="Century Gothic"/>
                <a:cs typeface="Century Gothic"/>
              </a:rPr>
              <a:t> </a:t>
            </a:r>
            <a:r>
              <a:rPr sz="1000" dirty="0">
                <a:latin typeface="Century Gothic"/>
                <a:cs typeface="Century Gothic"/>
              </a:rPr>
              <a:t>own</a:t>
            </a:r>
            <a:r>
              <a:rPr sz="1000" spc="60" dirty="0">
                <a:latin typeface="Century Gothic"/>
                <a:cs typeface="Century Gothic"/>
              </a:rPr>
              <a:t> </a:t>
            </a:r>
            <a:r>
              <a:rPr sz="1000" dirty="0">
                <a:latin typeface="Century Gothic"/>
                <a:cs typeface="Century Gothic"/>
              </a:rPr>
              <a:t>personal</a:t>
            </a:r>
            <a:r>
              <a:rPr sz="1000" spc="65" dirty="0">
                <a:latin typeface="Century Gothic"/>
                <a:cs typeface="Century Gothic"/>
              </a:rPr>
              <a:t> </a:t>
            </a:r>
            <a:r>
              <a:rPr sz="1000" spc="50" dirty="0">
                <a:latin typeface="Century Gothic"/>
                <a:cs typeface="Century Gothic"/>
              </a:rPr>
              <a:t>strengths</a:t>
            </a:r>
            <a:r>
              <a:rPr sz="1000" spc="80" dirty="0">
                <a:latin typeface="Century Gothic"/>
                <a:cs typeface="Century Gothic"/>
              </a:rPr>
              <a:t> </a:t>
            </a:r>
            <a:r>
              <a:rPr sz="1000" spc="-20" dirty="0">
                <a:latin typeface="Century Gothic"/>
                <a:cs typeface="Century Gothic"/>
              </a:rPr>
              <a:t>and</a:t>
            </a:r>
            <a:r>
              <a:rPr sz="1000" spc="75" dirty="0">
                <a:latin typeface="Century Gothic"/>
                <a:cs typeface="Century Gothic"/>
              </a:rPr>
              <a:t> </a:t>
            </a:r>
            <a:r>
              <a:rPr sz="1000" spc="-10" dirty="0">
                <a:latin typeface="Century Gothic"/>
                <a:cs typeface="Century Gothic"/>
              </a:rPr>
              <a:t>weaknesses</a:t>
            </a:r>
            <a:endParaRPr sz="1000">
              <a:latin typeface="Century Gothic"/>
              <a:cs typeface="Century Gothic"/>
            </a:endParaRPr>
          </a:p>
          <a:p>
            <a:pPr marL="189865" lvl="1" indent="-177165">
              <a:lnSpc>
                <a:spcPts val="1195"/>
              </a:lnSpc>
              <a:buSzPct val="80000"/>
              <a:buAutoNum type="arabicPeriod"/>
              <a:tabLst>
                <a:tab pos="189865" algn="l"/>
              </a:tabLst>
            </a:pPr>
            <a:r>
              <a:rPr sz="1000" dirty="0">
                <a:latin typeface="Century Gothic"/>
                <a:cs typeface="Century Gothic"/>
              </a:rPr>
              <a:t>Outline</a:t>
            </a:r>
            <a:r>
              <a:rPr sz="1000" spc="90" dirty="0">
                <a:latin typeface="Century Gothic"/>
                <a:cs typeface="Century Gothic"/>
              </a:rPr>
              <a:t> </a:t>
            </a:r>
            <a:r>
              <a:rPr sz="1000" dirty="0">
                <a:latin typeface="Century Gothic"/>
                <a:cs typeface="Century Gothic"/>
              </a:rPr>
              <a:t>why</a:t>
            </a:r>
            <a:r>
              <a:rPr sz="1000" spc="100" dirty="0">
                <a:latin typeface="Century Gothic"/>
                <a:cs typeface="Century Gothic"/>
              </a:rPr>
              <a:t> </a:t>
            </a:r>
            <a:r>
              <a:rPr sz="1000" spc="65" dirty="0">
                <a:latin typeface="Century Gothic"/>
                <a:cs typeface="Century Gothic"/>
              </a:rPr>
              <a:t>it</a:t>
            </a:r>
            <a:r>
              <a:rPr sz="1000" spc="85" dirty="0">
                <a:latin typeface="Century Gothic"/>
                <a:cs typeface="Century Gothic"/>
              </a:rPr>
              <a:t> is</a:t>
            </a:r>
            <a:r>
              <a:rPr sz="1000" spc="95" dirty="0">
                <a:latin typeface="Century Gothic"/>
                <a:cs typeface="Century Gothic"/>
              </a:rPr>
              <a:t> </a:t>
            </a:r>
            <a:r>
              <a:rPr sz="1000" dirty="0">
                <a:latin typeface="Century Gothic"/>
                <a:cs typeface="Century Gothic"/>
              </a:rPr>
              <a:t>important</a:t>
            </a:r>
            <a:r>
              <a:rPr sz="1000" spc="85" dirty="0">
                <a:latin typeface="Century Gothic"/>
                <a:cs typeface="Century Gothic"/>
              </a:rPr>
              <a:t> </a:t>
            </a:r>
            <a:r>
              <a:rPr sz="1000" dirty="0">
                <a:latin typeface="Century Gothic"/>
                <a:cs typeface="Century Gothic"/>
              </a:rPr>
              <a:t>to</a:t>
            </a:r>
            <a:r>
              <a:rPr sz="1000" spc="80" dirty="0">
                <a:latin typeface="Century Gothic"/>
                <a:cs typeface="Century Gothic"/>
              </a:rPr>
              <a:t> </a:t>
            </a:r>
            <a:r>
              <a:rPr sz="1000" dirty="0">
                <a:latin typeface="Century Gothic"/>
                <a:cs typeface="Century Gothic"/>
              </a:rPr>
              <a:t>assess</a:t>
            </a:r>
            <a:r>
              <a:rPr sz="1000" spc="80" dirty="0">
                <a:latin typeface="Century Gothic"/>
                <a:cs typeface="Century Gothic"/>
              </a:rPr>
              <a:t> </a:t>
            </a:r>
            <a:r>
              <a:rPr sz="1000" dirty="0">
                <a:latin typeface="Century Gothic"/>
                <a:cs typeface="Century Gothic"/>
              </a:rPr>
              <a:t>own</a:t>
            </a:r>
            <a:r>
              <a:rPr sz="1000" spc="75" dirty="0">
                <a:latin typeface="Century Gothic"/>
                <a:cs typeface="Century Gothic"/>
              </a:rPr>
              <a:t> </a:t>
            </a:r>
            <a:r>
              <a:rPr sz="1000" dirty="0">
                <a:latin typeface="Century Gothic"/>
                <a:cs typeface="Century Gothic"/>
              </a:rPr>
              <a:t>personal</a:t>
            </a:r>
            <a:r>
              <a:rPr sz="1000" spc="85" dirty="0">
                <a:latin typeface="Century Gothic"/>
                <a:cs typeface="Century Gothic"/>
              </a:rPr>
              <a:t> </a:t>
            </a:r>
            <a:r>
              <a:rPr sz="1000" spc="80" dirty="0">
                <a:latin typeface="Century Gothic"/>
                <a:cs typeface="Century Gothic"/>
              </a:rPr>
              <a:t>skills </a:t>
            </a:r>
            <a:r>
              <a:rPr sz="1000" spc="-10" dirty="0">
                <a:latin typeface="Century Gothic"/>
                <a:cs typeface="Century Gothic"/>
              </a:rPr>
              <a:t>and</a:t>
            </a:r>
            <a:r>
              <a:rPr sz="1000" spc="95" dirty="0">
                <a:latin typeface="Century Gothic"/>
                <a:cs typeface="Century Gothic"/>
              </a:rPr>
              <a:t> </a:t>
            </a:r>
            <a:r>
              <a:rPr sz="1000" spc="-10" dirty="0">
                <a:latin typeface="Century Gothic"/>
                <a:cs typeface="Century Gothic"/>
              </a:rPr>
              <a:t>qualities</a:t>
            </a:r>
            <a:endParaRPr sz="1000">
              <a:latin typeface="Century Gothic"/>
              <a:cs typeface="Century Gothic"/>
            </a:endParaRPr>
          </a:p>
          <a:p>
            <a:pPr marL="188595" lvl="1" indent="-175895">
              <a:lnSpc>
                <a:spcPts val="1195"/>
              </a:lnSpc>
              <a:buSzPct val="80000"/>
              <a:buAutoNum type="arabicPeriod"/>
              <a:tabLst>
                <a:tab pos="188595" algn="l"/>
              </a:tabLst>
            </a:pPr>
            <a:r>
              <a:rPr sz="1000" spc="85" dirty="0">
                <a:latin typeface="Century Gothic"/>
                <a:cs typeface="Century Gothic"/>
              </a:rPr>
              <a:t>List</a:t>
            </a:r>
            <a:r>
              <a:rPr sz="1000" spc="90" dirty="0">
                <a:latin typeface="Century Gothic"/>
                <a:cs typeface="Century Gothic"/>
              </a:rPr>
              <a:t> </a:t>
            </a:r>
            <a:r>
              <a:rPr sz="1000" dirty="0">
                <a:latin typeface="Century Gothic"/>
                <a:cs typeface="Century Gothic"/>
              </a:rPr>
              <a:t>your</a:t>
            </a:r>
            <a:r>
              <a:rPr sz="1000" spc="55" dirty="0">
                <a:latin typeface="Century Gothic"/>
                <a:cs typeface="Century Gothic"/>
              </a:rPr>
              <a:t> </a:t>
            </a:r>
            <a:r>
              <a:rPr sz="1000" dirty="0">
                <a:latin typeface="Century Gothic"/>
                <a:cs typeface="Century Gothic"/>
              </a:rPr>
              <a:t>own</a:t>
            </a:r>
            <a:r>
              <a:rPr sz="1000" spc="60" dirty="0">
                <a:latin typeface="Century Gothic"/>
                <a:cs typeface="Century Gothic"/>
              </a:rPr>
              <a:t> </a:t>
            </a:r>
            <a:r>
              <a:rPr sz="1000" spc="50" dirty="0">
                <a:latin typeface="Century Gothic"/>
                <a:cs typeface="Century Gothic"/>
              </a:rPr>
              <a:t>strengths</a:t>
            </a:r>
            <a:r>
              <a:rPr sz="1000" spc="65" dirty="0">
                <a:latin typeface="Century Gothic"/>
                <a:cs typeface="Century Gothic"/>
              </a:rPr>
              <a:t> </a:t>
            </a:r>
            <a:r>
              <a:rPr sz="1000" spc="-10" dirty="0">
                <a:latin typeface="Century Gothic"/>
                <a:cs typeface="Century Gothic"/>
              </a:rPr>
              <a:t>and</a:t>
            </a:r>
            <a:r>
              <a:rPr sz="1000" spc="110" dirty="0">
                <a:latin typeface="Century Gothic"/>
                <a:cs typeface="Century Gothic"/>
              </a:rPr>
              <a:t> </a:t>
            </a:r>
            <a:r>
              <a:rPr sz="1000" dirty="0">
                <a:latin typeface="Century Gothic"/>
                <a:cs typeface="Century Gothic"/>
              </a:rPr>
              <a:t>weaknesses</a:t>
            </a:r>
            <a:r>
              <a:rPr sz="1000" spc="30" dirty="0">
                <a:latin typeface="Century Gothic"/>
                <a:cs typeface="Century Gothic"/>
              </a:rPr>
              <a:t> </a:t>
            </a:r>
            <a:r>
              <a:rPr sz="1000" dirty="0">
                <a:latin typeface="Century Gothic"/>
                <a:cs typeface="Century Gothic"/>
              </a:rPr>
              <a:t>that</a:t>
            </a:r>
            <a:r>
              <a:rPr sz="1000" spc="95" dirty="0">
                <a:latin typeface="Century Gothic"/>
                <a:cs typeface="Century Gothic"/>
              </a:rPr>
              <a:t> </a:t>
            </a:r>
            <a:r>
              <a:rPr sz="1000" dirty="0">
                <a:latin typeface="Century Gothic"/>
                <a:cs typeface="Century Gothic"/>
              </a:rPr>
              <a:t>contribute</a:t>
            </a:r>
            <a:r>
              <a:rPr sz="1000" spc="90" dirty="0">
                <a:latin typeface="Century Gothic"/>
                <a:cs typeface="Century Gothic"/>
              </a:rPr>
              <a:t> </a:t>
            </a:r>
            <a:r>
              <a:rPr sz="1000" dirty="0">
                <a:latin typeface="Century Gothic"/>
                <a:cs typeface="Century Gothic"/>
              </a:rPr>
              <a:t>toward</a:t>
            </a:r>
            <a:r>
              <a:rPr sz="1000" spc="75" dirty="0">
                <a:latin typeface="Century Gothic"/>
                <a:cs typeface="Century Gothic"/>
              </a:rPr>
              <a:t> </a:t>
            </a:r>
            <a:r>
              <a:rPr sz="1000" dirty="0">
                <a:latin typeface="Century Gothic"/>
                <a:cs typeface="Century Gothic"/>
              </a:rPr>
              <a:t>seeking</a:t>
            </a:r>
            <a:r>
              <a:rPr sz="1000" spc="45" dirty="0">
                <a:latin typeface="Century Gothic"/>
                <a:cs typeface="Century Gothic"/>
              </a:rPr>
              <a:t> </a:t>
            </a:r>
            <a:r>
              <a:rPr sz="1000" spc="-10" dirty="0">
                <a:latin typeface="Century Gothic"/>
                <a:cs typeface="Century Gothic"/>
              </a:rPr>
              <a:t>opportunities</a:t>
            </a:r>
            <a:endParaRPr sz="1000">
              <a:latin typeface="Century Gothic"/>
              <a:cs typeface="Century Gothic"/>
            </a:endParaRPr>
          </a:p>
          <a:p>
            <a:pPr marL="200025" lvl="1" indent="-187325">
              <a:lnSpc>
                <a:spcPts val="1195"/>
              </a:lnSpc>
              <a:buSzPct val="80000"/>
              <a:buAutoNum type="arabicPeriod"/>
              <a:tabLst>
                <a:tab pos="200025" algn="l"/>
              </a:tabLst>
            </a:pPr>
            <a:r>
              <a:rPr sz="1000" spc="90" dirty="0">
                <a:latin typeface="Century Gothic"/>
                <a:cs typeface="Century Gothic"/>
              </a:rPr>
              <a:t>List</a:t>
            </a:r>
            <a:r>
              <a:rPr sz="1000" spc="105" dirty="0">
                <a:latin typeface="Century Gothic"/>
                <a:cs typeface="Century Gothic"/>
              </a:rPr>
              <a:t> </a:t>
            </a:r>
            <a:r>
              <a:rPr sz="1000" dirty="0">
                <a:latin typeface="Century Gothic"/>
                <a:cs typeface="Century Gothic"/>
              </a:rPr>
              <a:t>your</a:t>
            </a:r>
            <a:r>
              <a:rPr sz="1000" spc="65" dirty="0">
                <a:latin typeface="Century Gothic"/>
                <a:cs typeface="Century Gothic"/>
              </a:rPr>
              <a:t> </a:t>
            </a:r>
            <a:r>
              <a:rPr sz="1000" dirty="0">
                <a:latin typeface="Century Gothic"/>
                <a:cs typeface="Century Gothic"/>
              </a:rPr>
              <a:t>own</a:t>
            </a:r>
            <a:r>
              <a:rPr sz="1000" spc="70" dirty="0">
                <a:latin typeface="Century Gothic"/>
                <a:cs typeface="Century Gothic"/>
              </a:rPr>
              <a:t> </a:t>
            </a:r>
            <a:r>
              <a:rPr sz="1000" spc="80" dirty="0">
                <a:latin typeface="Century Gothic"/>
                <a:cs typeface="Century Gothic"/>
              </a:rPr>
              <a:t>skills</a:t>
            </a:r>
            <a:r>
              <a:rPr sz="1000" spc="95" dirty="0">
                <a:latin typeface="Century Gothic"/>
                <a:cs typeface="Century Gothic"/>
              </a:rPr>
              <a:t> </a:t>
            </a:r>
            <a:r>
              <a:rPr sz="1000" spc="-10" dirty="0">
                <a:latin typeface="Century Gothic"/>
                <a:cs typeface="Century Gothic"/>
              </a:rPr>
              <a:t>and</a:t>
            </a:r>
            <a:r>
              <a:rPr sz="1000" spc="105" dirty="0">
                <a:latin typeface="Century Gothic"/>
                <a:cs typeface="Century Gothic"/>
              </a:rPr>
              <a:t> </a:t>
            </a:r>
            <a:r>
              <a:rPr sz="1000" dirty="0">
                <a:latin typeface="Century Gothic"/>
                <a:cs typeface="Century Gothic"/>
              </a:rPr>
              <a:t>qualities</a:t>
            </a:r>
            <a:r>
              <a:rPr sz="1000" spc="95" dirty="0">
                <a:latin typeface="Century Gothic"/>
                <a:cs typeface="Century Gothic"/>
              </a:rPr>
              <a:t> </a:t>
            </a:r>
            <a:r>
              <a:rPr sz="1000" dirty="0">
                <a:latin typeface="Century Gothic"/>
                <a:cs typeface="Century Gothic"/>
              </a:rPr>
              <a:t>that</a:t>
            </a:r>
            <a:r>
              <a:rPr sz="1000" spc="105" dirty="0">
                <a:latin typeface="Century Gothic"/>
                <a:cs typeface="Century Gothic"/>
              </a:rPr>
              <a:t> </a:t>
            </a:r>
            <a:r>
              <a:rPr sz="1000" dirty="0">
                <a:latin typeface="Century Gothic"/>
                <a:cs typeface="Century Gothic"/>
              </a:rPr>
              <a:t>contribute</a:t>
            </a:r>
            <a:r>
              <a:rPr sz="1000" spc="100" dirty="0">
                <a:latin typeface="Century Gothic"/>
                <a:cs typeface="Century Gothic"/>
              </a:rPr>
              <a:t> </a:t>
            </a:r>
            <a:r>
              <a:rPr sz="1000" dirty="0">
                <a:latin typeface="Century Gothic"/>
                <a:cs typeface="Century Gothic"/>
              </a:rPr>
              <a:t>toward</a:t>
            </a:r>
            <a:r>
              <a:rPr sz="1000" spc="75" dirty="0">
                <a:latin typeface="Century Gothic"/>
                <a:cs typeface="Century Gothic"/>
              </a:rPr>
              <a:t> </a:t>
            </a:r>
            <a:r>
              <a:rPr sz="1000" dirty="0">
                <a:latin typeface="Century Gothic"/>
                <a:cs typeface="Century Gothic"/>
              </a:rPr>
              <a:t>seeking</a:t>
            </a:r>
            <a:r>
              <a:rPr sz="1000" spc="100" dirty="0">
                <a:latin typeface="Century Gothic"/>
                <a:cs typeface="Century Gothic"/>
              </a:rPr>
              <a:t> </a:t>
            </a:r>
            <a:r>
              <a:rPr sz="1000" spc="-10" dirty="0">
                <a:latin typeface="Century Gothic"/>
                <a:cs typeface="Century Gothic"/>
              </a:rPr>
              <a:t>opportunities</a:t>
            </a:r>
            <a:endParaRPr sz="1000">
              <a:latin typeface="Century Gothic"/>
              <a:cs typeface="Century Gothic"/>
            </a:endParaRPr>
          </a:p>
          <a:p>
            <a:pPr marL="188595" lvl="1" indent="-187325">
              <a:lnSpc>
                <a:spcPts val="1195"/>
              </a:lnSpc>
              <a:buAutoNum type="arabicPeriod"/>
              <a:tabLst>
                <a:tab pos="188595" algn="l"/>
              </a:tabLst>
            </a:pPr>
            <a:r>
              <a:rPr sz="1000" dirty="0">
                <a:latin typeface="Century Gothic"/>
                <a:cs typeface="Century Gothic"/>
              </a:rPr>
              <a:t>State</a:t>
            </a:r>
            <a:r>
              <a:rPr sz="1000" spc="90" dirty="0">
                <a:latin typeface="Century Gothic"/>
                <a:cs typeface="Century Gothic"/>
              </a:rPr>
              <a:t> </a:t>
            </a:r>
            <a:r>
              <a:rPr sz="1000" spc="-110" dirty="0">
                <a:latin typeface="Century Gothic"/>
                <a:cs typeface="Century Gothic"/>
              </a:rPr>
              <a:t>a</a:t>
            </a:r>
            <a:r>
              <a:rPr sz="1000" spc="85" dirty="0">
                <a:latin typeface="Century Gothic"/>
                <a:cs typeface="Century Gothic"/>
              </a:rPr>
              <a:t> </a:t>
            </a:r>
            <a:r>
              <a:rPr sz="1000" dirty="0">
                <a:latin typeface="Century Gothic"/>
                <a:cs typeface="Century Gothic"/>
              </a:rPr>
              <a:t>long-</a:t>
            </a:r>
            <a:r>
              <a:rPr sz="1000" spc="55" dirty="0">
                <a:latin typeface="Century Gothic"/>
                <a:cs typeface="Century Gothic"/>
              </a:rPr>
              <a:t>term </a:t>
            </a:r>
            <a:r>
              <a:rPr sz="1000" spc="-10" dirty="0">
                <a:latin typeface="Century Gothic"/>
                <a:cs typeface="Century Gothic"/>
              </a:rPr>
              <a:t>goal</a:t>
            </a:r>
            <a:r>
              <a:rPr sz="1000" spc="80" dirty="0">
                <a:latin typeface="Century Gothic"/>
                <a:cs typeface="Century Gothic"/>
              </a:rPr>
              <a:t> </a:t>
            </a:r>
            <a:r>
              <a:rPr sz="1000" dirty="0">
                <a:latin typeface="Century Gothic"/>
                <a:cs typeface="Century Gothic"/>
              </a:rPr>
              <a:t>for</a:t>
            </a:r>
            <a:r>
              <a:rPr sz="1000" spc="60" dirty="0">
                <a:latin typeface="Century Gothic"/>
                <a:cs typeface="Century Gothic"/>
              </a:rPr>
              <a:t> </a:t>
            </a:r>
            <a:r>
              <a:rPr sz="1000" spc="-110" dirty="0">
                <a:latin typeface="Century Gothic"/>
                <a:cs typeface="Century Gothic"/>
              </a:rPr>
              <a:t>a</a:t>
            </a:r>
            <a:r>
              <a:rPr sz="1000" spc="95" dirty="0">
                <a:latin typeface="Century Gothic"/>
                <a:cs typeface="Century Gothic"/>
              </a:rPr>
              <a:t> </a:t>
            </a:r>
            <a:r>
              <a:rPr sz="1000" dirty="0">
                <a:latin typeface="Century Gothic"/>
                <a:cs typeface="Century Gothic"/>
              </a:rPr>
              <a:t>potential</a:t>
            </a:r>
            <a:r>
              <a:rPr sz="1000" spc="95" dirty="0">
                <a:latin typeface="Century Gothic"/>
                <a:cs typeface="Century Gothic"/>
              </a:rPr>
              <a:t> </a:t>
            </a:r>
            <a:r>
              <a:rPr sz="1000" dirty="0">
                <a:latin typeface="Century Gothic"/>
                <a:cs typeface="Century Gothic"/>
              </a:rPr>
              <a:t>opportunity</a:t>
            </a:r>
            <a:r>
              <a:rPr sz="1000" spc="90" dirty="0">
                <a:latin typeface="Century Gothic"/>
                <a:cs typeface="Century Gothic"/>
              </a:rPr>
              <a:t> </a:t>
            </a:r>
            <a:r>
              <a:rPr sz="1000" spc="55" dirty="0">
                <a:latin typeface="Century Gothic"/>
                <a:cs typeface="Century Gothic"/>
              </a:rPr>
              <a:t>with</a:t>
            </a:r>
            <a:r>
              <a:rPr sz="1000" spc="85" dirty="0">
                <a:latin typeface="Century Gothic"/>
                <a:cs typeface="Century Gothic"/>
              </a:rPr>
              <a:t> </a:t>
            </a:r>
            <a:r>
              <a:rPr sz="1000" dirty="0">
                <a:latin typeface="Century Gothic"/>
                <a:cs typeface="Century Gothic"/>
              </a:rPr>
              <a:t>realistic</a:t>
            </a:r>
            <a:r>
              <a:rPr sz="1000" spc="100" dirty="0">
                <a:latin typeface="Century Gothic"/>
                <a:cs typeface="Century Gothic"/>
              </a:rPr>
              <a:t> </a:t>
            </a:r>
            <a:r>
              <a:rPr sz="1000" spc="-10" dirty="0">
                <a:latin typeface="Century Gothic"/>
                <a:cs typeface="Century Gothic"/>
              </a:rPr>
              <a:t>targets</a:t>
            </a:r>
            <a:endParaRPr sz="1000">
              <a:latin typeface="Century Gothic"/>
              <a:cs typeface="Century Gothic"/>
            </a:endParaRPr>
          </a:p>
          <a:p>
            <a:pPr marL="214629" lvl="1" indent="-201930">
              <a:lnSpc>
                <a:spcPts val="1195"/>
              </a:lnSpc>
              <a:buAutoNum type="arabicPeriod"/>
              <a:tabLst>
                <a:tab pos="214629" algn="l"/>
              </a:tabLst>
            </a:pPr>
            <a:r>
              <a:rPr sz="1000" dirty="0">
                <a:latin typeface="Century Gothic"/>
                <a:cs typeface="Century Gothic"/>
              </a:rPr>
              <a:t>State</a:t>
            </a:r>
            <a:r>
              <a:rPr sz="1000" spc="65" dirty="0">
                <a:latin typeface="Century Gothic"/>
                <a:cs typeface="Century Gothic"/>
              </a:rPr>
              <a:t> </a:t>
            </a:r>
            <a:r>
              <a:rPr sz="1000" spc="-110" dirty="0">
                <a:latin typeface="Century Gothic"/>
                <a:cs typeface="Century Gothic"/>
              </a:rPr>
              <a:t>a</a:t>
            </a:r>
            <a:r>
              <a:rPr sz="1000" spc="85" dirty="0">
                <a:latin typeface="Century Gothic"/>
                <a:cs typeface="Century Gothic"/>
              </a:rPr>
              <a:t> </a:t>
            </a:r>
            <a:r>
              <a:rPr sz="1000" spc="50" dirty="0">
                <a:latin typeface="Century Gothic"/>
                <a:cs typeface="Century Gothic"/>
              </a:rPr>
              <a:t>short-</a:t>
            </a:r>
            <a:r>
              <a:rPr sz="1000" spc="55" dirty="0">
                <a:latin typeface="Century Gothic"/>
                <a:cs typeface="Century Gothic"/>
              </a:rPr>
              <a:t>term</a:t>
            </a:r>
            <a:r>
              <a:rPr sz="1000" spc="50" dirty="0">
                <a:latin typeface="Century Gothic"/>
                <a:cs typeface="Century Gothic"/>
              </a:rPr>
              <a:t> </a:t>
            </a:r>
            <a:r>
              <a:rPr sz="1000" spc="-10" dirty="0">
                <a:latin typeface="Century Gothic"/>
                <a:cs typeface="Century Gothic"/>
              </a:rPr>
              <a:t>goal</a:t>
            </a:r>
            <a:r>
              <a:rPr sz="1000" spc="65" dirty="0">
                <a:latin typeface="Century Gothic"/>
                <a:cs typeface="Century Gothic"/>
              </a:rPr>
              <a:t> </a:t>
            </a:r>
            <a:r>
              <a:rPr sz="1000" dirty="0">
                <a:latin typeface="Century Gothic"/>
                <a:cs typeface="Century Gothic"/>
              </a:rPr>
              <a:t>for</a:t>
            </a:r>
            <a:r>
              <a:rPr sz="1000" spc="45" dirty="0">
                <a:latin typeface="Century Gothic"/>
                <a:cs typeface="Century Gothic"/>
              </a:rPr>
              <a:t> </a:t>
            </a:r>
            <a:r>
              <a:rPr sz="1000" spc="-110" dirty="0">
                <a:latin typeface="Century Gothic"/>
                <a:cs typeface="Century Gothic"/>
              </a:rPr>
              <a:t>a</a:t>
            </a:r>
            <a:r>
              <a:rPr sz="1000" spc="90" dirty="0">
                <a:latin typeface="Century Gothic"/>
                <a:cs typeface="Century Gothic"/>
              </a:rPr>
              <a:t> </a:t>
            </a:r>
            <a:r>
              <a:rPr sz="1000" dirty="0">
                <a:latin typeface="Century Gothic"/>
                <a:cs typeface="Century Gothic"/>
              </a:rPr>
              <a:t>potential</a:t>
            </a:r>
            <a:r>
              <a:rPr sz="1000" spc="80" dirty="0">
                <a:latin typeface="Century Gothic"/>
                <a:cs typeface="Century Gothic"/>
              </a:rPr>
              <a:t> </a:t>
            </a:r>
            <a:r>
              <a:rPr sz="1000" dirty="0">
                <a:latin typeface="Century Gothic"/>
                <a:cs typeface="Century Gothic"/>
              </a:rPr>
              <a:t>opportunity</a:t>
            </a:r>
            <a:r>
              <a:rPr sz="1000" spc="80" dirty="0">
                <a:latin typeface="Century Gothic"/>
                <a:cs typeface="Century Gothic"/>
              </a:rPr>
              <a:t> </a:t>
            </a:r>
            <a:r>
              <a:rPr sz="1000" spc="55" dirty="0">
                <a:latin typeface="Century Gothic"/>
                <a:cs typeface="Century Gothic"/>
              </a:rPr>
              <a:t>with</a:t>
            </a:r>
            <a:r>
              <a:rPr sz="1000" spc="75" dirty="0">
                <a:latin typeface="Century Gothic"/>
                <a:cs typeface="Century Gothic"/>
              </a:rPr>
              <a:t> </a:t>
            </a:r>
            <a:r>
              <a:rPr sz="1000" dirty="0">
                <a:latin typeface="Century Gothic"/>
                <a:cs typeface="Century Gothic"/>
              </a:rPr>
              <a:t>realistic</a:t>
            </a:r>
            <a:r>
              <a:rPr sz="1000" spc="85" dirty="0">
                <a:latin typeface="Century Gothic"/>
                <a:cs typeface="Century Gothic"/>
              </a:rPr>
              <a:t> </a:t>
            </a:r>
            <a:r>
              <a:rPr sz="1000" spc="-10" dirty="0">
                <a:latin typeface="Century Gothic"/>
                <a:cs typeface="Century Gothic"/>
              </a:rPr>
              <a:t>targets</a:t>
            </a:r>
            <a:endParaRPr sz="1000">
              <a:latin typeface="Century Gothic"/>
              <a:cs typeface="Century Gothic"/>
            </a:endParaRPr>
          </a:p>
          <a:p>
            <a:pPr marL="215900" lvl="1" indent="-203200">
              <a:lnSpc>
                <a:spcPts val="1195"/>
              </a:lnSpc>
              <a:buAutoNum type="arabicPeriod"/>
              <a:tabLst>
                <a:tab pos="215900" algn="l"/>
              </a:tabLst>
            </a:pPr>
            <a:r>
              <a:rPr sz="1000" spc="90" dirty="0">
                <a:latin typeface="Century Gothic"/>
                <a:cs typeface="Century Gothic"/>
              </a:rPr>
              <a:t>List</a:t>
            </a:r>
            <a:r>
              <a:rPr sz="1000" spc="20" dirty="0">
                <a:latin typeface="Century Gothic"/>
                <a:cs typeface="Century Gothic"/>
              </a:rPr>
              <a:t> </a:t>
            </a:r>
            <a:r>
              <a:rPr sz="1000" dirty="0">
                <a:latin typeface="Century Gothic"/>
                <a:cs typeface="Century Gothic"/>
              </a:rPr>
              <a:t>ways</a:t>
            </a:r>
            <a:r>
              <a:rPr sz="1000" spc="20" dirty="0">
                <a:latin typeface="Century Gothic"/>
                <a:cs typeface="Century Gothic"/>
              </a:rPr>
              <a:t> </a:t>
            </a:r>
            <a:r>
              <a:rPr sz="1000" dirty="0">
                <a:latin typeface="Century Gothic"/>
                <a:cs typeface="Century Gothic"/>
              </a:rPr>
              <a:t>to</a:t>
            </a:r>
            <a:r>
              <a:rPr sz="1000" spc="35" dirty="0">
                <a:latin typeface="Century Gothic"/>
                <a:cs typeface="Century Gothic"/>
              </a:rPr>
              <a:t> </a:t>
            </a:r>
            <a:r>
              <a:rPr sz="1000" spc="-25" dirty="0">
                <a:latin typeface="Century Gothic"/>
                <a:cs typeface="Century Gothic"/>
              </a:rPr>
              <a:t>achieve</a:t>
            </a:r>
            <a:r>
              <a:rPr sz="1000" spc="20" dirty="0">
                <a:latin typeface="Century Gothic"/>
                <a:cs typeface="Century Gothic"/>
              </a:rPr>
              <a:t> </a:t>
            </a:r>
            <a:r>
              <a:rPr sz="1000" dirty="0">
                <a:latin typeface="Century Gothic"/>
                <a:cs typeface="Century Gothic"/>
              </a:rPr>
              <a:t>identified</a:t>
            </a:r>
            <a:r>
              <a:rPr sz="1000" spc="45" dirty="0">
                <a:latin typeface="Century Gothic"/>
                <a:cs typeface="Century Gothic"/>
              </a:rPr>
              <a:t> </a:t>
            </a:r>
            <a:r>
              <a:rPr sz="1000" dirty="0">
                <a:latin typeface="Century Gothic"/>
                <a:cs typeface="Century Gothic"/>
              </a:rPr>
              <a:t>long</a:t>
            </a:r>
            <a:r>
              <a:rPr sz="1000" spc="15" dirty="0">
                <a:latin typeface="Century Gothic"/>
                <a:cs typeface="Century Gothic"/>
              </a:rPr>
              <a:t> </a:t>
            </a:r>
            <a:r>
              <a:rPr sz="1000" spc="-10" dirty="0">
                <a:latin typeface="Century Gothic"/>
                <a:cs typeface="Century Gothic"/>
              </a:rPr>
              <a:t>and</a:t>
            </a:r>
            <a:r>
              <a:rPr sz="1000" spc="40" dirty="0">
                <a:latin typeface="Century Gothic"/>
                <a:cs typeface="Century Gothic"/>
              </a:rPr>
              <a:t> </a:t>
            </a:r>
            <a:r>
              <a:rPr sz="1000" spc="55" dirty="0">
                <a:latin typeface="Century Gothic"/>
                <a:cs typeface="Century Gothic"/>
              </a:rPr>
              <a:t>short</a:t>
            </a:r>
            <a:r>
              <a:rPr sz="1000" spc="25" dirty="0">
                <a:latin typeface="Century Gothic"/>
                <a:cs typeface="Century Gothic"/>
              </a:rPr>
              <a:t> </a:t>
            </a:r>
            <a:r>
              <a:rPr sz="1000" spc="60" dirty="0">
                <a:latin typeface="Century Gothic"/>
                <a:cs typeface="Century Gothic"/>
              </a:rPr>
              <a:t>term</a:t>
            </a:r>
            <a:r>
              <a:rPr sz="1000" spc="5" dirty="0">
                <a:latin typeface="Century Gothic"/>
                <a:cs typeface="Century Gothic"/>
              </a:rPr>
              <a:t> </a:t>
            </a:r>
            <a:r>
              <a:rPr sz="1000" spc="-20" dirty="0">
                <a:latin typeface="Century Gothic"/>
                <a:cs typeface="Century Gothic"/>
              </a:rPr>
              <a:t>goals</a:t>
            </a:r>
            <a:endParaRPr sz="1000">
              <a:latin typeface="Century Gothic"/>
              <a:cs typeface="Century Gothic"/>
            </a:endParaRPr>
          </a:p>
          <a:p>
            <a:pPr marL="225425" lvl="1" indent="-212725">
              <a:lnSpc>
                <a:spcPts val="1195"/>
              </a:lnSpc>
              <a:buAutoNum type="arabicPeriod"/>
              <a:tabLst>
                <a:tab pos="225425" algn="l"/>
              </a:tabLst>
            </a:pPr>
            <a:r>
              <a:rPr sz="1000" dirty="0">
                <a:latin typeface="Century Gothic"/>
                <a:cs typeface="Century Gothic"/>
              </a:rPr>
              <a:t>Explain</a:t>
            </a:r>
            <a:r>
              <a:rPr sz="1000" spc="50" dirty="0">
                <a:latin typeface="Century Gothic"/>
                <a:cs typeface="Century Gothic"/>
              </a:rPr>
              <a:t> </a:t>
            </a:r>
            <a:r>
              <a:rPr sz="1000" dirty="0">
                <a:latin typeface="Century Gothic"/>
                <a:cs typeface="Century Gothic"/>
              </a:rPr>
              <a:t>why</a:t>
            </a:r>
            <a:r>
              <a:rPr sz="1000" spc="25" dirty="0">
                <a:latin typeface="Century Gothic"/>
                <a:cs typeface="Century Gothic"/>
              </a:rPr>
              <a:t> </a:t>
            </a:r>
            <a:r>
              <a:rPr sz="1000" dirty="0">
                <a:latin typeface="Century Gothic"/>
                <a:cs typeface="Century Gothic"/>
              </a:rPr>
              <a:t>goals</a:t>
            </a:r>
            <a:r>
              <a:rPr sz="1000" spc="30" dirty="0">
                <a:latin typeface="Century Gothic"/>
                <a:cs typeface="Century Gothic"/>
              </a:rPr>
              <a:t> </a:t>
            </a:r>
            <a:r>
              <a:rPr sz="1000" dirty="0">
                <a:latin typeface="Century Gothic"/>
                <a:cs typeface="Century Gothic"/>
              </a:rPr>
              <a:t>may</a:t>
            </a:r>
            <a:r>
              <a:rPr sz="1000" spc="25" dirty="0">
                <a:latin typeface="Century Gothic"/>
                <a:cs typeface="Century Gothic"/>
              </a:rPr>
              <a:t> </a:t>
            </a:r>
            <a:r>
              <a:rPr sz="1000" dirty="0">
                <a:latin typeface="Century Gothic"/>
                <a:cs typeface="Century Gothic"/>
              </a:rPr>
              <a:t>not</a:t>
            </a:r>
            <a:r>
              <a:rPr sz="1000" spc="35" dirty="0">
                <a:latin typeface="Century Gothic"/>
                <a:cs typeface="Century Gothic"/>
              </a:rPr>
              <a:t> </a:t>
            </a:r>
            <a:r>
              <a:rPr sz="1000" spc="-20" dirty="0">
                <a:latin typeface="Century Gothic"/>
                <a:cs typeface="Century Gothic"/>
              </a:rPr>
              <a:t>be</a:t>
            </a:r>
            <a:r>
              <a:rPr sz="1000" spc="45" dirty="0">
                <a:latin typeface="Century Gothic"/>
                <a:cs typeface="Century Gothic"/>
              </a:rPr>
              <a:t> </a:t>
            </a:r>
            <a:r>
              <a:rPr sz="1000" spc="-25" dirty="0">
                <a:latin typeface="Century Gothic"/>
                <a:cs typeface="Century Gothic"/>
              </a:rPr>
              <a:t>reached</a:t>
            </a:r>
            <a:r>
              <a:rPr sz="1000" spc="20" dirty="0">
                <a:latin typeface="Century Gothic"/>
                <a:cs typeface="Century Gothic"/>
              </a:rPr>
              <a:t> </a:t>
            </a:r>
            <a:r>
              <a:rPr sz="1000" spc="55" dirty="0">
                <a:latin typeface="Century Gothic"/>
                <a:cs typeface="Century Gothic"/>
              </a:rPr>
              <a:t>within </a:t>
            </a:r>
            <a:r>
              <a:rPr sz="1000" dirty="0">
                <a:latin typeface="Century Gothic"/>
                <a:cs typeface="Century Gothic"/>
              </a:rPr>
              <a:t>the</a:t>
            </a:r>
            <a:r>
              <a:rPr sz="1000" spc="45" dirty="0">
                <a:latin typeface="Century Gothic"/>
                <a:cs typeface="Century Gothic"/>
              </a:rPr>
              <a:t> </a:t>
            </a:r>
            <a:r>
              <a:rPr sz="1000" spc="-10" dirty="0">
                <a:latin typeface="Century Gothic"/>
                <a:cs typeface="Century Gothic"/>
              </a:rPr>
              <a:t>timescale</a:t>
            </a:r>
            <a:endParaRPr sz="1000">
              <a:latin typeface="Century Gothic"/>
              <a:cs typeface="Century Gothic"/>
            </a:endParaRPr>
          </a:p>
          <a:p>
            <a:pPr marL="189230" lvl="1" indent="-187325">
              <a:lnSpc>
                <a:spcPts val="1195"/>
              </a:lnSpc>
              <a:buAutoNum type="arabicPeriod"/>
              <a:tabLst>
                <a:tab pos="189230" algn="l"/>
              </a:tabLst>
            </a:pPr>
            <a:r>
              <a:rPr sz="1000" dirty="0">
                <a:latin typeface="Century Gothic"/>
                <a:cs typeface="Century Gothic"/>
              </a:rPr>
              <a:t>Describe</a:t>
            </a:r>
            <a:r>
              <a:rPr sz="1000" spc="110" dirty="0">
                <a:latin typeface="Century Gothic"/>
                <a:cs typeface="Century Gothic"/>
              </a:rPr>
              <a:t> </a:t>
            </a:r>
            <a:r>
              <a:rPr sz="1000" dirty="0">
                <a:latin typeface="Century Gothic"/>
                <a:cs typeface="Century Gothic"/>
              </a:rPr>
              <a:t>three</a:t>
            </a:r>
            <a:r>
              <a:rPr sz="1000" spc="140" dirty="0">
                <a:latin typeface="Century Gothic"/>
                <a:cs typeface="Century Gothic"/>
              </a:rPr>
              <a:t> </a:t>
            </a:r>
            <a:r>
              <a:rPr sz="1000" dirty="0">
                <a:latin typeface="Century Gothic"/>
                <a:cs typeface="Century Gothic"/>
              </a:rPr>
              <a:t>possible</a:t>
            </a:r>
            <a:r>
              <a:rPr sz="1000" spc="135" dirty="0">
                <a:latin typeface="Century Gothic"/>
                <a:cs typeface="Century Gothic"/>
              </a:rPr>
              <a:t> </a:t>
            </a:r>
            <a:r>
              <a:rPr sz="1000" dirty="0">
                <a:latin typeface="Century Gothic"/>
                <a:cs typeface="Century Gothic"/>
              </a:rPr>
              <a:t>sources</a:t>
            </a:r>
            <a:r>
              <a:rPr sz="1000" spc="90" dirty="0">
                <a:latin typeface="Century Gothic"/>
                <a:cs typeface="Century Gothic"/>
              </a:rPr>
              <a:t> </a:t>
            </a:r>
            <a:r>
              <a:rPr sz="1000" dirty="0">
                <a:latin typeface="Century Gothic"/>
                <a:cs typeface="Century Gothic"/>
              </a:rPr>
              <a:t>of</a:t>
            </a:r>
            <a:r>
              <a:rPr sz="1000" spc="145" dirty="0">
                <a:latin typeface="Century Gothic"/>
                <a:cs typeface="Century Gothic"/>
              </a:rPr>
              <a:t> </a:t>
            </a:r>
            <a:r>
              <a:rPr sz="1000" dirty="0">
                <a:latin typeface="Century Gothic"/>
                <a:cs typeface="Century Gothic"/>
              </a:rPr>
              <a:t>identifying</a:t>
            </a:r>
            <a:r>
              <a:rPr sz="1000" spc="160" dirty="0">
                <a:latin typeface="Century Gothic"/>
                <a:cs typeface="Century Gothic"/>
              </a:rPr>
              <a:t> </a:t>
            </a:r>
            <a:r>
              <a:rPr sz="1000" dirty="0">
                <a:latin typeface="Century Gothic"/>
                <a:cs typeface="Century Gothic"/>
              </a:rPr>
              <a:t>opportunities</a:t>
            </a:r>
            <a:r>
              <a:rPr sz="1000" spc="130" dirty="0">
                <a:latin typeface="Century Gothic"/>
                <a:cs typeface="Century Gothic"/>
              </a:rPr>
              <a:t> </a:t>
            </a:r>
            <a:r>
              <a:rPr sz="1000" spc="-10" dirty="0">
                <a:latin typeface="Century Gothic"/>
                <a:cs typeface="Century Gothic"/>
              </a:rPr>
              <a:t>and</a:t>
            </a:r>
            <a:r>
              <a:rPr sz="1000" spc="145" dirty="0">
                <a:latin typeface="Century Gothic"/>
                <a:cs typeface="Century Gothic"/>
              </a:rPr>
              <a:t> </a:t>
            </a:r>
            <a:r>
              <a:rPr sz="1000" dirty="0">
                <a:latin typeface="Century Gothic"/>
                <a:cs typeface="Century Gothic"/>
              </a:rPr>
              <a:t>provide</a:t>
            </a:r>
            <a:r>
              <a:rPr sz="1000" spc="140" dirty="0">
                <a:latin typeface="Century Gothic"/>
                <a:cs typeface="Century Gothic"/>
              </a:rPr>
              <a:t> </a:t>
            </a:r>
            <a:r>
              <a:rPr sz="1000" spc="-10" dirty="0">
                <a:latin typeface="Century Gothic"/>
                <a:cs typeface="Century Gothic"/>
              </a:rPr>
              <a:t>examples</a:t>
            </a:r>
            <a:endParaRPr sz="1000">
              <a:latin typeface="Century Gothic"/>
              <a:cs typeface="Century Gothic"/>
            </a:endParaRPr>
          </a:p>
          <a:p>
            <a:pPr marL="213995" lvl="1" indent="-201295">
              <a:lnSpc>
                <a:spcPts val="1195"/>
              </a:lnSpc>
              <a:buAutoNum type="arabicPeriod"/>
              <a:tabLst>
                <a:tab pos="213995" algn="l"/>
              </a:tabLst>
            </a:pPr>
            <a:r>
              <a:rPr sz="1000" dirty="0">
                <a:latin typeface="Century Gothic"/>
                <a:cs typeface="Century Gothic"/>
              </a:rPr>
              <a:t>Describe</a:t>
            </a:r>
            <a:r>
              <a:rPr sz="1000" spc="65" dirty="0">
                <a:latin typeface="Century Gothic"/>
                <a:cs typeface="Century Gothic"/>
              </a:rPr>
              <a:t> </a:t>
            </a:r>
            <a:r>
              <a:rPr sz="1000" dirty="0">
                <a:latin typeface="Century Gothic"/>
                <a:cs typeface="Century Gothic"/>
              </a:rPr>
              <a:t>the</a:t>
            </a:r>
            <a:r>
              <a:rPr sz="1000" spc="100" dirty="0">
                <a:latin typeface="Century Gothic"/>
                <a:cs typeface="Century Gothic"/>
              </a:rPr>
              <a:t> </a:t>
            </a:r>
            <a:r>
              <a:rPr sz="1000" dirty="0">
                <a:latin typeface="Century Gothic"/>
                <a:cs typeface="Century Gothic"/>
              </a:rPr>
              <a:t>support</a:t>
            </a:r>
            <a:r>
              <a:rPr sz="1000" spc="85" dirty="0">
                <a:latin typeface="Century Gothic"/>
                <a:cs typeface="Century Gothic"/>
              </a:rPr>
              <a:t> </a:t>
            </a:r>
            <a:r>
              <a:rPr sz="1000" dirty="0">
                <a:latin typeface="Century Gothic"/>
                <a:cs typeface="Century Gothic"/>
              </a:rPr>
              <a:t>networks</a:t>
            </a:r>
            <a:r>
              <a:rPr sz="1000" spc="70" dirty="0">
                <a:latin typeface="Century Gothic"/>
                <a:cs typeface="Century Gothic"/>
              </a:rPr>
              <a:t> </a:t>
            </a:r>
            <a:r>
              <a:rPr sz="1000" spc="-25" dirty="0">
                <a:latin typeface="Century Gothic"/>
                <a:cs typeface="Century Gothic"/>
              </a:rPr>
              <a:t>available</a:t>
            </a:r>
            <a:r>
              <a:rPr sz="1000" spc="100" dirty="0">
                <a:latin typeface="Century Gothic"/>
                <a:cs typeface="Century Gothic"/>
              </a:rPr>
              <a:t> </a:t>
            </a:r>
            <a:r>
              <a:rPr sz="1000" dirty="0">
                <a:latin typeface="Century Gothic"/>
                <a:cs typeface="Century Gothic"/>
              </a:rPr>
              <a:t>to</a:t>
            </a:r>
            <a:r>
              <a:rPr sz="1000" spc="100" dirty="0">
                <a:latin typeface="Century Gothic"/>
                <a:cs typeface="Century Gothic"/>
              </a:rPr>
              <a:t> </a:t>
            </a:r>
            <a:r>
              <a:rPr sz="1000" dirty="0">
                <a:latin typeface="Century Gothic"/>
                <a:cs typeface="Century Gothic"/>
              </a:rPr>
              <a:t>help</a:t>
            </a:r>
            <a:r>
              <a:rPr sz="1000" spc="90" dirty="0">
                <a:latin typeface="Century Gothic"/>
                <a:cs typeface="Century Gothic"/>
              </a:rPr>
              <a:t> </a:t>
            </a:r>
            <a:r>
              <a:rPr sz="1000" dirty="0">
                <a:latin typeface="Century Gothic"/>
                <a:cs typeface="Century Gothic"/>
              </a:rPr>
              <a:t>them</a:t>
            </a:r>
            <a:r>
              <a:rPr sz="1000" spc="85" dirty="0">
                <a:latin typeface="Century Gothic"/>
                <a:cs typeface="Century Gothic"/>
              </a:rPr>
              <a:t> </a:t>
            </a:r>
            <a:r>
              <a:rPr sz="1000" dirty="0">
                <a:latin typeface="Century Gothic"/>
                <a:cs typeface="Century Gothic"/>
              </a:rPr>
              <a:t>as</a:t>
            </a:r>
            <a:r>
              <a:rPr sz="1000" spc="95" dirty="0">
                <a:latin typeface="Century Gothic"/>
                <a:cs typeface="Century Gothic"/>
              </a:rPr>
              <a:t> </a:t>
            </a:r>
            <a:r>
              <a:rPr sz="1000" spc="-10" dirty="0">
                <a:latin typeface="Century Gothic"/>
                <a:cs typeface="Century Gothic"/>
              </a:rPr>
              <a:t>individuals</a:t>
            </a:r>
            <a:endParaRPr sz="1000">
              <a:latin typeface="Century Gothic"/>
              <a:cs typeface="Century Gothic"/>
            </a:endParaRPr>
          </a:p>
          <a:p>
            <a:pPr marL="214629" lvl="1" indent="-201930">
              <a:lnSpc>
                <a:spcPts val="1195"/>
              </a:lnSpc>
              <a:buAutoNum type="arabicPeriod"/>
              <a:tabLst>
                <a:tab pos="214629" algn="l"/>
              </a:tabLst>
            </a:pPr>
            <a:r>
              <a:rPr sz="1000" spc="20" dirty="0">
                <a:latin typeface="Century Gothic"/>
                <a:cs typeface="Century Gothic"/>
              </a:rPr>
              <a:t>Provide</a:t>
            </a:r>
            <a:r>
              <a:rPr sz="1000" spc="5" dirty="0">
                <a:latin typeface="Century Gothic"/>
                <a:cs typeface="Century Gothic"/>
              </a:rPr>
              <a:t> </a:t>
            </a:r>
            <a:r>
              <a:rPr sz="1000" spc="10" dirty="0">
                <a:latin typeface="Century Gothic"/>
                <a:cs typeface="Century Gothic"/>
              </a:rPr>
              <a:t>examples</a:t>
            </a:r>
            <a:r>
              <a:rPr sz="1000" spc="5" dirty="0">
                <a:latin typeface="Century Gothic"/>
                <a:cs typeface="Century Gothic"/>
              </a:rPr>
              <a:t> </a:t>
            </a:r>
            <a:r>
              <a:rPr sz="1000" spc="10" dirty="0">
                <a:latin typeface="Century Gothic"/>
                <a:cs typeface="Century Gothic"/>
              </a:rPr>
              <a:t>of</a:t>
            </a:r>
            <a:r>
              <a:rPr sz="1000" spc="15" dirty="0">
                <a:latin typeface="Century Gothic"/>
                <a:cs typeface="Century Gothic"/>
              </a:rPr>
              <a:t> </a:t>
            </a:r>
            <a:r>
              <a:rPr sz="1000" spc="20" dirty="0">
                <a:latin typeface="Century Gothic"/>
                <a:cs typeface="Century Gothic"/>
              </a:rPr>
              <a:t>opportunities that</a:t>
            </a:r>
            <a:r>
              <a:rPr sz="1000" spc="55" dirty="0">
                <a:latin typeface="Century Gothic"/>
                <a:cs typeface="Century Gothic"/>
              </a:rPr>
              <a:t> </a:t>
            </a:r>
            <a:r>
              <a:rPr sz="1000" spc="20" dirty="0">
                <a:latin typeface="Century Gothic"/>
                <a:cs typeface="Century Gothic"/>
              </a:rPr>
              <a:t>interest</a:t>
            </a:r>
            <a:r>
              <a:rPr sz="1000" spc="10" dirty="0">
                <a:latin typeface="Century Gothic"/>
                <a:cs typeface="Century Gothic"/>
              </a:rPr>
              <a:t> </a:t>
            </a:r>
            <a:r>
              <a:rPr sz="1000" spc="-25" dirty="0">
                <a:latin typeface="Century Gothic"/>
                <a:cs typeface="Century Gothic"/>
              </a:rPr>
              <a:t>you</a:t>
            </a:r>
            <a:endParaRPr sz="1000">
              <a:latin typeface="Century Gothic"/>
              <a:cs typeface="Century Gothic"/>
            </a:endParaRPr>
          </a:p>
          <a:p>
            <a:pPr marL="198120" lvl="1" indent="-187325">
              <a:lnSpc>
                <a:spcPts val="1195"/>
              </a:lnSpc>
              <a:buAutoNum type="arabicPeriod"/>
              <a:tabLst>
                <a:tab pos="198120" algn="l"/>
              </a:tabLst>
            </a:pPr>
            <a:r>
              <a:rPr sz="1000" dirty="0">
                <a:latin typeface="Century Gothic"/>
                <a:cs typeface="Century Gothic"/>
              </a:rPr>
              <a:t>Explain</a:t>
            </a:r>
            <a:r>
              <a:rPr sz="1000" spc="75" dirty="0">
                <a:latin typeface="Century Gothic"/>
                <a:cs typeface="Century Gothic"/>
              </a:rPr>
              <a:t> </a:t>
            </a:r>
            <a:r>
              <a:rPr sz="1000" dirty="0">
                <a:latin typeface="Century Gothic"/>
                <a:cs typeface="Century Gothic"/>
              </a:rPr>
              <a:t>how</a:t>
            </a:r>
            <a:r>
              <a:rPr sz="1000" spc="50" dirty="0">
                <a:latin typeface="Century Gothic"/>
                <a:cs typeface="Century Gothic"/>
              </a:rPr>
              <a:t> </a:t>
            </a:r>
            <a:r>
              <a:rPr sz="1000" spc="-25" dirty="0">
                <a:latin typeface="Century Gothic"/>
                <a:cs typeface="Century Gothic"/>
              </a:rPr>
              <a:t>everyday</a:t>
            </a:r>
            <a:r>
              <a:rPr sz="1000" spc="50" dirty="0">
                <a:latin typeface="Century Gothic"/>
                <a:cs typeface="Century Gothic"/>
              </a:rPr>
              <a:t> </a:t>
            </a:r>
            <a:r>
              <a:rPr sz="1000" dirty="0">
                <a:latin typeface="Century Gothic"/>
                <a:cs typeface="Century Gothic"/>
              </a:rPr>
              <a:t>activities</a:t>
            </a:r>
            <a:r>
              <a:rPr sz="1000" spc="60" dirty="0">
                <a:latin typeface="Century Gothic"/>
                <a:cs typeface="Century Gothic"/>
              </a:rPr>
              <a:t> </a:t>
            </a:r>
            <a:r>
              <a:rPr sz="1000" spc="-50" dirty="0">
                <a:latin typeface="Century Gothic"/>
                <a:cs typeface="Century Gothic"/>
              </a:rPr>
              <a:t>can</a:t>
            </a:r>
            <a:r>
              <a:rPr sz="1000" spc="65" dirty="0">
                <a:latin typeface="Century Gothic"/>
                <a:cs typeface="Century Gothic"/>
              </a:rPr>
              <a:t> </a:t>
            </a:r>
            <a:r>
              <a:rPr sz="1000" dirty="0">
                <a:latin typeface="Century Gothic"/>
                <a:cs typeface="Century Gothic"/>
              </a:rPr>
              <a:t>help</a:t>
            </a:r>
            <a:r>
              <a:rPr sz="1000" spc="75" dirty="0">
                <a:latin typeface="Century Gothic"/>
                <a:cs typeface="Century Gothic"/>
              </a:rPr>
              <a:t> </a:t>
            </a:r>
            <a:r>
              <a:rPr sz="1000" spc="-20" dirty="0">
                <a:latin typeface="Century Gothic"/>
                <a:cs typeface="Century Gothic"/>
              </a:rPr>
              <a:t>develop</a:t>
            </a:r>
            <a:r>
              <a:rPr sz="1000" spc="30" dirty="0">
                <a:latin typeface="Century Gothic"/>
                <a:cs typeface="Century Gothic"/>
              </a:rPr>
              <a:t> </a:t>
            </a:r>
            <a:r>
              <a:rPr sz="1000" dirty="0">
                <a:latin typeface="Century Gothic"/>
                <a:cs typeface="Century Gothic"/>
              </a:rPr>
              <a:t>transferable</a:t>
            </a:r>
            <a:r>
              <a:rPr sz="1000" spc="70" dirty="0">
                <a:latin typeface="Century Gothic"/>
                <a:cs typeface="Century Gothic"/>
              </a:rPr>
              <a:t> </a:t>
            </a:r>
            <a:r>
              <a:rPr sz="1000" spc="80" dirty="0">
                <a:latin typeface="Century Gothic"/>
                <a:cs typeface="Century Gothic"/>
              </a:rPr>
              <a:t>skills</a:t>
            </a:r>
            <a:r>
              <a:rPr sz="1000" spc="65" dirty="0">
                <a:latin typeface="Century Gothic"/>
                <a:cs typeface="Century Gothic"/>
              </a:rPr>
              <a:t> </a:t>
            </a:r>
            <a:r>
              <a:rPr sz="1000" spc="-10" dirty="0">
                <a:latin typeface="Century Gothic"/>
                <a:cs typeface="Century Gothic"/>
              </a:rPr>
              <a:t>qualities</a:t>
            </a:r>
            <a:endParaRPr sz="1000">
              <a:latin typeface="Century Gothic"/>
              <a:cs typeface="Century Gothic"/>
            </a:endParaRPr>
          </a:p>
          <a:p>
            <a:pPr marL="226060" lvl="1" indent="-213360">
              <a:lnSpc>
                <a:spcPts val="1195"/>
              </a:lnSpc>
              <a:buAutoNum type="arabicPeriod"/>
              <a:tabLst>
                <a:tab pos="226060" algn="l"/>
              </a:tabLst>
            </a:pPr>
            <a:r>
              <a:rPr sz="1000" dirty="0">
                <a:latin typeface="Century Gothic"/>
                <a:cs typeface="Century Gothic"/>
              </a:rPr>
              <a:t>Explain</a:t>
            </a:r>
            <a:r>
              <a:rPr sz="1000" spc="110" dirty="0">
                <a:latin typeface="Century Gothic"/>
                <a:cs typeface="Century Gothic"/>
              </a:rPr>
              <a:t> </a:t>
            </a:r>
            <a:r>
              <a:rPr sz="1000" dirty="0">
                <a:latin typeface="Century Gothic"/>
                <a:cs typeface="Century Gothic"/>
              </a:rPr>
              <a:t>how</a:t>
            </a:r>
            <a:r>
              <a:rPr sz="1000" spc="85" dirty="0">
                <a:latin typeface="Century Gothic"/>
                <a:cs typeface="Century Gothic"/>
              </a:rPr>
              <a:t> </a:t>
            </a:r>
            <a:r>
              <a:rPr sz="1000" dirty="0">
                <a:latin typeface="Century Gothic"/>
                <a:cs typeface="Century Gothic"/>
              </a:rPr>
              <a:t>other</a:t>
            </a:r>
            <a:r>
              <a:rPr sz="1000" spc="85" dirty="0">
                <a:latin typeface="Century Gothic"/>
                <a:cs typeface="Century Gothic"/>
              </a:rPr>
              <a:t> </a:t>
            </a:r>
            <a:r>
              <a:rPr sz="1000" dirty="0">
                <a:latin typeface="Century Gothic"/>
                <a:cs typeface="Century Gothic"/>
              </a:rPr>
              <a:t>initiatives</a:t>
            </a:r>
            <a:r>
              <a:rPr sz="1000" spc="95" dirty="0">
                <a:latin typeface="Century Gothic"/>
                <a:cs typeface="Century Gothic"/>
              </a:rPr>
              <a:t> </a:t>
            </a:r>
            <a:r>
              <a:rPr sz="1000" spc="-45" dirty="0">
                <a:latin typeface="Century Gothic"/>
                <a:cs typeface="Century Gothic"/>
              </a:rPr>
              <a:t>can</a:t>
            </a:r>
            <a:r>
              <a:rPr sz="1000" spc="114" dirty="0">
                <a:latin typeface="Century Gothic"/>
                <a:cs typeface="Century Gothic"/>
              </a:rPr>
              <a:t> </a:t>
            </a:r>
            <a:r>
              <a:rPr sz="1000" dirty="0">
                <a:latin typeface="Century Gothic"/>
                <a:cs typeface="Century Gothic"/>
              </a:rPr>
              <a:t>help</a:t>
            </a:r>
            <a:r>
              <a:rPr sz="1000" spc="90" dirty="0">
                <a:latin typeface="Century Gothic"/>
                <a:cs typeface="Century Gothic"/>
              </a:rPr>
              <a:t> </a:t>
            </a:r>
            <a:r>
              <a:rPr sz="1000" spc="-10" dirty="0">
                <a:latin typeface="Century Gothic"/>
                <a:cs typeface="Century Gothic"/>
              </a:rPr>
              <a:t>develop</a:t>
            </a:r>
            <a:r>
              <a:rPr sz="1000" spc="75" dirty="0">
                <a:latin typeface="Century Gothic"/>
                <a:cs typeface="Century Gothic"/>
              </a:rPr>
              <a:t> </a:t>
            </a:r>
            <a:r>
              <a:rPr sz="1000" dirty="0">
                <a:latin typeface="Century Gothic"/>
                <a:cs typeface="Century Gothic"/>
              </a:rPr>
              <a:t>transferable</a:t>
            </a:r>
            <a:r>
              <a:rPr sz="1000" spc="95" dirty="0">
                <a:latin typeface="Century Gothic"/>
                <a:cs typeface="Century Gothic"/>
              </a:rPr>
              <a:t> </a:t>
            </a:r>
            <a:r>
              <a:rPr sz="1000" spc="80" dirty="0">
                <a:latin typeface="Century Gothic"/>
                <a:cs typeface="Century Gothic"/>
              </a:rPr>
              <a:t>skills</a:t>
            </a:r>
            <a:r>
              <a:rPr sz="1000" spc="105" dirty="0">
                <a:latin typeface="Century Gothic"/>
                <a:cs typeface="Century Gothic"/>
              </a:rPr>
              <a:t> </a:t>
            </a:r>
            <a:r>
              <a:rPr sz="1000" spc="-10" dirty="0">
                <a:latin typeface="Century Gothic"/>
                <a:cs typeface="Century Gothic"/>
              </a:rPr>
              <a:t>and</a:t>
            </a:r>
            <a:r>
              <a:rPr sz="1000" spc="110" dirty="0">
                <a:latin typeface="Century Gothic"/>
                <a:cs typeface="Century Gothic"/>
              </a:rPr>
              <a:t> </a:t>
            </a:r>
            <a:r>
              <a:rPr sz="1000" spc="-10" dirty="0">
                <a:latin typeface="Century Gothic"/>
                <a:cs typeface="Century Gothic"/>
              </a:rPr>
              <a:t>qualities</a:t>
            </a:r>
            <a:endParaRPr sz="1000">
              <a:latin typeface="Century Gothic"/>
              <a:cs typeface="Century Gothic"/>
            </a:endParaRPr>
          </a:p>
          <a:p>
            <a:pPr marL="189230" lvl="1" indent="-187325">
              <a:lnSpc>
                <a:spcPts val="1195"/>
              </a:lnSpc>
              <a:buAutoNum type="arabicPeriod"/>
              <a:tabLst>
                <a:tab pos="189230" algn="l"/>
              </a:tabLst>
            </a:pPr>
            <a:r>
              <a:rPr sz="1000" spc="10" dirty="0">
                <a:latin typeface="Century Gothic"/>
                <a:cs typeface="Century Gothic"/>
              </a:rPr>
              <a:t>Explain</a:t>
            </a:r>
            <a:r>
              <a:rPr sz="1000" spc="80" dirty="0">
                <a:latin typeface="Century Gothic"/>
                <a:cs typeface="Century Gothic"/>
              </a:rPr>
              <a:t> </a:t>
            </a:r>
            <a:r>
              <a:rPr sz="1000" spc="10" dirty="0">
                <a:latin typeface="Century Gothic"/>
                <a:cs typeface="Century Gothic"/>
              </a:rPr>
              <a:t>how</a:t>
            </a:r>
            <a:r>
              <a:rPr sz="1000" spc="55" dirty="0">
                <a:latin typeface="Century Gothic"/>
                <a:cs typeface="Century Gothic"/>
              </a:rPr>
              <a:t> </a:t>
            </a:r>
            <a:r>
              <a:rPr sz="1000" spc="10" dirty="0">
                <a:latin typeface="Century Gothic"/>
                <a:cs typeface="Century Gothic"/>
              </a:rPr>
              <a:t>to</a:t>
            </a:r>
            <a:r>
              <a:rPr sz="1000" spc="65" dirty="0">
                <a:latin typeface="Century Gothic"/>
                <a:cs typeface="Century Gothic"/>
              </a:rPr>
              <a:t> </a:t>
            </a:r>
            <a:r>
              <a:rPr sz="1000" spc="10" dirty="0">
                <a:latin typeface="Century Gothic"/>
                <a:cs typeface="Century Gothic"/>
              </a:rPr>
              <a:t>use</a:t>
            </a:r>
            <a:r>
              <a:rPr sz="1000" spc="60" dirty="0">
                <a:latin typeface="Century Gothic"/>
                <a:cs typeface="Century Gothic"/>
              </a:rPr>
              <a:t> </a:t>
            </a:r>
            <a:r>
              <a:rPr sz="1000" spc="10" dirty="0">
                <a:latin typeface="Century Gothic"/>
                <a:cs typeface="Century Gothic"/>
              </a:rPr>
              <a:t>own</a:t>
            </a:r>
            <a:r>
              <a:rPr sz="1000" spc="50" dirty="0">
                <a:latin typeface="Century Gothic"/>
                <a:cs typeface="Century Gothic"/>
              </a:rPr>
              <a:t> </a:t>
            </a:r>
            <a:r>
              <a:rPr sz="1000" dirty="0">
                <a:latin typeface="Century Gothic"/>
                <a:cs typeface="Century Gothic"/>
              </a:rPr>
              <a:t>experiences</a:t>
            </a:r>
            <a:r>
              <a:rPr sz="1000" spc="20" dirty="0">
                <a:latin typeface="Century Gothic"/>
                <a:cs typeface="Century Gothic"/>
              </a:rPr>
              <a:t> </a:t>
            </a:r>
            <a:r>
              <a:rPr sz="1000" spc="10" dirty="0">
                <a:latin typeface="Century Gothic"/>
                <a:cs typeface="Century Gothic"/>
              </a:rPr>
              <a:t>to</a:t>
            </a:r>
            <a:r>
              <a:rPr sz="1000" spc="75" dirty="0">
                <a:latin typeface="Century Gothic"/>
                <a:cs typeface="Century Gothic"/>
              </a:rPr>
              <a:t> </a:t>
            </a:r>
            <a:r>
              <a:rPr sz="1000" spc="10" dirty="0">
                <a:latin typeface="Century Gothic"/>
                <a:cs typeface="Century Gothic"/>
              </a:rPr>
              <a:t>support</a:t>
            </a:r>
            <a:r>
              <a:rPr sz="1000" spc="50" dirty="0">
                <a:latin typeface="Century Gothic"/>
                <a:cs typeface="Century Gothic"/>
              </a:rPr>
              <a:t> </a:t>
            </a:r>
            <a:r>
              <a:rPr sz="1000" spc="10" dirty="0">
                <a:latin typeface="Century Gothic"/>
                <a:cs typeface="Century Gothic"/>
              </a:rPr>
              <a:t>your</a:t>
            </a:r>
            <a:r>
              <a:rPr sz="1000" spc="40" dirty="0">
                <a:latin typeface="Century Gothic"/>
                <a:cs typeface="Century Gothic"/>
              </a:rPr>
              <a:t> </a:t>
            </a:r>
            <a:r>
              <a:rPr sz="1000" spc="-10" dirty="0">
                <a:latin typeface="Century Gothic"/>
                <a:cs typeface="Century Gothic"/>
              </a:rPr>
              <a:t>choices</a:t>
            </a:r>
            <a:endParaRPr sz="1000">
              <a:latin typeface="Century Gothic"/>
              <a:cs typeface="Century Gothic"/>
            </a:endParaRPr>
          </a:p>
          <a:p>
            <a:pPr marL="214629" lvl="1" indent="-201930">
              <a:lnSpc>
                <a:spcPts val="1200"/>
              </a:lnSpc>
              <a:buAutoNum type="arabicPeriod"/>
              <a:tabLst>
                <a:tab pos="214629" algn="l"/>
              </a:tabLst>
            </a:pPr>
            <a:r>
              <a:rPr sz="1000" dirty="0">
                <a:latin typeface="Century Gothic"/>
                <a:cs typeface="Century Gothic"/>
              </a:rPr>
              <a:t>Assess</a:t>
            </a:r>
            <a:r>
              <a:rPr sz="1000" spc="75" dirty="0">
                <a:latin typeface="Century Gothic"/>
                <a:cs typeface="Century Gothic"/>
              </a:rPr>
              <a:t> </a:t>
            </a:r>
            <a:r>
              <a:rPr sz="1000" dirty="0">
                <a:latin typeface="Century Gothic"/>
                <a:cs typeface="Century Gothic"/>
              </a:rPr>
              <a:t>how</a:t>
            </a:r>
            <a:r>
              <a:rPr sz="1000" spc="90" dirty="0">
                <a:latin typeface="Century Gothic"/>
                <a:cs typeface="Century Gothic"/>
              </a:rPr>
              <a:t> </a:t>
            </a:r>
            <a:r>
              <a:rPr sz="1000" dirty="0">
                <a:latin typeface="Century Gothic"/>
                <a:cs typeface="Century Gothic"/>
              </a:rPr>
              <a:t>own</a:t>
            </a:r>
            <a:r>
              <a:rPr sz="1000" spc="80" dirty="0">
                <a:latin typeface="Century Gothic"/>
                <a:cs typeface="Century Gothic"/>
              </a:rPr>
              <a:t> </a:t>
            </a:r>
            <a:r>
              <a:rPr sz="1000" dirty="0">
                <a:latin typeface="Century Gothic"/>
                <a:cs typeface="Century Gothic"/>
              </a:rPr>
              <a:t>attitudes,</a:t>
            </a:r>
            <a:r>
              <a:rPr sz="1000" spc="114" dirty="0">
                <a:latin typeface="Century Gothic"/>
                <a:cs typeface="Century Gothic"/>
              </a:rPr>
              <a:t> </a:t>
            </a:r>
            <a:r>
              <a:rPr sz="1000" dirty="0">
                <a:latin typeface="Century Gothic"/>
                <a:cs typeface="Century Gothic"/>
              </a:rPr>
              <a:t>values</a:t>
            </a:r>
            <a:r>
              <a:rPr sz="1000" spc="90" dirty="0">
                <a:latin typeface="Century Gothic"/>
                <a:cs typeface="Century Gothic"/>
              </a:rPr>
              <a:t> </a:t>
            </a:r>
            <a:r>
              <a:rPr sz="1000" spc="-10" dirty="0">
                <a:latin typeface="Century Gothic"/>
                <a:cs typeface="Century Gothic"/>
              </a:rPr>
              <a:t>and</a:t>
            </a:r>
            <a:r>
              <a:rPr sz="1000" spc="120" dirty="0">
                <a:latin typeface="Century Gothic"/>
                <a:cs typeface="Century Gothic"/>
              </a:rPr>
              <a:t> </a:t>
            </a:r>
            <a:r>
              <a:rPr sz="1000" dirty="0">
                <a:latin typeface="Century Gothic"/>
                <a:cs typeface="Century Gothic"/>
              </a:rPr>
              <a:t>behaviour</a:t>
            </a:r>
            <a:r>
              <a:rPr sz="1000" spc="75" dirty="0">
                <a:latin typeface="Century Gothic"/>
                <a:cs typeface="Century Gothic"/>
              </a:rPr>
              <a:t> </a:t>
            </a:r>
            <a:r>
              <a:rPr sz="1000" spc="-25" dirty="0">
                <a:latin typeface="Century Gothic"/>
                <a:cs typeface="Century Gothic"/>
              </a:rPr>
              <a:t>affect</a:t>
            </a:r>
            <a:r>
              <a:rPr sz="1000" spc="100" dirty="0">
                <a:latin typeface="Century Gothic"/>
                <a:cs typeface="Century Gothic"/>
              </a:rPr>
              <a:t> </a:t>
            </a:r>
            <a:r>
              <a:rPr sz="1000" dirty="0">
                <a:latin typeface="Century Gothic"/>
                <a:cs typeface="Century Gothic"/>
              </a:rPr>
              <a:t>opportunities</a:t>
            </a:r>
            <a:r>
              <a:rPr sz="1000" spc="90" dirty="0">
                <a:latin typeface="Century Gothic"/>
                <a:cs typeface="Century Gothic"/>
              </a:rPr>
              <a:t> </a:t>
            </a:r>
            <a:r>
              <a:rPr sz="1000" spc="-10" dirty="0">
                <a:latin typeface="Century Gothic"/>
                <a:cs typeface="Century Gothic"/>
              </a:rPr>
              <a:t>sought</a:t>
            </a:r>
            <a:endParaRPr sz="1000">
              <a:latin typeface="Century Gothic"/>
              <a:cs typeface="Century Gothic"/>
            </a:endParaRPr>
          </a:p>
        </p:txBody>
      </p:sp>
      <p:sp>
        <p:nvSpPr>
          <p:cNvPr id="5" name="object 5"/>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6" name="object 6"/>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5</a:t>
            </a:fld>
            <a:endParaRPr spc="-25" dirty="0"/>
          </a:p>
        </p:txBody>
      </p:sp>
      <p:sp>
        <p:nvSpPr>
          <p:cNvPr id="4" name="object 4"/>
          <p:cNvSpPr txBox="1"/>
          <p:nvPr/>
        </p:nvSpPr>
        <p:spPr>
          <a:xfrm>
            <a:off x="2239657" y="921105"/>
            <a:ext cx="2310765" cy="574040"/>
          </a:xfrm>
          <a:prstGeom prst="rect">
            <a:avLst/>
          </a:prstGeom>
        </p:spPr>
        <p:txBody>
          <a:bodyPr vert="horz" wrap="square" lIns="0" tIns="12700" rIns="0" bIns="0" rtlCol="0">
            <a:spAutoFit/>
          </a:bodyPr>
          <a:lstStyle/>
          <a:p>
            <a:pPr marL="188595" marR="5080" indent="-176530">
              <a:lnSpc>
                <a:spcPct val="100000"/>
              </a:lnSpc>
              <a:spcBef>
                <a:spcPts val="100"/>
              </a:spcBef>
            </a:pPr>
            <a:r>
              <a:rPr sz="1800" spc="225" dirty="0">
                <a:latin typeface="Calibri"/>
                <a:cs typeface="Calibri"/>
              </a:rPr>
              <a:t>IDENTIFY</a:t>
            </a:r>
            <a:r>
              <a:rPr sz="1800" spc="90" dirty="0">
                <a:latin typeface="Calibri"/>
                <a:cs typeface="Calibri"/>
              </a:rPr>
              <a:t> </a:t>
            </a:r>
            <a:r>
              <a:rPr sz="1800" spc="235" dirty="0">
                <a:latin typeface="Calibri"/>
                <a:cs typeface="Calibri"/>
              </a:rPr>
              <a:t>SUITABLE </a:t>
            </a:r>
            <a:r>
              <a:rPr sz="1800" spc="240" dirty="0">
                <a:latin typeface="Calibri"/>
                <a:cs typeface="Calibri"/>
              </a:rPr>
              <a:t>OPPORTUNITIES</a:t>
            </a:r>
            <a:endParaRPr sz="180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6858000" cy="9906000"/>
            <a:chOff x="0" y="0"/>
            <a:chExt cx="6858000" cy="9906000"/>
          </a:xfrm>
        </p:grpSpPr>
        <p:pic>
          <p:nvPicPr>
            <p:cNvPr id="3" name="object 3" descr="A close up of a sign  Description automatically generated"/>
            <p:cNvPicPr/>
            <p:nvPr/>
          </p:nvPicPr>
          <p:blipFill>
            <a:blip r:embed="rId2" cstate="print"/>
            <a:stretch>
              <a:fillRect/>
            </a:stretch>
          </p:blipFill>
          <p:spPr>
            <a:xfrm>
              <a:off x="5635752" y="452628"/>
              <a:ext cx="888491" cy="539495"/>
            </a:xfrm>
            <a:prstGeom prst="rect">
              <a:avLst/>
            </a:prstGeom>
          </p:spPr>
        </p:pic>
        <p:sp>
          <p:nvSpPr>
            <p:cNvPr id="4" name="object 4"/>
            <p:cNvSpPr/>
            <p:nvPr/>
          </p:nvSpPr>
          <p:spPr>
            <a:xfrm>
              <a:off x="460375" y="2066329"/>
              <a:ext cx="0" cy="1176655"/>
            </a:xfrm>
            <a:custGeom>
              <a:avLst/>
              <a:gdLst/>
              <a:ahLst/>
              <a:cxnLst/>
              <a:rect l="l" t="t" r="r" b="b"/>
              <a:pathLst>
                <a:path h="1176655">
                  <a:moveTo>
                    <a:pt x="0" y="0"/>
                  </a:moveTo>
                  <a:lnTo>
                    <a:pt x="0" y="1176235"/>
                  </a:lnTo>
                </a:path>
              </a:pathLst>
            </a:custGeom>
            <a:ln w="12700">
              <a:solidFill>
                <a:srgbClr val="000000"/>
              </a:solidFill>
            </a:ln>
          </p:spPr>
          <p:txBody>
            <a:bodyPr wrap="square" lIns="0" tIns="0" rIns="0" bIns="0" rtlCol="0"/>
            <a:lstStyle/>
            <a:p>
              <a:endParaRPr sz="900"/>
            </a:p>
          </p:txBody>
        </p:sp>
        <p:sp>
          <p:nvSpPr>
            <p:cNvPr id="5" name="object 5"/>
            <p:cNvSpPr/>
            <p:nvPr/>
          </p:nvSpPr>
          <p:spPr>
            <a:xfrm>
              <a:off x="6375400" y="2066329"/>
              <a:ext cx="0" cy="1176655"/>
            </a:xfrm>
            <a:custGeom>
              <a:avLst/>
              <a:gdLst/>
              <a:ahLst/>
              <a:cxnLst/>
              <a:rect l="l" t="t" r="r" b="b"/>
              <a:pathLst>
                <a:path h="1176655">
                  <a:moveTo>
                    <a:pt x="0" y="0"/>
                  </a:moveTo>
                  <a:lnTo>
                    <a:pt x="0" y="1176235"/>
                  </a:lnTo>
                </a:path>
              </a:pathLst>
            </a:custGeom>
            <a:ln w="12700">
              <a:solidFill>
                <a:srgbClr val="000000"/>
              </a:solidFill>
            </a:ln>
          </p:spPr>
          <p:txBody>
            <a:bodyPr wrap="square" lIns="0" tIns="0" rIns="0" bIns="0" rtlCol="0"/>
            <a:lstStyle/>
            <a:p>
              <a:endParaRPr sz="900"/>
            </a:p>
          </p:txBody>
        </p:sp>
        <p:sp>
          <p:nvSpPr>
            <p:cNvPr id="6" name="object 6"/>
            <p:cNvSpPr/>
            <p:nvPr/>
          </p:nvSpPr>
          <p:spPr>
            <a:xfrm>
              <a:off x="454025" y="2072679"/>
              <a:ext cx="5927725" cy="0"/>
            </a:xfrm>
            <a:custGeom>
              <a:avLst/>
              <a:gdLst/>
              <a:ahLst/>
              <a:cxnLst/>
              <a:rect l="l" t="t" r="r" b="b"/>
              <a:pathLst>
                <a:path w="5927725">
                  <a:moveTo>
                    <a:pt x="0" y="0"/>
                  </a:moveTo>
                  <a:lnTo>
                    <a:pt x="5927725" y="0"/>
                  </a:lnTo>
                </a:path>
              </a:pathLst>
            </a:custGeom>
            <a:ln w="12700">
              <a:solidFill>
                <a:srgbClr val="000000"/>
              </a:solidFill>
            </a:ln>
          </p:spPr>
          <p:txBody>
            <a:bodyPr wrap="square" lIns="0" tIns="0" rIns="0" bIns="0" rtlCol="0"/>
            <a:lstStyle/>
            <a:p>
              <a:endParaRPr sz="900"/>
            </a:p>
          </p:txBody>
        </p:sp>
        <p:sp>
          <p:nvSpPr>
            <p:cNvPr id="7" name="object 7"/>
            <p:cNvSpPr/>
            <p:nvPr/>
          </p:nvSpPr>
          <p:spPr>
            <a:xfrm>
              <a:off x="454025" y="3236208"/>
              <a:ext cx="5927725" cy="0"/>
            </a:xfrm>
            <a:custGeom>
              <a:avLst/>
              <a:gdLst/>
              <a:ahLst/>
              <a:cxnLst/>
              <a:rect l="l" t="t" r="r" b="b"/>
              <a:pathLst>
                <a:path w="5927725">
                  <a:moveTo>
                    <a:pt x="0" y="0"/>
                  </a:moveTo>
                  <a:lnTo>
                    <a:pt x="5927725" y="0"/>
                  </a:lnTo>
                </a:path>
              </a:pathLst>
            </a:custGeom>
            <a:ln w="12700">
              <a:solidFill>
                <a:srgbClr val="000000"/>
              </a:solidFill>
            </a:ln>
          </p:spPr>
          <p:txBody>
            <a:bodyPr wrap="square" lIns="0" tIns="0" rIns="0" bIns="0" rtlCol="0"/>
            <a:lstStyle/>
            <a:p>
              <a:endParaRPr sz="900"/>
            </a:p>
          </p:txBody>
        </p:sp>
      </p:grpSp>
      <p:sp>
        <p:nvSpPr>
          <p:cNvPr id="8" name="object 8"/>
          <p:cNvSpPr txBox="1"/>
          <p:nvPr/>
        </p:nvSpPr>
        <p:spPr>
          <a:xfrm>
            <a:off x="411396" y="1685925"/>
            <a:ext cx="5366385" cy="150682"/>
          </a:xfrm>
          <a:prstGeom prst="rect">
            <a:avLst/>
          </a:prstGeom>
        </p:spPr>
        <p:txBody>
          <a:bodyPr vert="horz" wrap="square" lIns="0" tIns="12065" rIns="0" bIns="0" rtlCol="0">
            <a:spAutoFit/>
          </a:bodyPr>
          <a:lstStyle/>
          <a:p>
            <a:pPr marL="12700">
              <a:lnSpc>
                <a:spcPct val="100000"/>
              </a:lnSpc>
              <a:spcBef>
                <a:spcPts val="95"/>
              </a:spcBef>
            </a:pPr>
            <a:r>
              <a:rPr sz="900" b="1" dirty="0">
                <a:latin typeface="Calibri"/>
                <a:cs typeface="Calibri"/>
              </a:rPr>
              <a:t>Q1)</a:t>
            </a:r>
            <a:r>
              <a:rPr sz="900" b="1" spc="140" dirty="0">
                <a:latin typeface="Calibri"/>
                <a:cs typeface="Calibri"/>
              </a:rPr>
              <a:t> </a:t>
            </a:r>
            <a:r>
              <a:rPr sz="900" b="1" spc="-75" dirty="0">
                <a:latin typeface="Calibri"/>
                <a:cs typeface="Calibri"/>
              </a:rPr>
              <a:t>1.1</a:t>
            </a:r>
            <a:r>
              <a:rPr sz="900" b="1" spc="135" dirty="0">
                <a:latin typeface="Calibri"/>
                <a:cs typeface="Calibri"/>
              </a:rPr>
              <a:t> </a:t>
            </a:r>
            <a:r>
              <a:rPr sz="900" b="1" spc="105" dirty="0">
                <a:latin typeface="Calibri"/>
                <a:cs typeface="Calibri"/>
              </a:rPr>
              <a:t>Outline</a:t>
            </a:r>
            <a:r>
              <a:rPr sz="900" b="1" spc="160" dirty="0">
                <a:latin typeface="Calibri"/>
                <a:cs typeface="Calibri"/>
              </a:rPr>
              <a:t> </a:t>
            </a:r>
            <a:r>
              <a:rPr sz="900" dirty="0">
                <a:latin typeface="Century Gothic"/>
                <a:cs typeface="Century Gothic"/>
              </a:rPr>
              <a:t>why</a:t>
            </a:r>
            <a:r>
              <a:rPr sz="900" spc="45" dirty="0">
                <a:latin typeface="Century Gothic"/>
                <a:cs typeface="Century Gothic"/>
              </a:rPr>
              <a:t> </a:t>
            </a:r>
            <a:r>
              <a:rPr sz="900" spc="60" dirty="0">
                <a:latin typeface="Century Gothic"/>
                <a:cs typeface="Century Gothic"/>
              </a:rPr>
              <a:t>it</a:t>
            </a:r>
            <a:r>
              <a:rPr sz="900" spc="75" dirty="0">
                <a:latin typeface="Century Gothic"/>
                <a:cs typeface="Century Gothic"/>
              </a:rPr>
              <a:t> is</a:t>
            </a:r>
            <a:r>
              <a:rPr sz="900" spc="60" dirty="0">
                <a:latin typeface="Century Gothic"/>
                <a:cs typeface="Century Gothic"/>
              </a:rPr>
              <a:t> </a:t>
            </a:r>
            <a:r>
              <a:rPr sz="900" dirty="0">
                <a:latin typeface="Century Gothic"/>
                <a:cs typeface="Century Gothic"/>
              </a:rPr>
              <a:t>important</a:t>
            </a:r>
            <a:r>
              <a:rPr sz="900" spc="75" dirty="0">
                <a:latin typeface="Century Gothic"/>
                <a:cs typeface="Century Gothic"/>
              </a:rPr>
              <a:t> </a:t>
            </a:r>
            <a:r>
              <a:rPr sz="900" dirty="0">
                <a:latin typeface="Century Gothic"/>
                <a:cs typeface="Century Gothic"/>
              </a:rPr>
              <a:t>to</a:t>
            </a:r>
            <a:r>
              <a:rPr sz="900" spc="35" dirty="0">
                <a:latin typeface="Century Gothic"/>
                <a:cs typeface="Century Gothic"/>
              </a:rPr>
              <a:t> </a:t>
            </a:r>
            <a:r>
              <a:rPr sz="900" dirty="0">
                <a:latin typeface="Century Gothic"/>
                <a:cs typeface="Century Gothic"/>
              </a:rPr>
              <a:t>assess</a:t>
            </a:r>
            <a:r>
              <a:rPr sz="900" spc="50" dirty="0">
                <a:latin typeface="Century Gothic"/>
                <a:cs typeface="Century Gothic"/>
              </a:rPr>
              <a:t> </a:t>
            </a:r>
            <a:r>
              <a:rPr sz="900" dirty="0">
                <a:latin typeface="Century Gothic"/>
                <a:cs typeface="Century Gothic"/>
              </a:rPr>
              <a:t>own</a:t>
            </a:r>
            <a:r>
              <a:rPr sz="900" spc="60" dirty="0">
                <a:latin typeface="Century Gothic"/>
                <a:cs typeface="Century Gothic"/>
              </a:rPr>
              <a:t> </a:t>
            </a:r>
            <a:r>
              <a:rPr sz="900" dirty="0">
                <a:latin typeface="Century Gothic"/>
                <a:cs typeface="Century Gothic"/>
              </a:rPr>
              <a:t>personal</a:t>
            </a:r>
            <a:r>
              <a:rPr sz="900" spc="65" dirty="0">
                <a:latin typeface="Century Gothic"/>
                <a:cs typeface="Century Gothic"/>
              </a:rPr>
              <a:t> </a:t>
            </a:r>
            <a:r>
              <a:rPr sz="900" spc="50" dirty="0">
                <a:latin typeface="Century Gothic"/>
                <a:cs typeface="Century Gothic"/>
              </a:rPr>
              <a:t>strengths </a:t>
            </a:r>
            <a:r>
              <a:rPr sz="900" spc="-20" dirty="0">
                <a:latin typeface="Century Gothic"/>
                <a:cs typeface="Century Gothic"/>
              </a:rPr>
              <a:t>and</a:t>
            </a:r>
            <a:r>
              <a:rPr sz="900" spc="50" dirty="0">
                <a:latin typeface="Century Gothic"/>
                <a:cs typeface="Century Gothic"/>
              </a:rPr>
              <a:t> </a:t>
            </a:r>
            <a:r>
              <a:rPr sz="900" spc="-10" dirty="0">
                <a:latin typeface="Century Gothic"/>
                <a:cs typeface="Century Gothic"/>
              </a:rPr>
              <a:t>weaknesses</a:t>
            </a:r>
            <a:endParaRPr sz="900">
              <a:latin typeface="Century Gothic"/>
              <a:cs typeface="Century Gothic"/>
            </a:endParaRPr>
          </a:p>
        </p:txBody>
      </p:sp>
      <p:grpSp>
        <p:nvGrpSpPr>
          <p:cNvPr id="9" name="object 9"/>
          <p:cNvGrpSpPr/>
          <p:nvPr/>
        </p:nvGrpSpPr>
        <p:grpSpPr>
          <a:xfrm>
            <a:off x="453640" y="3669473"/>
            <a:ext cx="5927725" cy="1176655"/>
            <a:chOff x="453640" y="3669473"/>
            <a:chExt cx="5927725" cy="1176655"/>
          </a:xfrm>
        </p:grpSpPr>
        <p:sp>
          <p:nvSpPr>
            <p:cNvPr id="10" name="object 10"/>
            <p:cNvSpPr/>
            <p:nvPr/>
          </p:nvSpPr>
          <p:spPr>
            <a:xfrm>
              <a:off x="459990" y="3669473"/>
              <a:ext cx="0" cy="1176655"/>
            </a:xfrm>
            <a:custGeom>
              <a:avLst/>
              <a:gdLst/>
              <a:ahLst/>
              <a:cxnLst/>
              <a:rect l="l" t="t" r="r" b="b"/>
              <a:pathLst>
                <a:path h="1176654">
                  <a:moveTo>
                    <a:pt x="0" y="0"/>
                  </a:moveTo>
                  <a:lnTo>
                    <a:pt x="0" y="1176235"/>
                  </a:lnTo>
                </a:path>
              </a:pathLst>
            </a:custGeom>
            <a:ln w="12700">
              <a:solidFill>
                <a:srgbClr val="000000"/>
              </a:solidFill>
            </a:ln>
          </p:spPr>
          <p:txBody>
            <a:bodyPr wrap="square" lIns="0" tIns="0" rIns="0" bIns="0" rtlCol="0"/>
            <a:lstStyle/>
            <a:p>
              <a:endParaRPr sz="900"/>
            </a:p>
          </p:txBody>
        </p:sp>
        <p:sp>
          <p:nvSpPr>
            <p:cNvPr id="11" name="object 11"/>
            <p:cNvSpPr/>
            <p:nvPr/>
          </p:nvSpPr>
          <p:spPr>
            <a:xfrm>
              <a:off x="6375015" y="3669473"/>
              <a:ext cx="0" cy="1176655"/>
            </a:xfrm>
            <a:custGeom>
              <a:avLst/>
              <a:gdLst/>
              <a:ahLst/>
              <a:cxnLst/>
              <a:rect l="l" t="t" r="r" b="b"/>
              <a:pathLst>
                <a:path h="1176654">
                  <a:moveTo>
                    <a:pt x="0" y="0"/>
                  </a:moveTo>
                  <a:lnTo>
                    <a:pt x="0" y="1176235"/>
                  </a:lnTo>
                </a:path>
              </a:pathLst>
            </a:custGeom>
            <a:ln w="12700">
              <a:solidFill>
                <a:srgbClr val="000000"/>
              </a:solidFill>
            </a:ln>
          </p:spPr>
          <p:txBody>
            <a:bodyPr wrap="square" lIns="0" tIns="0" rIns="0" bIns="0" rtlCol="0"/>
            <a:lstStyle/>
            <a:p>
              <a:endParaRPr sz="900"/>
            </a:p>
          </p:txBody>
        </p:sp>
        <p:sp>
          <p:nvSpPr>
            <p:cNvPr id="12" name="object 12"/>
            <p:cNvSpPr/>
            <p:nvPr/>
          </p:nvSpPr>
          <p:spPr>
            <a:xfrm>
              <a:off x="453640" y="3675823"/>
              <a:ext cx="5927725" cy="0"/>
            </a:xfrm>
            <a:custGeom>
              <a:avLst/>
              <a:gdLst/>
              <a:ahLst/>
              <a:cxnLst/>
              <a:rect l="l" t="t" r="r" b="b"/>
              <a:pathLst>
                <a:path w="5927725">
                  <a:moveTo>
                    <a:pt x="0" y="0"/>
                  </a:moveTo>
                  <a:lnTo>
                    <a:pt x="5927725" y="0"/>
                  </a:lnTo>
                </a:path>
              </a:pathLst>
            </a:custGeom>
            <a:ln w="12700">
              <a:solidFill>
                <a:srgbClr val="000000"/>
              </a:solidFill>
            </a:ln>
          </p:spPr>
          <p:txBody>
            <a:bodyPr wrap="square" lIns="0" tIns="0" rIns="0" bIns="0" rtlCol="0"/>
            <a:lstStyle/>
            <a:p>
              <a:endParaRPr sz="900"/>
            </a:p>
          </p:txBody>
        </p:sp>
        <p:sp>
          <p:nvSpPr>
            <p:cNvPr id="13" name="object 13"/>
            <p:cNvSpPr/>
            <p:nvPr/>
          </p:nvSpPr>
          <p:spPr>
            <a:xfrm>
              <a:off x="453640" y="4839352"/>
              <a:ext cx="5927725" cy="0"/>
            </a:xfrm>
            <a:custGeom>
              <a:avLst/>
              <a:gdLst/>
              <a:ahLst/>
              <a:cxnLst/>
              <a:rect l="l" t="t" r="r" b="b"/>
              <a:pathLst>
                <a:path w="5927725">
                  <a:moveTo>
                    <a:pt x="0" y="0"/>
                  </a:moveTo>
                  <a:lnTo>
                    <a:pt x="5927725" y="0"/>
                  </a:lnTo>
                </a:path>
              </a:pathLst>
            </a:custGeom>
            <a:ln w="12700">
              <a:solidFill>
                <a:srgbClr val="000000"/>
              </a:solidFill>
            </a:ln>
          </p:spPr>
          <p:txBody>
            <a:bodyPr wrap="square" lIns="0" tIns="0" rIns="0" bIns="0" rtlCol="0"/>
            <a:lstStyle/>
            <a:p>
              <a:endParaRPr sz="900"/>
            </a:p>
          </p:txBody>
        </p:sp>
      </p:grpSp>
      <p:sp>
        <p:nvSpPr>
          <p:cNvPr id="14" name="object 14"/>
          <p:cNvSpPr txBox="1"/>
          <p:nvPr/>
        </p:nvSpPr>
        <p:spPr>
          <a:xfrm>
            <a:off x="422433" y="3327476"/>
            <a:ext cx="4883150" cy="150682"/>
          </a:xfrm>
          <a:prstGeom prst="rect">
            <a:avLst/>
          </a:prstGeom>
        </p:spPr>
        <p:txBody>
          <a:bodyPr vert="horz" wrap="square" lIns="0" tIns="12065" rIns="0" bIns="0" rtlCol="0">
            <a:spAutoFit/>
          </a:bodyPr>
          <a:lstStyle/>
          <a:p>
            <a:pPr marL="12700">
              <a:lnSpc>
                <a:spcPct val="100000"/>
              </a:lnSpc>
              <a:spcBef>
                <a:spcPts val="95"/>
              </a:spcBef>
            </a:pPr>
            <a:r>
              <a:rPr sz="900" b="1" spc="85" dirty="0">
                <a:latin typeface="Calibri"/>
                <a:cs typeface="Calibri"/>
              </a:rPr>
              <a:t>Q2)</a:t>
            </a:r>
            <a:r>
              <a:rPr sz="900" b="1" spc="145" dirty="0">
                <a:latin typeface="Calibri"/>
                <a:cs typeface="Calibri"/>
              </a:rPr>
              <a:t> </a:t>
            </a:r>
            <a:r>
              <a:rPr sz="900" b="1" dirty="0">
                <a:latin typeface="Calibri"/>
                <a:cs typeface="Calibri"/>
              </a:rPr>
              <a:t>1.2</a:t>
            </a:r>
            <a:r>
              <a:rPr sz="900" b="1" spc="110" dirty="0">
                <a:latin typeface="Calibri"/>
                <a:cs typeface="Calibri"/>
              </a:rPr>
              <a:t> </a:t>
            </a:r>
            <a:r>
              <a:rPr sz="900" b="1" spc="105" dirty="0">
                <a:latin typeface="Calibri"/>
                <a:cs typeface="Calibri"/>
              </a:rPr>
              <a:t>Outline</a:t>
            </a:r>
            <a:r>
              <a:rPr sz="900" b="1" spc="155" dirty="0">
                <a:latin typeface="Calibri"/>
                <a:cs typeface="Calibri"/>
              </a:rPr>
              <a:t> </a:t>
            </a:r>
            <a:r>
              <a:rPr sz="900" dirty="0">
                <a:latin typeface="Century Gothic"/>
                <a:cs typeface="Century Gothic"/>
              </a:rPr>
              <a:t>why</a:t>
            </a:r>
            <a:r>
              <a:rPr sz="900" spc="45" dirty="0">
                <a:latin typeface="Century Gothic"/>
                <a:cs typeface="Century Gothic"/>
              </a:rPr>
              <a:t> </a:t>
            </a:r>
            <a:r>
              <a:rPr sz="900" spc="60" dirty="0">
                <a:latin typeface="Century Gothic"/>
                <a:cs typeface="Century Gothic"/>
              </a:rPr>
              <a:t>it</a:t>
            </a:r>
            <a:r>
              <a:rPr sz="900" spc="55" dirty="0">
                <a:latin typeface="Century Gothic"/>
                <a:cs typeface="Century Gothic"/>
              </a:rPr>
              <a:t> </a:t>
            </a:r>
            <a:r>
              <a:rPr sz="900" spc="75" dirty="0">
                <a:latin typeface="Century Gothic"/>
                <a:cs typeface="Century Gothic"/>
              </a:rPr>
              <a:t>is</a:t>
            </a:r>
            <a:r>
              <a:rPr sz="900" spc="55" dirty="0">
                <a:latin typeface="Century Gothic"/>
                <a:cs typeface="Century Gothic"/>
              </a:rPr>
              <a:t> </a:t>
            </a:r>
            <a:r>
              <a:rPr sz="900" dirty="0">
                <a:latin typeface="Century Gothic"/>
                <a:cs typeface="Century Gothic"/>
              </a:rPr>
              <a:t>important</a:t>
            </a:r>
            <a:r>
              <a:rPr sz="900" spc="65" dirty="0">
                <a:latin typeface="Century Gothic"/>
                <a:cs typeface="Century Gothic"/>
              </a:rPr>
              <a:t> </a:t>
            </a:r>
            <a:r>
              <a:rPr sz="900" dirty="0">
                <a:latin typeface="Century Gothic"/>
                <a:cs typeface="Century Gothic"/>
              </a:rPr>
              <a:t>to</a:t>
            </a:r>
            <a:r>
              <a:rPr sz="900" spc="50" dirty="0">
                <a:latin typeface="Century Gothic"/>
                <a:cs typeface="Century Gothic"/>
              </a:rPr>
              <a:t> </a:t>
            </a:r>
            <a:r>
              <a:rPr sz="900" dirty="0">
                <a:latin typeface="Century Gothic"/>
                <a:cs typeface="Century Gothic"/>
              </a:rPr>
              <a:t>assess</a:t>
            </a:r>
            <a:r>
              <a:rPr sz="900" spc="20" dirty="0">
                <a:latin typeface="Century Gothic"/>
                <a:cs typeface="Century Gothic"/>
              </a:rPr>
              <a:t> </a:t>
            </a:r>
            <a:r>
              <a:rPr sz="900" dirty="0">
                <a:latin typeface="Century Gothic"/>
                <a:cs typeface="Century Gothic"/>
              </a:rPr>
              <a:t>own</a:t>
            </a:r>
            <a:r>
              <a:rPr sz="900" spc="45" dirty="0">
                <a:latin typeface="Century Gothic"/>
                <a:cs typeface="Century Gothic"/>
              </a:rPr>
              <a:t> </a:t>
            </a:r>
            <a:r>
              <a:rPr sz="900" dirty="0">
                <a:latin typeface="Century Gothic"/>
                <a:cs typeface="Century Gothic"/>
              </a:rPr>
              <a:t>personal</a:t>
            </a:r>
            <a:r>
              <a:rPr sz="900" spc="60" dirty="0">
                <a:latin typeface="Century Gothic"/>
                <a:cs typeface="Century Gothic"/>
              </a:rPr>
              <a:t> </a:t>
            </a:r>
            <a:r>
              <a:rPr sz="900" spc="75" dirty="0">
                <a:latin typeface="Century Gothic"/>
                <a:cs typeface="Century Gothic"/>
              </a:rPr>
              <a:t>skills</a:t>
            </a:r>
            <a:r>
              <a:rPr sz="900" spc="85" dirty="0">
                <a:latin typeface="Century Gothic"/>
                <a:cs typeface="Century Gothic"/>
              </a:rPr>
              <a:t> </a:t>
            </a:r>
            <a:r>
              <a:rPr sz="900" spc="-10" dirty="0">
                <a:latin typeface="Century Gothic"/>
                <a:cs typeface="Century Gothic"/>
              </a:rPr>
              <a:t>and</a:t>
            </a:r>
            <a:r>
              <a:rPr sz="900" spc="40" dirty="0">
                <a:latin typeface="Century Gothic"/>
                <a:cs typeface="Century Gothic"/>
              </a:rPr>
              <a:t> </a:t>
            </a:r>
            <a:r>
              <a:rPr sz="900" spc="-10" dirty="0">
                <a:latin typeface="Century Gothic"/>
                <a:cs typeface="Century Gothic"/>
              </a:rPr>
              <a:t>qualities</a:t>
            </a:r>
            <a:endParaRPr sz="900">
              <a:latin typeface="Century Gothic"/>
              <a:cs typeface="Century Gothic"/>
            </a:endParaRPr>
          </a:p>
        </p:txBody>
      </p:sp>
      <p:sp>
        <p:nvSpPr>
          <p:cNvPr id="18" name="object 18"/>
          <p:cNvSpPr txBox="1">
            <a:spLocks noGrp="1"/>
          </p:cNvSpPr>
          <p:nvPr>
            <p:ph type="ftr" sz="quarter" idx="5"/>
          </p:nvPr>
        </p:nvSpPr>
        <p:spPr>
          <a:xfrm>
            <a:off x="2566052" y="9597254"/>
            <a:ext cx="1753870" cy="147476"/>
          </a:xfrm>
          <a:prstGeom prst="rect">
            <a:avLst/>
          </a:prstGeom>
        </p:spPr>
        <p:txBody>
          <a:bodyPr vert="horz" wrap="square" lIns="0" tIns="8890" rIns="0" bIns="0" rtlCol="0">
            <a:spAutoFit/>
          </a:bodyPr>
          <a:lstStyle/>
          <a:p>
            <a:pPr marL="12700">
              <a:lnSpc>
                <a:spcPct val="100000"/>
              </a:lnSpc>
              <a:spcBef>
                <a:spcPts val="70"/>
              </a:spcBef>
            </a:pPr>
            <a:r>
              <a:rPr sz="900" spc="60" dirty="0"/>
              <a:t>©</a:t>
            </a:r>
            <a:r>
              <a:rPr sz="900" spc="-20" dirty="0"/>
              <a:t> </a:t>
            </a:r>
            <a:r>
              <a:rPr sz="900" spc="65" dirty="0"/>
              <a:t>ETC</a:t>
            </a:r>
            <a:r>
              <a:rPr sz="900" spc="-45" dirty="0"/>
              <a:t> </a:t>
            </a:r>
            <a:r>
              <a:rPr sz="900" spc="65" dirty="0"/>
              <a:t>AWARDS</a:t>
            </a:r>
            <a:r>
              <a:rPr sz="900" spc="-45" dirty="0"/>
              <a:t> </a:t>
            </a:r>
            <a:r>
              <a:rPr sz="900" spc="120" dirty="0"/>
              <a:t>LTD</a:t>
            </a:r>
            <a:r>
              <a:rPr sz="900" spc="-35" dirty="0"/>
              <a:t> </a:t>
            </a:r>
            <a:r>
              <a:rPr sz="900" spc="35" dirty="0"/>
              <a:t>2024</a:t>
            </a:r>
          </a:p>
        </p:txBody>
      </p:sp>
      <p:sp>
        <p:nvSpPr>
          <p:cNvPr id="19" name="object 19"/>
          <p:cNvSpPr txBox="1">
            <a:spLocks noGrp="1"/>
          </p:cNvSpPr>
          <p:nvPr>
            <p:ph type="sldNum" sz="quarter" idx="7"/>
          </p:nvPr>
        </p:nvSpPr>
        <p:spPr>
          <a:xfrm>
            <a:off x="5817908" y="9702723"/>
            <a:ext cx="176529" cy="141705"/>
          </a:xfrm>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z="900" spc="-25" dirty="0"/>
              <a:t>6</a:t>
            </a:fld>
            <a:endParaRPr sz="900" spc="-25" dirty="0"/>
          </a:p>
        </p:txBody>
      </p:sp>
      <p:graphicFrame>
        <p:nvGraphicFramePr>
          <p:cNvPr id="15" name="object 15"/>
          <p:cNvGraphicFramePr>
            <a:graphicFrameLocks noGrp="1"/>
          </p:cNvGraphicFramePr>
          <p:nvPr/>
        </p:nvGraphicFramePr>
        <p:xfrm>
          <a:off x="465137" y="5762058"/>
          <a:ext cx="5915659" cy="2711450"/>
        </p:xfrm>
        <a:graphic>
          <a:graphicData uri="http://schemas.openxmlformats.org/drawingml/2006/table">
            <a:tbl>
              <a:tblPr firstRow="1" bandRow="1">
                <a:tableStyleId>{2D5ABB26-0587-4C30-8999-92F81FD0307C}</a:tableStyleId>
              </a:tblPr>
              <a:tblGrid>
                <a:gridCol w="2954020">
                  <a:extLst>
                    <a:ext uri="{9D8B030D-6E8A-4147-A177-3AD203B41FA5}">
                      <a16:colId xmlns:a16="http://schemas.microsoft.com/office/drawing/2014/main" val="20000"/>
                    </a:ext>
                  </a:extLst>
                </a:gridCol>
                <a:gridCol w="2961639">
                  <a:extLst>
                    <a:ext uri="{9D8B030D-6E8A-4147-A177-3AD203B41FA5}">
                      <a16:colId xmlns:a16="http://schemas.microsoft.com/office/drawing/2014/main" val="20001"/>
                    </a:ext>
                  </a:extLst>
                </a:gridCol>
              </a:tblGrid>
              <a:tr h="526415">
                <a:tc>
                  <a:txBody>
                    <a:bodyPr/>
                    <a:lstStyle/>
                    <a:p>
                      <a:pPr algn="ctr">
                        <a:lnSpc>
                          <a:spcPct val="100000"/>
                        </a:lnSpc>
                        <a:spcBef>
                          <a:spcPts val="200"/>
                        </a:spcBef>
                      </a:pPr>
                      <a:r>
                        <a:rPr sz="900" b="1" spc="105" dirty="0">
                          <a:latin typeface="Calibri"/>
                          <a:cs typeface="Calibri"/>
                        </a:rPr>
                        <a:t>Strengths</a:t>
                      </a:r>
                      <a:endParaRPr sz="900">
                        <a:latin typeface="Calibri"/>
                        <a:cs typeface="Calibri"/>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00"/>
                        </a:spcBef>
                      </a:pPr>
                      <a:r>
                        <a:rPr sz="900" b="1" spc="114" dirty="0">
                          <a:latin typeface="Calibri"/>
                          <a:cs typeface="Calibri"/>
                        </a:rPr>
                        <a:t>Weaknesses</a:t>
                      </a:r>
                      <a:endParaRPr sz="900">
                        <a:latin typeface="Calibri"/>
                        <a:cs typeface="Calibri"/>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728345">
                <a:tc>
                  <a:txBody>
                    <a:bodyPr/>
                    <a:lstStyle/>
                    <a:p>
                      <a:pPr marL="62230">
                        <a:lnSpc>
                          <a:spcPct val="100000"/>
                        </a:lnSpc>
                        <a:spcBef>
                          <a:spcPts val="200"/>
                        </a:spcBef>
                      </a:pPr>
                      <a:r>
                        <a:rPr sz="900" spc="-25" dirty="0">
                          <a:latin typeface="Century Gothic"/>
                          <a:cs typeface="Century Gothic"/>
                        </a:rPr>
                        <a:t>1)</a:t>
                      </a:r>
                      <a:endParaRPr sz="900">
                        <a:latin typeface="Century Gothic"/>
                        <a:cs typeface="Century Gothic"/>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200"/>
                        </a:spcBef>
                      </a:pPr>
                      <a:r>
                        <a:rPr sz="900" spc="-25" dirty="0">
                          <a:latin typeface="Century Gothic"/>
                          <a:cs typeface="Century Gothic"/>
                        </a:rPr>
                        <a:t>1)</a:t>
                      </a:r>
                      <a:endParaRPr sz="900">
                        <a:latin typeface="Century Gothic"/>
                        <a:cs typeface="Century Gothic"/>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728345">
                <a:tc>
                  <a:txBody>
                    <a:bodyPr/>
                    <a:lstStyle/>
                    <a:p>
                      <a:pPr marL="62230">
                        <a:lnSpc>
                          <a:spcPct val="100000"/>
                        </a:lnSpc>
                        <a:spcBef>
                          <a:spcPts val="200"/>
                        </a:spcBef>
                      </a:pPr>
                      <a:r>
                        <a:rPr sz="900" spc="-25" dirty="0">
                          <a:latin typeface="Century Gothic"/>
                          <a:cs typeface="Century Gothic"/>
                        </a:rPr>
                        <a:t>2)</a:t>
                      </a:r>
                      <a:endParaRPr sz="900">
                        <a:latin typeface="Century Gothic"/>
                        <a:cs typeface="Century Gothic"/>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200"/>
                        </a:spcBef>
                      </a:pPr>
                      <a:r>
                        <a:rPr sz="900" spc="-25" dirty="0">
                          <a:latin typeface="Century Gothic"/>
                          <a:cs typeface="Century Gothic"/>
                        </a:rPr>
                        <a:t>2)</a:t>
                      </a:r>
                      <a:endParaRPr sz="900">
                        <a:latin typeface="Century Gothic"/>
                        <a:cs typeface="Century Gothic"/>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728345">
                <a:tc>
                  <a:txBody>
                    <a:bodyPr/>
                    <a:lstStyle/>
                    <a:p>
                      <a:pPr marL="62230">
                        <a:lnSpc>
                          <a:spcPct val="100000"/>
                        </a:lnSpc>
                        <a:spcBef>
                          <a:spcPts val="200"/>
                        </a:spcBef>
                      </a:pPr>
                      <a:r>
                        <a:rPr sz="900" spc="-25" dirty="0">
                          <a:latin typeface="Century Gothic"/>
                          <a:cs typeface="Century Gothic"/>
                        </a:rPr>
                        <a:t>3)</a:t>
                      </a:r>
                      <a:endParaRPr sz="900">
                        <a:latin typeface="Century Gothic"/>
                        <a:cs typeface="Century Gothic"/>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200"/>
                        </a:spcBef>
                      </a:pPr>
                      <a:r>
                        <a:rPr sz="900" spc="-25" dirty="0">
                          <a:latin typeface="Century Gothic"/>
                          <a:cs typeface="Century Gothic"/>
                        </a:rPr>
                        <a:t>3)</a:t>
                      </a:r>
                      <a:endParaRPr sz="900">
                        <a:latin typeface="Century Gothic"/>
                        <a:cs typeface="Century Gothic"/>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16" name="object 16"/>
          <p:cNvSpPr txBox="1"/>
          <p:nvPr/>
        </p:nvSpPr>
        <p:spPr>
          <a:xfrm>
            <a:off x="422433" y="5096249"/>
            <a:ext cx="5980430" cy="427681"/>
          </a:xfrm>
          <a:prstGeom prst="rect">
            <a:avLst/>
          </a:prstGeom>
        </p:spPr>
        <p:txBody>
          <a:bodyPr vert="horz" wrap="square" lIns="0" tIns="12065" rIns="0" bIns="0" rtlCol="0">
            <a:spAutoFit/>
          </a:bodyPr>
          <a:lstStyle/>
          <a:p>
            <a:pPr marL="12700">
              <a:lnSpc>
                <a:spcPct val="100000"/>
              </a:lnSpc>
              <a:spcBef>
                <a:spcPts val="95"/>
              </a:spcBef>
            </a:pPr>
            <a:r>
              <a:rPr sz="900" b="1" spc="85" dirty="0">
                <a:latin typeface="Calibri"/>
                <a:cs typeface="Calibri"/>
              </a:rPr>
              <a:t>Q3)</a:t>
            </a:r>
            <a:r>
              <a:rPr sz="900" b="1" spc="165" dirty="0">
                <a:latin typeface="Calibri"/>
                <a:cs typeface="Calibri"/>
              </a:rPr>
              <a:t> </a:t>
            </a:r>
            <a:r>
              <a:rPr sz="900" b="1" dirty="0">
                <a:latin typeface="Calibri"/>
                <a:cs typeface="Calibri"/>
              </a:rPr>
              <a:t>1.3</a:t>
            </a:r>
            <a:r>
              <a:rPr sz="900" b="1" spc="125" dirty="0">
                <a:latin typeface="Calibri"/>
                <a:cs typeface="Calibri"/>
              </a:rPr>
              <a:t> </a:t>
            </a:r>
            <a:r>
              <a:rPr sz="900" b="1" spc="105" dirty="0">
                <a:latin typeface="Calibri"/>
                <a:cs typeface="Calibri"/>
              </a:rPr>
              <a:t>List</a:t>
            </a:r>
            <a:r>
              <a:rPr sz="900" b="1" spc="145" dirty="0">
                <a:latin typeface="Calibri"/>
                <a:cs typeface="Calibri"/>
              </a:rPr>
              <a:t> </a:t>
            </a:r>
            <a:r>
              <a:rPr sz="900" dirty="0">
                <a:latin typeface="Century Gothic"/>
                <a:cs typeface="Century Gothic"/>
              </a:rPr>
              <a:t>your</a:t>
            </a:r>
            <a:r>
              <a:rPr sz="900" spc="75" dirty="0">
                <a:latin typeface="Century Gothic"/>
                <a:cs typeface="Century Gothic"/>
              </a:rPr>
              <a:t> </a:t>
            </a:r>
            <a:r>
              <a:rPr sz="900" dirty="0">
                <a:latin typeface="Century Gothic"/>
                <a:cs typeface="Century Gothic"/>
              </a:rPr>
              <a:t>own</a:t>
            </a:r>
            <a:r>
              <a:rPr sz="900" spc="65" dirty="0">
                <a:latin typeface="Century Gothic"/>
                <a:cs typeface="Century Gothic"/>
              </a:rPr>
              <a:t> </a:t>
            </a:r>
            <a:r>
              <a:rPr sz="900" spc="50" dirty="0">
                <a:latin typeface="Century Gothic"/>
                <a:cs typeface="Century Gothic"/>
              </a:rPr>
              <a:t>strengths</a:t>
            </a:r>
            <a:r>
              <a:rPr sz="900" spc="55" dirty="0">
                <a:latin typeface="Century Gothic"/>
                <a:cs typeface="Century Gothic"/>
              </a:rPr>
              <a:t> </a:t>
            </a:r>
            <a:r>
              <a:rPr sz="900" spc="-20" dirty="0">
                <a:latin typeface="Century Gothic"/>
                <a:cs typeface="Century Gothic"/>
              </a:rPr>
              <a:t>and</a:t>
            </a:r>
            <a:r>
              <a:rPr sz="900" spc="60" dirty="0">
                <a:latin typeface="Century Gothic"/>
                <a:cs typeface="Century Gothic"/>
              </a:rPr>
              <a:t> </a:t>
            </a:r>
            <a:r>
              <a:rPr sz="900" dirty="0">
                <a:latin typeface="Century Gothic"/>
                <a:cs typeface="Century Gothic"/>
              </a:rPr>
              <a:t>weaknesses</a:t>
            </a:r>
            <a:r>
              <a:rPr sz="900" spc="55" dirty="0">
                <a:latin typeface="Century Gothic"/>
                <a:cs typeface="Century Gothic"/>
              </a:rPr>
              <a:t> </a:t>
            </a:r>
            <a:r>
              <a:rPr sz="900" dirty="0">
                <a:latin typeface="Century Gothic"/>
                <a:cs typeface="Century Gothic"/>
              </a:rPr>
              <a:t>that</a:t>
            </a:r>
            <a:r>
              <a:rPr sz="900" spc="50" dirty="0">
                <a:latin typeface="Century Gothic"/>
                <a:cs typeface="Century Gothic"/>
              </a:rPr>
              <a:t> </a:t>
            </a:r>
            <a:r>
              <a:rPr sz="900" dirty="0">
                <a:latin typeface="Century Gothic"/>
                <a:cs typeface="Century Gothic"/>
              </a:rPr>
              <a:t>contribute</a:t>
            </a:r>
            <a:r>
              <a:rPr sz="900" spc="65" dirty="0">
                <a:latin typeface="Century Gothic"/>
                <a:cs typeface="Century Gothic"/>
              </a:rPr>
              <a:t> </a:t>
            </a:r>
            <a:r>
              <a:rPr sz="900" dirty="0">
                <a:latin typeface="Century Gothic"/>
                <a:cs typeface="Century Gothic"/>
              </a:rPr>
              <a:t>toward</a:t>
            </a:r>
            <a:r>
              <a:rPr sz="900" spc="55" dirty="0">
                <a:latin typeface="Century Gothic"/>
                <a:cs typeface="Century Gothic"/>
              </a:rPr>
              <a:t> </a:t>
            </a:r>
            <a:r>
              <a:rPr sz="900" dirty="0">
                <a:latin typeface="Century Gothic"/>
                <a:cs typeface="Century Gothic"/>
              </a:rPr>
              <a:t>seeking</a:t>
            </a:r>
            <a:r>
              <a:rPr sz="900" spc="75" dirty="0">
                <a:latin typeface="Century Gothic"/>
                <a:cs typeface="Century Gothic"/>
              </a:rPr>
              <a:t> </a:t>
            </a:r>
            <a:r>
              <a:rPr sz="900" spc="-10" dirty="0">
                <a:latin typeface="Century Gothic"/>
                <a:cs typeface="Century Gothic"/>
              </a:rPr>
              <a:t>opportunities</a:t>
            </a:r>
            <a:endParaRPr sz="900">
              <a:latin typeface="Century Gothic"/>
              <a:cs typeface="Century Gothic"/>
            </a:endParaRPr>
          </a:p>
          <a:p>
            <a:pPr marL="12700">
              <a:lnSpc>
                <a:spcPct val="100000"/>
              </a:lnSpc>
            </a:pPr>
            <a:r>
              <a:rPr sz="900" spc="-50" dirty="0">
                <a:latin typeface="Century Gothic"/>
                <a:cs typeface="Century Gothic"/>
              </a:rPr>
              <a:t>.</a:t>
            </a:r>
            <a:endParaRPr sz="900">
              <a:latin typeface="Century Gothic"/>
              <a:cs typeface="Century Gothic"/>
            </a:endParaRPr>
          </a:p>
          <a:p>
            <a:pPr marL="12700">
              <a:lnSpc>
                <a:spcPct val="100000"/>
              </a:lnSpc>
            </a:pPr>
            <a:r>
              <a:rPr sz="900" b="1" i="1" spc="110" dirty="0">
                <a:latin typeface="Calibri"/>
                <a:cs typeface="Calibri"/>
              </a:rPr>
              <a:t>This</a:t>
            </a:r>
            <a:r>
              <a:rPr sz="900" b="1" i="1" spc="65" dirty="0">
                <a:latin typeface="Calibri"/>
                <a:cs typeface="Calibri"/>
              </a:rPr>
              <a:t> </a:t>
            </a:r>
            <a:r>
              <a:rPr sz="900" b="1" i="1" spc="145" dirty="0">
                <a:latin typeface="Calibri"/>
                <a:cs typeface="Calibri"/>
              </a:rPr>
              <a:t>must</a:t>
            </a:r>
            <a:r>
              <a:rPr sz="900" b="1" i="1" spc="80" dirty="0">
                <a:latin typeface="Calibri"/>
                <a:cs typeface="Calibri"/>
              </a:rPr>
              <a:t> </a:t>
            </a:r>
            <a:r>
              <a:rPr sz="900" b="1" i="1" spc="120" dirty="0">
                <a:latin typeface="Calibri"/>
                <a:cs typeface="Calibri"/>
              </a:rPr>
              <a:t>include</a:t>
            </a:r>
            <a:r>
              <a:rPr sz="900" b="1" i="1" spc="80" dirty="0">
                <a:latin typeface="Calibri"/>
                <a:cs typeface="Calibri"/>
              </a:rPr>
              <a:t> </a:t>
            </a:r>
            <a:r>
              <a:rPr sz="900" b="1" i="1" spc="114" dirty="0">
                <a:latin typeface="Calibri"/>
                <a:cs typeface="Calibri"/>
              </a:rPr>
              <a:t>at</a:t>
            </a:r>
            <a:r>
              <a:rPr sz="900" b="1" i="1" spc="80" dirty="0">
                <a:latin typeface="Calibri"/>
                <a:cs typeface="Calibri"/>
              </a:rPr>
              <a:t> </a:t>
            </a:r>
            <a:r>
              <a:rPr sz="900" b="1" i="1" spc="105" dirty="0">
                <a:latin typeface="Calibri"/>
                <a:cs typeface="Calibri"/>
              </a:rPr>
              <a:t>least</a:t>
            </a:r>
            <a:r>
              <a:rPr sz="900" b="1" i="1" spc="70" dirty="0">
                <a:latin typeface="Calibri"/>
                <a:cs typeface="Calibri"/>
              </a:rPr>
              <a:t> </a:t>
            </a:r>
            <a:r>
              <a:rPr sz="900" b="1" i="1" spc="114" dirty="0">
                <a:latin typeface="Calibri"/>
                <a:cs typeface="Calibri"/>
              </a:rPr>
              <a:t>three</a:t>
            </a:r>
            <a:r>
              <a:rPr sz="900" b="1" i="1" spc="70" dirty="0">
                <a:latin typeface="Calibri"/>
                <a:cs typeface="Calibri"/>
              </a:rPr>
              <a:t> </a:t>
            </a:r>
            <a:r>
              <a:rPr sz="900" b="1" i="1" spc="95" dirty="0">
                <a:latin typeface="Calibri"/>
                <a:cs typeface="Calibri"/>
              </a:rPr>
              <a:t>of</a:t>
            </a:r>
            <a:r>
              <a:rPr sz="900" b="1" i="1" spc="80" dirty="0">
                <a:latin typeface="Calibri"/>
                <a:cs typeface="Calibri"/>
              </a:rPr>
              <a:t> </a:t>
            </a:r>
            <a:r>
              <a:rPr sz="900" b="1" i="1" spc="110" dirty="0">
                <a:latin typeface="Calibri"/>
                <a:cs typeface="Calibri"/>
              </a:rPr>
              <a:t>each.</a:t>
            </a:r>
            <a:endParaRPr sz="900">
              <a:latin typeface="Calibri"/>
              <a:cs typeface="Calibri"/>
            </a:endParaRPr>
          </a:p>
        </p:txBody>
      </p:sp>
      <p:sp>
        <p:nvSpPr>
          <p:cNvPr id="17" name="object 17"/>
          <p:cNvSpPr txBox="1"/>
          <p:nvPr/>
        </p:nvSpPr>
        <p:spPr>
          <a:xfrm>
            <a:off x="2312111" y="558819"/>
            <a:ext cx="2310765" cy="289823"/>
          </a:xfrm>
          <a:prstGeom prst="rect">
            <a:avLst/>
          </a:prstGeom>
        </p:spPr>
        <p:txBody>
          <a:bodyPr vert="horz" wrap="square" lIns="0" tIns="12700" rIns="0" bIns="0" rtlCol="0">
            <a:spAutoFit/>
          </a:bodyPr>
          <a:lstStyle/>
          <a:p>
            <a:pPr marL="188595" marR="5080" indent="-176530">
              <a:lnSpc>
                <a:spcPct val="100000"/>
              </a:lnSpc>
              <a:spcBef>
                <a:spcPts val="100"/>
              </a:spcBef>
            </a:pPr>
            <a:r>
              <a:rPr sz="900" spc="229" dirty="0">
                <a:latin typeface="Calibri"/>
                <a:cs typeface="Calibri"/>
              </a:rPr>
              <a:t>IDENTIFY</a:t>
            </a:r>
            <a:r>
              <a:rPr sz="900" spc="60" dirty="0">
                <a:latin typeface="Calibri"/>
                <a:cs typeface="Calibri"/>
              </a:rPr>
              <a:t> </a:t>
            </a:r>
            <a:r>
              <a:rPr sz="900" spc="235" dirty="0">
                <a:latin typeface="Calibri"/>
                <a:cs typeface="Calibri"/>
              </a:rPr>
              <a:t>SUITABLE </a:t>
            </a:r>
            <a:r>
              <a:rPr sz="900" spc="240" dirty="0">
                <a:latin typeface="Calibri"/>
                <a:cs typeface="Calibri"/>
              </a:rPr>
              <a:t>OPPORTUNITIES</a:t>
            </a:r>
            <a:endParaRPr sz="900">
              <a:latin typeface="Calibri"/>
              <a:cs typeface="Calibri"/>
            </a:endParaRPr>
          </a:p>
        </p:txBody>
      </p:sp>
      <p:sp>
        <p:nvSpPr>
          <p:cNvPr id="20" name="TextBox 19">
            <a:extLst>
              <a:ext uri="{FF2B5EF4-FFF2-40B4-BE49-F238E27FC236}">
                <a16:creationId xmlns:a16="http://schemas.microsoft.com/office/drawing/2014/main" id="{23652811-0F23-7989-A9D4-D099BBB13314}"/>
              </a:ext>
            </a:extLst>
          </p:cNvPr>
          <p:cNvSpPr txBox="1"/>
          <p:nvPr/>
        </p:nvSpPr>
        <p:spPr>
          <a:xfrm>
            <a:off x="441260" y="2046933"/>
            <a:ext cx="5934139" cy="1338828"/>
          </a:xfrm>
          <a:prstGeom prst="rect">
            <a:avLst/>
          </a:prstGeom>
          <a:noFill/>
          <a:ln>
            <a:solidFill>
              <a:schemeClr val="tx1"/>
            </a:solidFill>
          </a:ln>
        </p:spPr>
        <p:txBody>
          <a:bodyPr wrap="square" rtlCol="0">
            <a:spAutoFit/>
          </a:bodyPr>
          <a:lstStyle/>
          <a:p>
            <a:r>
              <a:rPr lang="en-GB" sz="900" dirty="0"/>
              <a:t>I am a reliable and organised individual who takes responsibility seriously. I am passionate about learning and continually improving my skills, particularly in digital and data-related fields. I am a good problem solver and enjoy analysing situations logically to find effective solutions. I am patient, calm under pressure, and able to work both independently and collaboratively within a team. I am also adaptable and open to feedback, which helps me grow both personally and professionally.</a:t>
            </a:r>
          </a:p>
          <a:p>
            <a:r>
              <a:rPr lang="en-GB" sz="900" dirty="0"/>
              <a:t>One of my weaknesses is that I can be a perfectionist, which sometimes causes me to spend too much time on small details. I can also feel anxious when learning completely new technical concepts, which may initially reduce my confidence. At times, I overthink decisions, which can slow down my progress.</a:t>
            </a:r>
          </a:p>
          <a:p>
            <a:endParaRPr lang="en-GB" sz="900" dirty="0"/>
          </a:p>
        </p:txBody>
      </p:sp>
      <p:sp>
        <p:nvSpPr>
          <p:cNvPr id="21" name="TextBox 20">
            <a:extLst>
              <a:ext uri="{FF2B5EF4-FFF2-40B4-BE49-F238E27FC236}">
                <a16:creationId xmlns:a16="http://schemas.microsoft.com/office/drawing/2014/main" id="{B936CB9F-83F7-074D-FD07-F89CF8FEC4E3}"/>
              </a:ext>
            </a:extLst>
          </p:cNvPr>
          <p:cNvSpPr txBox="1"/>
          <p:nvPr/>
        </p:nvSpPr>
        <p:spPr>
          <a:xfrm>
            <a:off x="453641" y="3669497"/>
            <a:ext cx="5934139" cy="784830"/>
          </a:xfrm>
          <a:prstGeom prst="rect">
            <a:avLst/>
          </a:prstGeom>
          <a:noFill/>
          <a:ln>
            <a:solidFill>
              <a:schemeClr val="tx1"/>
            </a:solidFill>
          </a:ln>
        </p:spPr>
        <p:txBody>
          <a:bodyPr wrap="square" rtlCol="0">
            <a:spAutoFit/>
          </a:bodyPr>
          <a:lstStyle/>
          <a:p>
            <a:r>
              <a:rPr lang="en-GB" sz="900" dirty="0"/>
              <a:t>I can improve my weaknesses by setting realistic goals and time limits for tasks so that perfectionism does not delay my work. To overcome anxiety and overthinking, I will break complex tasks into smaller steps and focus on gradual progress rather than immediate perfection. I will also practise communicating more confidently by participating in group discussions and asking for help when needed. Planning, prioritising tasks, and finishing what I start will help me develop discipline and consistency.</a:t>
            </a:r>
          </a:p>
        </p:txBody>
      </p:sp>
      <p:sp>
        <p:nvSpPr>
          <p:cNvPr id="22" name="TextBox 21">
            <a:extLst>
              <a:ext uri="{FF2B5EF4-FFF2-40B4-BE49-F238E27FC236}">
                <a16:creationId xmlns:a16="http://schemas.microsoft.com/office/drawing/2014/main" id="{08A6044D-A538-9FE5-775D-78D2418FEC2A}"/>
              </a:ext>
            </a:extLst>
          </p:cNvPr>
          <p:cNvSpPr txBox="1"/>
          <p:nvPr/>
        </p:nvSpPr>
        <p:spPr>
          <a:xfrm>
            <a:off x="749301" y="6323875"/>
            <a:ext cx="2514600" cy="230832"/>
          </a:xfrm>
          <a:prstGeom prst="rect">
            <a:avLst/>
          </a:prstGeom>
          <a:noFill/>
          <a:ln>
            <a:solidFill>
              <a:schemeClr val="tx1"/>
            </a:solidFill>
          </a:ln>
        </p:spPr>
        <p:txBody>
          <a:bodyPr wrap="square" rtlCol="0">
            <a:spAutoFit/>
          </a:bodyPr>
          <a:lstStyle/>
          <a:p>
            <a:r>
              <a:rPr lang="en-GB" sz="900" dirty="0"/>
              <a:t>analytical thinking</a:t>
            </a:r>
          </a:p>
        </p:txBody>
      </p:sp>
      <p:sp>
        <p:nvSpPr>
          <p:cNvPr id="23" name="TextBox 22">
            <a:extLst>
              <a:ext uri="{FF2B5EF4-FFF2-40B4-BE49-F238E27FC236}">
                <a16:creationId xmlns:a16="http://schemas.microsoft.com/office/drawing/2014/main" id="{A9C3D550-1AB2-6E3D-D676-E27BCE3F1261}"/>
              </a:ext>
            </a:extLst>
          </p:cNvPr>
          <p:cNvSpPr txBox="1"/>
          <p:nvPr/>
        </p:nvSpPr>
        <p:spPr>
          <a:xfrm>
            <a:off x="749301" y="7116524"/>
            <a:ext cx="2514600" cy="230832"/>
          </a:xfrm>
          <a:prstGeom prst="rect">
            <a:avLst/>
          </a:prstGeom>
          <a:noFill/>
          <a:ln>
            <a:solidFill>
              <a:schemeClr val="tx1"/>
            </a:solidFill>
          </a:ln>
        </p:spPr>
        <p:txBody>
          <a:bodyPr wrap="square" rtlCol="0">
            <a:spAutoFit/>
          </a:bodyPr>
          <a:lstStyle/>
          <a:p>
            <a:r>
              <a:rPr lang="en-GB" sz="900" dirty="0"/>
              <a:t>communication</a:t>
            </a:r>
          </a:p>
        </p:txBody>
      </p:sp>
      <p:sp>
        <p:nvSpPr>
          <p:cNvPr id="24" name="TextBox 23">
            <a:extLst>
              <a:ext uri="{FF2B5EF4-FFF2-40B4-BE49-F238E27FC236}">
                <a16:creationId xmlns:a16="http://schemas.microsoft.com/office/drawing/2014/main" id="{BD524077-947F-CE41-7860-7D433369F68B}"/>
              </a:ext>
            </a:extLst>
          </p:cNvPr>
          <p:cNvSpPr txBox="1"/>
          <p:nvPr/>
        </p:nvSpPr>
        <p:spPr>
          <a:xfrm>
            <a:off x="749301" y="7833321"/>
            <a:ext cx="2514600" cy="230832"/>
          </a:xfrm>
          <a:prstGeom prst="rect">
            <a:avLst/>
          </a:prstGeom>
          <a:noFill/>
          <a:ln>
            <a:solidFill>
              <a:schemeClr val="tx1"/>
            </a:solidFill>
          </a:ln>
        </p:spPr>
        <p:txBody>
          <a:bodyPr wrap="square" rtlCol="0">
            <a:spAutoFit/>
          </a:bodyPr>
          <a:lstStyle/>
          <a:p>
            <a:r>
              <a:rPr lang="en-GB" sz="900" dirty="0"/>
              <a:t>problem-solving</a:t>
            </a:r>
          </a:p>
        </p:txBody>
      </p:sp>
      <p:sp>
        <p:nvSpPr>
          <p:cNvPr id="25" name="TextBox 24">
            <a:extLst>
              <a:ext uri="{FF2B5EF4-FFF2-40B4-BE49-F238E27FC236}">
                <a16:creationId xmlns:a16="http://schemas.microsoft.com/office/drawing/2014/main" id="{808A4A04-4EB5-3D82-83BF-8007038C2D66}"/>
              </a:ext>
            </a:extLst>
          </p:cNvPr>
          <p:cNvSpPr txBox="1"/>
          <p:nvPr/>
        </p:nvSpPr>
        <p:spPr>
          <a:xfrm>
            <a:off x="3733800" y="6323875"/>
            <a:ext cx="2514600" cy="230832"/>
          </a:xfrm>
          <a:prstGeom prst="rect">
            <a:avLst/>
          </a:prstGeom>
          <a:noFill/>
          <a:ln>
            <a:solidFill>
              <a:schemeClr val="tx1"/>
            </a:solidFill>
          </a:ln>
        </p:spPr>
        <p:txBody>
          <a:bodyPr wrap="square" rtlCol="0">
            <a:spAutoFit/>
          </a:bodyPr>
          <a:lstStyle/>
          <a:p>
            <a:r>
              <a:rPr lang="en-GB" sz="900" i="0" u="none" strike="noStrike" cap="none" dirty="0">
                <a:solidFill>
                  <a:schemeClr val="tx1"/>
                </a:solidFill>
                <a:latin typeface="Roboto"/>
                <a:ea typeface="Roboto"/>
                <a:cs typeface="Roboto"/>
                <a:sym typeface="Roboto"/>
              </a:rPr>
              <a:t>Competitive</a:t>
            </a:r>
            <a:endParaRPr lang="en-GB" sz="900" dirty="0">
              <a:solidFill>
                <a:schemeClr val="tx1"/>
              </a:solidFill>
            </a:endParaRPr>
          </a:p>
        </p:txBody>
      </p:sp>
      <p:sp>
        <p:nvSpPr>
          <p:cNvPr id="26" name="TextBox 25">
            <a:extLst>
              <a:ext uri="{FF2B5EF4-FFF2-40B4-BE49-F238E27FC236}">
                <a16:creationId xmlns:a16="http://schemas.microsoft.com/office/drawing/2014/main" id="{44507090-8172-60A0-4AC3-AC51F0681D91}"/>
              </a:ext>
            </a:extLst>
          </p:cNvPr>
          <p:cNvSpPr txBox="1"/>
          <p:nvPr/>
        </p:nvSpPr>
        <p:spPr>
          <a:xfrm>
            <a:off x="3825759" y="7116524"/>
            <a:ext cx="2514600" cy="230832"/>
          </a:xfrm>
          <a:prstGeom prst="rect">
            <a:avLst/>
          </a:prstGeom>
          <a:noFill/>
          <a:ln>
            <a:solidFill>
              <a:schemeClr val="tx1"/>
            </a:solidFill>
          </a:ln>
        </p:spPr>
        <p:txBody>
          <a:bodyPr wrap="square" rtlCol="0">
            <a:spAutoFit/>
          </a:bodyPr>
          <a:lstStyle/>
          <a:p>
            <a:r>
              <a:rPr lang="en-GB" sz="900" i="0" u="none" strike="noStrike" cap="none" dirty="0">
                <a:solidFill>
                  <a:schemeClr val="tx1"/>
                </a:solidFill>
                <a:latin typeface="Roboto"/>
                <a:ea typeface="Roboto"/>
                <a:cs typeface="Roboto"/>
                <a:sym typeface="Roboto"/>
              </a:rPr>
              <a:t> Impulsive</a:t>
            </a:r>
            <a:endParaRPr lang="en-GB" sz="900" dirty="0"/>
          </a:p>
        </p:txBody>
      </p:sp>
      <p:sp>
        <p:nvSpPr>
          <p:cNvPr id="27" name="TextBox 26">
            <a:extLst>
              <a:ext uri="{FF2B5EF4-FFF2-40B4-BE49-F238E27FC236}">
                <a16:creationId xmlns:a16="http://schemas.microsoft.com/office/drawing/2014/main" id="{CB457DEC-F333-6BB4-DFBD-3057A81F0BAB}"/>
              </a:ext>
            </a:extLst>
          </p:cNvPr>
          <p:cNvSpPr txBox="1"/>
          <p:nvPr/>
        </p:nvSpPr>
        <p:spPr>
          <a:xfrm>
            <a:off x="3845638" y="7836904"/>
            <a:ext cx="2514600" cy="230832"/>
          </a:xfrm>
          <a:prstGeom prst="rect">
            <a:avLst/>
          </a:prstGeom>
          <a:noFill/>
          <a:ln>
            <a:solidFill>
              <a:schemeClr val="tx1"/>
            </a:solidFill>
          </a:ln>
        </p:spPr>
        <p:txBody>
          <a:bodyPr wrap="square" rtlCol="0">
            <a:spAutoFit/>
          </a:bodyPr>
          <a:lstStyle/>
          <a:p>
            <a:r>
              <a:rPr lang="en-GB" sz="900" i="0" u="none" strike="noStrike" cap="none" dirty="0">
                <a:solidFill>
                  <a:schemeClr val="tx1"/>
                </a:solidFill>
                <a:latin typeface="Roboto"/>
                <a:ea typeface="Roboto"/>
                <a:cs typeface="Roboto"/>
                <a:sym typeface="Roboto"/>
              </a:rPr>
              <a:t>Perfectionist</a:t>
            </a:r>
            <a:endParaRPr lang="en-GB" sz="900"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A close up of a sign  Description automatically generated"/>
          <p:cNvPicPr/>
          <p:nvPr/>
        </p:nvPicPr>
        <p:blipFill>
          <a:blip r:embed="rId2" cstate="print"/>
          <a:stretch>
            <a:fillRect/>
          </a:stretch>
        </p:blipFill>
        <p:spPr>
          <a:xfrm>
            <a:off x="5634228" y="457200"/>
            <a:ext cx="888491" cy="539495"/>
          </a:xfrm>
          <a:prstGeom prst="rect">
            <a:avLst/>
          </a:prstGeom>
        </p:spPr>
      </p:pic>
      <p:graphicFrame>
        <p:nvGraphicFramePr>
          <p:cNvPr id="3" name="object 3"/>
          <p:cNvGraphicFramePr>
            <a:graphicFrameLocks noGrp="1"/>
          </p:cNvGraphicFramePr>
          <p:nvPr/>
        </p:nvGraphicFramePr>
        <p:xfrm>
          <a:off x="419797" y="2404470"/>
          <a:ext cx="5915659" cy="2264410"/>
        </p:xfrm>
        <a:graphic>
          <a:graphicData uri="http://schemas.openxmlformats.org/drawingml/2006/table">
            <a:tbl>
              <a:tblPr firstRow="1" bandRow="1">
                <a:tableStyleId>{2D5ABB26-0587-4C30-8999-92F81FD0307C}</a:tableStyleId>
              </a:tblPr>
              <a:tblGrid>
                <a:gridCol w="2954020">
                  <a:extLst>
                    <a:ext uri="{9D8B030D-6E8A-4147-A177-3AD203B41FA5}">
                      <a16:colId xmlns:a16="http://schemas.microsoft.com/office/drawing/2014/main" val="20000"/>
                    </a:ext>
                  </a:extLst>
                </a:gridCol>
                <a:gridCol w="2961639">
                  <a:extLst>
                    <a:ext uri="{9D8B030D-6E8A-4147-A177-3AD203B41FA5}">
                      <a16:colId xmlns:a16="http://schemas.microsoft.com/office/drawing/2014/main" val="20001"/>
                    </a:ext>
                  </a:extLst>
                </a:gridCol>
              </a:tblGrid>
              <a:tr h="439420">
                <a:tc>
                  <a:txBody>
                    <a:bodyPr/>
                    <a:lstStyle/>
                    <a:p>
                      <a:pPr algn="ctr">
                        <a:lnSpc>
                          <a:spcPct val="100000"/>
                        </a:lnSpc>
                        <a:spcBef>
                          <a:spcPts val="200"/>
                        </a:spcBef>
                      </a:pPr>
                      <a:r>
                        <a:rPr sz="900" b="1" spc="85" dirty="0">
                          <a:latin typeface="Calibri"/>
                          <a:cs typeface="Calibri"/>
                        </a:rPr>
                        <a:t>Skills</a:t>
                      </a:r>
                      <a:endParaRPr sz="900">
                        <a:latin typeface="Calibri"/>
                        <a:cs typeface="Calibri"/>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00"/>
                        </a:spcBef>
                      </a:pPr>
                      <a:r>
                        <a:rPr sz="900" b="1" spc="80" dirty="0">
                          <a:latin typeface="Calibri"/>
                          <a:cs typeface="Calibri"/>
                        </a:rPr>
                        <a:t>Qualities</a:t>
                      </a:r>
                      <a:endParaRPr sz="900">
                        <a:latin typeface="Calibri"/>
                        <a:cs typeface="Calibri"/>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608330">
                <a:tc>
                  <a:txBody>
                    <a:bodyPr/>
                    <a:lstStyle/>
                    <a:p>
                      <a:pPr marL="62230">
                        <a:lnSpc>
                          <a:spcPct val="100000"/>
                        </a:lnSpc>
                        <a:spcBef>
                          <a:spcPts val="200"/>
                        </a:spcBef>
                      </a:pPr>
                      <a:r>
                        <a:rPr sz="900" spc="-25" dirty="0">
                          <a:latin typeface="Century Gothic"/>
                          <a:cs typeface="Century Gothic"/>
                        </a:rPr>
                        <a:t>1)</a:t>
                      </a:r>
                      <a:endParaRPr sz="900">
                        <a:latin typeface="Century Gothic"/>
                        <a:cs typeface="Century Gothic"/>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200"/>
                        </a:spcBef>
                      </a:pPr>
                      <a:r>
                        <a:rPr sz="900" spc="-25" dirty="0">
                          <a:latin typeface="Century Gothic"/>
                          <a:cs typeface="Century Gothic"/>
                        </a:rPr>
                        <a:t>1)</a:t>
                      </a:r>
                      <a:endParaRPr sz="900">
                        <a:latin typeface="Century Gothic"/>
                        <a:cs typeface="Century Gothic"/>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608330">
                <a:tc>
                  <a:txBody>
                    <a:bodyPr/>
                    <a:lstStyle/>
                    <a:p>
                      <a:pPr marL="62230">
                        <a:lnSpc>
                          <a:spcPct val="100000"/>
                        </a:lnSpc>
                        <a:spcBef>
                          <a:spcPts val="200"/>
                        </a:spcBef>
                      </a:pPr>
                      <a:r>
                        <a:rPr sz="900" spc="-25" dirty="0">
                          <a:latin typeface="Century Gothic"/>
                          <a:cs typeface="Century Gothic"/>
                        </a:rPr>
                        <a:t>2)</a:t>
                      </a:r>
                      <a:endParaRPr sz="900">
                        <a:latin typeface="Century Gothic"/>
                        <a:cs typeface="Century Gothic"/>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200"/>
                        </a:spcBef>
                      </a:pPr>
                      <a:r>
                        <a:rPr sz="900" spc="-25" dirty="0">
                          <a:latin typeface="Century Gothic"/>
                          <a:cs typeface="Century Gothic"/>
                        </a:rPr>
                        <a:t>2)</a:t>
                      </a:r>
                      <a:endParaRPr sz="900">
                        <a:latin typeface="Century Gothic"/>
                        <a:cs typeface="Century Gothic"/>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608330">
                <a:tc>
                  <a:txBody>
                    <a:bodyPr/>
                    <a:lstStyle/>
                    <a:p>
                      <a:pPr marL="62230">
                        <a:lnSpc>
                          <a:spcPct val="100000"/>
                        </a:lnSpc>
                        <a:spcBef>
                          <a:spcPts val="200"/>
                        </a:spcBef>
                      </a:pPr>
                      <a:r>
                        <a:rPr sz="900" spc="-25" dirty="0">
                          <a:latin typeface="Century Gothic"/>
                          <a:cs typeface="Century Gothic"/>
                        </a:rPr>
                        <a:t>3)</a:t>
                      </a:r>
                      <a:endParaRPr sz="900" dirty="0">
                        <a:latin typeface="Century Gothic"/>
                        <a:cs typeface="Century Gothic"/>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200"/>
                        </a:spcBef>
                      </a:pPr>
                      <a:r>
                        <a:rPr sz="900" spc="-25" dirty="0">
                          <a:latin typeface="Century Gothic"/>
                          <a:cs typeface="Century Gothic"/>
                        </a:rPr>
                        <a:t>3)</a:t>
                      </a:r>
                      <a:endParaRPr sz="900" dirty="0">
                        <a:latin typeface="Century Gothic"/>
                        <a:cs typeface="Century Gothic"/>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9" name="object 9"/>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10" name="object 10"/>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7</a:t>
            </a:fld>
            <a:endParaRPr spc="-25" dirty="0"/>
          </a:p>
        </p:txBody>
      </p:sp>
      <p:sp>
        <p:nvSpPr>
          <p:cNvPr id="4" name="object 4"/>
          <p:cNvSpPr txBox="1"/>
          <p:nvPr/>
        </p:nvSpPr>
        <p:spPr>
          <a:xfrm>
            <a:off x="386715" y="1667756"/>
            <a:ext cx="5401310" cy="482600"/>
          </a:xfrm>
          <a:prstGeom prst="rect">
            <a:avLst/>
          </a:prstGeom>
        </p:spPr>
        <p:txBody>
          <a:bodyPr vert="horz" wrap="square" lIns="0" tIns="12065" rIns="0" bIns="0" rtlCol="0">
            <a:spAutoFit/>
          </a:bodyPr>
          <a:lstStyle/>
          <a:p>
            <a:pPr marL="12700">
              <a:lnSpc>
                <a:spcPct val="100000"/>
              </a:lnSpc>
              <a:spcBef>
                <a:spcPts val="95"/>
              </a:spcBef>
            </a:pPr>
            <a:r>
              <a:rPr sz="1000" b="1" spc="114" dirty="0">
                <a:latin typeface="Calibri"/>
                <a:cs typeface="Calibri"/>
              </a:rPr>
              <a:t>Q4)</a:t>
            </a:r>
            <a:r>
              <a:rPr sz="1000" b="1" spc="160" dirty="0">
                <a:latin typeface="Calibri"/>
                <a:cs typeface="Calibri"/>
              </a:rPr>
              <a:t> </a:t>
            </a:r>
            <a:r>
              <a:rPr sz="1000" b="1" dirty="0">
                <a:latin typeface="Calibri"/>
                <a:cs typeface="Calibri"/>
              </a:rPr>
              <a:t>1.4</a:t>
            </a:r>
            <a:r>
              <a:rPr sz="1000" b="1" spc="130" dirty="0">
                <a:latin typeface="Calibri"/>
                <a:cs typeface="Calibri"/>
              </a:rPr>
              <a:t> </a:t>
            </a:r>
            <a:r>
              <a:rPr sz="1000" b="1" spc="105" dirty="0">
                <a:latin typeface="Calibri"/>
                <a:cs typeface="Calibri"/>
              </a:rPr>
              <a:t>List</a:t>
            </a:r>
            <a:r>
              <a:rPr sz="1000" b="1" spc="145" dirty="0">
                <a:latin typeface="Calibri"/>
                <a:cs typeface="Calibri"/>
              </a:rPr>
              <a:t> </a:t>
            </a:r>
            <a:r>
              <a:rPr sz="1000" dirty="0">
                <a:latin typeface="Century Gothic"/>
                <a:cs typeface="Century Gothic"/>
              </a:rPr>
              <a:t>your</a:t>
            </a:r>
            <a:r>
              <a:rPr sz="1000" spc="50" dirty="0">
                <a:latin typeface="Century Gothic"/>
                <a:cs typeface="Century Gothic"/>
              </a:rPr>
              <a:t> </a:t>
            </a:r>
            <a:r>
              <a:rPr sz="1000" dirty="0">
                <a:latin typeface="Century Gothic"/>
                <a:cs typeface="Century Gothic"/>
              </a:rPr>
              <a:t>own</a:t>
            </a:r>
            <a:r>
              <a:rPr sz="1000" spc="60" dirty="0">
                <a:latin typeface="Century Gothic"/>
                <a:cs typeface="Century Gothic"/>
              </a:rPr>
              <a:t> </a:t>
            </a:r>
            <a:r>
              <a:rPr sz="1000" spc="75" dirty="0">
                <a:latin typeface="Century Gothic"/>
                <a:cs typeface="Century Gothic"/>
              </a:rPr>
              <a:t>skills</a:t>
            </a:r>
            <a:r>
              <a:rPr sz="1000" spc="95" dirty="0">
                <a:latin typeface="Century Gothic"/>
                <a:cs typeface="Century Gothic"/>
              </a:rPr>
              <a:t> </a:t>
            </a:r>
            <a:r>
              <a:rPr sz="1000" spc="-10" dirty="0">
                <a:latin typeface="Century Gothic"/>
                <a:cs typeface="Century Gothic"/>
              </a:rPr>
              <a:t>and</a:t>
            </a:r>
            <a:r>
              <a:rPr sz="1000" spc="75" dirty="0">
                <a:latin typeface="Century Gothic"/>
                <a:cs typeface="Century Gothic"/>
              </a:rPr>
              <a:t> </a:t>
            </a:r>
            <a:r>
              <a:rPr sz="1000" dirty="0">
                <a:latin typeface="Century Gothic"/>
                <a:cs typeface="Century Gothic"/>
              </a:rPr>
              <a:t>qualities</a:t>
            </a:r>
            <a:r>
              <a:rPr sz="1000" spc="95" dirty="0">
                <a:latin typeface="Century Gothic"/>
                <a:cs typeface="Century Gothic"/>
              </a:rPr>
              <a:t> </a:t>
            </a:r>
            <a:r>
              <a:rPr sz="1000" dirty="0">
                <a:latin typeface="Century Gothic"/>
                <a:cs typeface="Century Gothic"/>
              </a:rPr>
              <a:t>that</a:t>
            </a:r>
            <a:r>
              <a:rPr sz="1000" spc="35" dirty="0">
                <a:latin typeface="Century Gothic"/>
                <a:cs typeface="Century Gothic"/>
              </a:rPr>
              <a:t> </a:t>
            </a:r>
            <a:r>
              <a:rPr sz="1000" dirty="0">
                <a:latin typeface="Century Gothic"/>
                <a:cs typeface="Century Gothic"/>
              </a:rPr>
              <a:t>contribute</a:t>
            </a:r>
            <a:r>
              <a:rPr sz="1000" spc="70" dirty="0">
                <a:latin typeface="Century Gothic"/>
                <a:cs typeface="Century Gothic"/>
              </a:rPr>
              <a:t> </a:t>
            </a:r>
            <a:r>
              <a:rPr sz="1000" dirty="0">
                <a:latin typeface="Century Gothic"/>
                <a:cs typeface="Century Gothic"/>
              </a:rPr>
              <a:t>toward</a:t>
            </a:r>
            <a:r>
              <a:rPr sz="1000" spc="55" dirty="0">
                <a:latin typeface="Century Gothic"/>
                <a:cs typeface="Century Gothic"/>
              </a:rPr>
              <a:t> </a:t>
            </a:r>
            <a:r>
              <a:rPr sz="1000" dirty="0">
                <a:latin typeface="Century Gothic"/>
                <a:cs typeface="Century Gothic"/>
              </a:rPr>
              <a:t>seeing</a:t>
            </a:r>
            <a:r>
              <a:rPr sz="1000" spc="70" dirty="0">
                <a:latin typeface="Century Gothic"/>
                <a:cs typeface="Century Gothic"/>
              </a:rPr>
              <a:t> </a:t>
            </a:r>
            <a:r>
              <a:rPr sz="1000" spc="-10" dirty="0">
                <a:latin typeface="Century Gothic"/>
                <a:cs typeface="Century Gothic"/>
              </a:rPr>
              <a:t>opportunities</a:t>
            </a:r>
            <a:endParaRPr sz="1000">
              <a:latin typeface="Century Gothic"/>
              <a:cs typeface="Century Gothic"/>
            </a:endParaRPr>
          </a:p>
          <a:p>
            <a:pPr marL="12700">
              <a:lnSpc>
                <a:spcPct val="100000"/>
              </a:lnSpc>
            </a:pPr>
            <a:r>
              <a:rPr sz="1000" spc="-50" dirty="0">
                <a:latin typeface="Century Gothic"/>
                <a:cs typeface="Century Gothic"/>
              </a:rPr>
              <a:t>.</a:t>
            </a:r>
            <a:endParaRPr sz="1000">
              <a:latin typeface="Century Gothic"/>
              <a:cs typeface="Century Gothic"/>
            </a:endParaRPr>
          </a:p>
          <a:p>
            <a:pPr marL="12700">
              <a:lnSpc>
                <a:spcPct val="100000"/>
              </a:lnSpc>
            </a:pPr>
            <a:r>
              <a:rPr sz="1000" b="1" i="1" spc="110" dirty="0">
                <a:latin typeface="Calibri"/>
                <a:cs typeface="Calibri"/>
              </a:rPr>
              <a:t>This</a:t>
            </a:r>
            <a:r>
              <a:rPr sz="1000" b="1" i="1" spc="65" dirty="0">
                <a:latin typeface="Calibri"/>
                <a:cs typeface="Calibri"/>
              </a:rPr>
              <a:t> </a:t>
            </a:r>
            <a:r>
              <a:rPr sz="1000" b="1" i="1" spc="145" dirty="0">
                <a:latin typeface="Calibri"/>
                <a:cs typeface="Calibri"/>
              </a:rPr>
              <a:t>must</a:t>
            </a:r>
            <a:r>
              <a:rPr sz="1000" b="1" i="1" spc="80" dirty="0">
                <a:latin typeface="Calibri"/>
                <a:cs typeface="Calibri"/>
              </a:rPr>
              <a:t> </a:t>
            </a:r>
            <a:r>
              <a:rPr sz="1000" b="1" i="1" spc="120" dirty="0">
                <a:latin typeface="Calibri"/>
                <a:cs typeface="Calibri"/>
              </a:rPr>
              <a:t>include</a:t>
            </a:r>
            <a:r>
              <a:rPr sz="1000" b="1" i="1" spc="80" dirty="0">
                <a:latin typeface="Calibri"/>
                <a:cs typeface="Calibri"/>
              </a:rPr>
              <a:t> </a:t>
            </a:r>
            <a:r>
              <a:rPr sz="1000" b="1" i="1" spc="114" dirty="0">
                <a:latin typeface="Calibri"/>
                <a:cs typeface="Calibri"/>
              </a:rPr>
              <a:t>at</a:t>
            </a:r>
            <a:r>
              <a:rPr sz="1000" b="1" i="1" spc="80" dirty="0">
                <a:latin typeface="Calibri"/>
                <a:cs typeface="Calibri"/>
              </a:rPr>
              <a:t> </a:t>
            </a:r>
            <a:r>
              <a:rPr sz="1000" b="1" i="1" spc="105" dirty="0">
                <a:latin typeface="Calibri"/>
                <a:cs typeface="Calibri"/>
              </a:rPr>
              <a:t>least</a:t>
            </a:r>
            <a:r>
              <a:rPr sz="1000" b="1" i="1" spc="70" dirty="0">
                <a:latin typeface="Calibri"/>
                <a:cs typeface="Calibri"/>
              </a:rPr>
              <a:t> </a:t>
            </a:r>
            <a:r>
              <a:rPr sz="1000" b="1" i="1" spc="114" dirty="0">
                <a:latin typeface="Calibri"/>
                <a:cs typeface="Calibri"/>
              </a:rPr>
              <a:t>three</a:t>
            </a:r>
            <a:r>
              <a:rPr sz="1000" b="1" i="1" spc="70" dirty="0">
                <a:latin typeface="Calibri"/>
                <a:cs typeface="Calibri"/>
              </a:rPr>
              <a:t> </a:t>
            </a:r>
            <a:r>
              <a:rPr sz="1000" b="1" i="1" spc="95" dirty="0">
                <a:latin typeface="Calibri"/>
                <a:cs typeface="Calibri"/>
              </a:rPr>
              <a:t>of</a:t>
            </a:r>
            <a:r>
              <a:rPr sz="1000" b="1" i="1" spc="80" dirty="0">
                <a:latin typeface="Calibri"/>
                <a:cs typeface="Calibri"/>
              </a:rPr>
              <a:t> </a:t>
            </a:r>
            <a:r>
              <a:rPr sz="1000" b="1" i="1" spc="110" dirty="0">
                <a:latin typeface="Calibri"/>
                <a:cs typeface="Calibri"/>
              </a:rPr>
              <a:t>each.</a:t>
            </a:r>
            <a:endParaRPr sz="1000">
              <a:latin typeface="Calibri"/>
              <a:cs typeface="Calibri"/>
            </a:endParaRPr>
          </a:p>
        </p:txBody>
      </p:sp>
      <p:sp>
        <p:nvSpPr>
          <p:cNvPr id="5" name="object 5"/>
          <p:cNvSpPr txBox="1"/>
          <p:nvPr/>
        </p:nvSpPr>
        <p:spPr>
          <a:xfrm>
            <a:off x="369582" y="4893526"/>
            <a:ext cx="5739130" cy="482600"/>
          </a:xfrm>
          <a:prstGeom prst="rect">
            <a:avLst/>
          </a:prstGeom>
        </p:spPr>
        <p:txBody>
          <a:bodyPr vert="horz" wrap="square" lIns="0" tIns="12065" rIns="0" bIns="0" rtlCol="0">
            <a:spAutoFit/>
          </a:bodyPr>
          <a:lstStyle/>
          <a:p>
            <a:pPr marL="12700">
              <a:lnSpc>
                <a:spcPct val="100000"/>
              </a:lnSpc>
              <a:spcBef>
                <a:spcPts val="95"/>
              </a:spcBef>
            </a:pPr>
            <a:r>
              <a:rPr sz="1000" b="1" spc="85" dirty="0">
                <a:latin typeface="Calibri"/>
                <a:cs typeface="Calibri"/>
              </a:rPr>
              <a:t>Q5)</a:t>
            </a:r>
            <a:r>
              <a:rPr sz="1000" b="1" spc="160" dirty="0">
                <a:latin typeface="Calibri"/>
                <a:cs typeface="Calibri"/>
              </a:rPr>
              <a:t> </a:t>
            </a:r>
            <a:r>
              <a:rPr sz="1000" b="1" dirty="0">
                <a:latin typeface="Calibri"/>
                <a:cs typeface="Calibri"/>
              </a:rPr>
              <a:t>2.1,</a:t>
            </a:r>
            <a:r>
              <a:rPr sz="1000" b="1" spc="120" dirty="0">
                <a:latin typeface="Calibri"/>
                <a:cs typeface="Calibri"/>
              </a:rPr>
              <a:t> </a:t>
            </a:r>
            <a:r>
              <a:rPr sz="1000" b="1" dirty="0">
                <a:latin typeface="Calibri"/>
                <a:cs typeface="Calibri"/>
              </a:rPr>
              <a:t>2.2</a:t>
            </a:r>
            <a:r>
              <a:rPr sz="1000" b="1" spc="135" dirty="0">
                <a:latin typeface="Calibri"/>
                <a:cs typeface="Calibri"/>
              </a:rPr>
              <a:t> </a:t>
            </a:r>
            <a:r>
              <a:rPr sz="1000" b="1" spc="105" dirty="0">
                <a:latin typeface="Calibri"/>
                <a:cs typeface="Calibri"/>
              </a:rPr>
              <a:t>State</a:t>
            </a:r>
            <a:r>
              <a:rPr sz="1000" b="1" spc="140" dirty="0">
                <a:latin typeface="Calibri"/>
                <a:cs typeface="Calibri"/>
              </a:rPr>
              <a:t> </a:t>
            </a:r>
            <a:r>
              <a:rPr sz="1000" spc="-110" dirty="0">
                <a:latin typeface="Century Gothic"/>
                <a:cs typeface="Century Gothic"/>
              </a:rPr>
              <a:t>a</a:t>
            </a:r>
            <a:r>
              <a:rPr sz="1000" spc="50" dirty="0">
                <a:latin typeface="Century Gothic"/>
                <a:cs typeface="Century Gothic"/>
              </a:rPr>
              <a:t> </a:t>
            </a:r>
            <a:r>
              <a:rPr sz="1000" dirty="0">
                <a:latin typeface="Century Gothic"/>
                <a:cs typeface="Century Gothic"/>
              </a:rPr>
              <a:t>long-term</a:t>
            </a:r>
            <a:r>
              <a:rPr sz="1000" spc="80" dirty="0">
                <a:latin typeface="Century Gothic"/>
                <a:cs typeface="Century Gothic"/>
              </a:rPr>
              <a:t> </a:t>
            </a:r>
            <a:r>
              <a:rPr sz="1000" spc="-10" dirty="0">
                <a:latin typeface="Century Gothic"/>
                <a:cs typeface="Century Gothic"/>
              </a:rPr>
              <a:t>and</a:t>
            </a:r>
            <a:r>
              <a:rPr sz="1000" spc="45" dirty="0">
                <a:latin typeface="Century Gothic"/>
                <a:cs typeface="Century Gothic"/>
              </a:rPr>
              <a:t> </a:t>
            </a:r>
            <a:r>
              <a:rPr sz="1000" spc="50" dirty="0">
                <a:latin typeface="Century Gothic"/>
                <a:cs typeface="Century Gothic"/>
              </a:rPr>
              <a:t>short-</a:t>
            </a:r>
            <a:r>
              <a:rPr sz="1000" spc="55" dirty="0">
                <a:latin typeface="Century Gothic"/>
                <a:cs typeface="Century Gothic"/>
              </a:rPr>
              <a:t>term</a:t>
            </a:r>
            <a:r>
              <a:rPr sz="1000" spc="50" dirty="0">
                <a:latin typeface="Century Gothic"/>
                <a:cs typeface="Century Gothic"/>
              </a:rPr>
              <a:t> </a:t>
            </a:r>
            <a:r>
              <a:rPr sz="1000" spc="-10" dirty="0">
                <a:latin typeface="Century Gothic"/>
                <a:cs typeface="Century Gothic"/>
              </a:rPr>
              <a:t>goal</a:t>
            </a:r>
            <a:r>
              <a:rPr sz="1000" spc="65" dirty="0">
                <a:latin typeface="Century Gothic"/>
                <a:cs typeface="Century Gothic"/>
              </a:rPr>
              <a:t> </a:t>
            </a:r>
            <a:r>
              <a:rPr sz="1000" dirty="0">
                <a:latin typeface="Century Gothic"/>
                <a:cs typeface="Century Gothic"/>
              </a:rPr>
              <a:t>for</a:t>
            </a:r>
            <a:r>
              <a:rPr sz="1000" spc="45" dirty="0">
                <a:latin typeface="Century Gothic"/>
                <a:cs typeface="Century Gothic"/>
              </a:rPr>
              <a:t> </a:t>
            </a:r>
            <a:r>
              <a:rPr sz="1000" spc="-110" dirty="0">
                <a:latin typeface="Century Gothic"/>
                <a:cs typeface="Century Gothic"/>
              </a:rPr>
              <a:t>a</a:t>
            </a:r>
            <a:r>
              <a:rPr sz="1000" spc="50" dirty="0">
                <a:latin typeface="Century Gothic"/>
                <a:cs typeface="Century Gothic"/>
              </a:rPr>
              <a:t> </a:t>
            </a:r>
            <a:r>
              <a:rPr sz="1000" dirty="0">
                <a:latin typeface="Century Gothic"/>
                <a:cs typeface="Century Gothic"/>
              </a:rPr>
              <a:t>potential</a:t>
            </a:r>
            <a:r>
              <a:rPr sz="1000" spc="65" dirty="0">
                <a:latin typeface="Century Gothic"/>
                <a:cs typeface="Century Gothic"/>
              </a:rPr>
              <a:t> </a:t>
            </a:r>
            <a:r>
              <a:rPr sz="1000" dirty="0">
                <a:latin typeface="Century Gothic"/>
                <a:cs typeface="Century Gothic"/>
              </a:rPr>
              <a:t>opportunity</a:t>
            </a:r>
            <a:r>
              <a:rPr sz="1000" spc="65" dirty="0">
                <a:latin typeface="Century Gothic"/>
                <a:cs typeface="Century Gothic"/>
              </a:rPr>
              <a:t> </a:t>
            </a:r>
            <a:r>
              <a:rPr sz="1000" spc="55" dirty="0">
                <a:latin typeface="Century Gothic"/>
                <a:cs typeface="Century Gothic"/>
              </a:rPr>
              <a:t>with</a:t>
            </a:r>
            <a:r>
              <a:rPr sz="1000" spc="45" dirty="0">
                <a:latin typeface="Century Gothic"/>
                <a:cs typeface="Century Gothic"/>
              </a:rPr>
              <a:t> </a:t>
            </a:r>
            <a:r>
              <a:rPr sz="1000" spc="-10" dirty="0">
                <a:latin typeface="Century Gothic"/>
                <a:cs typeface="Century Gothic"/>
              </a:rPr>
              <a:t>realistic</a:t>
            </a:r>
            <a:endParaRPr sz="1000" dirty="0">
              <a:latin typeface="Century Gothic"/>
              <a:cs typeface="Century Gothic"/>
            </a:endParaRPr>
          </a:p>
          <a:p>
            <a:pPr marL="12700">
              <a:lnSpc>
                <a:spcPct val="100000"/>
              </a:lnSpc>
              <a:spcBef>
                <a:spcPts val="1200"/>
              </a:spcBef>
            </a:pPr>
            <a:r>
              <a:rPr sz="1000" dirty="0">
                <a:latin typeface="Century Gothic"/>
                <a:cs typeface="Century Gothic"/>
              </a:rPr>
              <a:t>targets.</a:t>
            </a:r>
            <a:r>
              <a:rPr sz="1000" spc="5" dirty="0">
                <a:latin typeface="Century Gothic"/>
                <a:cs typeface="Century Gothic"/>
              </a:rPr>
              <a:t> </a:t>
            </a:r>
            <a:r>
              <a:rPr sz="1000" b="1" i="1" spc="105" dirty="0">
                <a:latin typeface="Calibri"/>
                <a:cs typeface="Calibri"/>
              </a:rPr>
              <a:t>This</a:t>
            </a:r>
            <a:r>
              <a:rPr sz="1000" b="1" i="1" spc="90" dirty="0">
                <a:latin typeface="Calibri"/>
                <a:cs typeface="Calibri"/>
              </a:rPr>
              <a:t> </a:t>
            </a:r>
            <a:r>
              <a:rPr sz="1000" b="1" i="1" spc="120" dirty="0">
                <a:latin typeface="Calibri"/>
                <a:cs typeface="Calibri"/>
              </a:rPr>
              <a:t>should</a:t>
            </a:r>
            <a:r>
              <a:rPr sz="1000" b="1" i="1" spc="90" dirty="0">
                <a:latin typeface="Calibri"/>
                <a:cs typeface="Calibri"/>
              </a:rPr>
              <a:t> </a:t>
            </a:r>
            <a:r>
              <a:rPr sz="1000" b="1" i="1" spc="120" dirty="0">
                <a:latin typeface="Calibri"/>
                <a:cs typeface="Calibri"/>
              </a:rPr>
              <a:t>include</a:t>
            </a:r>
            <a:r>
              <a:rPr sz="1000" b="1" i="1" spc="95" dirty="0">
                <a:latin typeface="Calibri"/>
                <a:cs typeface="Calibri"/>
              </a:rPr>
              <a:t> </a:t>
            </a:r>
            <a:r>
              <a:rPr sz="1000" b="1" i="1" spc="85" dirty="0">
                <a:latin typeface="Calibri"/>
                <a:cs typeface="Calibri"/>
              </a:rPr>
              <a:t>self-</a:t>
            </a:r>
            <a:r>
              <a:rPr sz="1000" b="1" i="1" spc="90" dirty="0">
                <a:latin typeface="Calibri"/>
                <a:cs typeface="Calibri"/>
              </a:rPr>
              <a:t> </a:t>
            </a:r>
            <a:r>
              <a:rPr sz="1000" b="1" i="1" spc="135" dirty="0">
                <a:latin typeface="Calibri"/>
                <a:cs typeface="Calibri"/>
              </a:rPr>
              <a:t>improvement</a:t>
            </a:r>
            <a:r>
              <a:rPr sz="1000" b="1" i="1" spc="105" dirty="0">
                <a:latin typeface="Calibri"/>
                <a:cs typeface="Calibri"/>
              </a:rPr>
              <a:t> </a:t>
            </a:r>
            <a:r>
              <a:rPr sz="1000" b="1" i="1" spc="95" dirty="0">
                <a:latin typeface="Calibri"/>
                <a:cs typeface="Calibri"/>
              </a:rPr>
              <a:t>or</a:t>
            </a:r>
            <a:r>
              <a:rPr sz="1000" b="1" i="1" spc="75" dirty="0">
                <a:latin typeface="Calibri"/>
                <a:cs typeface="Calibri"/>
              </a:rPr>
              <a:t> </a:t>
            </a:r>
            <a:r>
              <a:rPr sz="1000" b="1" i="1" spc="105" dirty="0">
                <a:latin typeface="Calibri"/>
                <a:cs typeface="Calibri"/>
              </a:rPr>
              <a:t>further </a:t>
            </a:r>
            <a:r>
              <a:rPr sz="1000" b="1" i="1" spc="90" dirty="0">
                <a:latin typeface="Calibri"/>
                <a:cs typeface="Calibri"/>
              </a:rPr>
              <a:t>learning.</a:t>
            </a:r>
            <a:endParaRPr sz="1000" dirty="0">
              <a:latin typeface="Calibri"/>
              <a:cs typeface="Calibri"/>
            </a:endParaRPr>
          </a:p>
        </p:txBody>
      </p:sp>
      <p:graphicFrame>
        <p:nvGraphicFramePr>
          <p:cNvPr id="6" name="object 6"/>
          <p:cNvGraphicFramePr>
            <a:graphicFrameLocks noGrp="1"/>
          </p:cNvGraphicFramePr>
          <p:nvPr/>
        </p:nvGraphicFramePr>
        <p:xfrm>
          <a:off x="387332" y="5522715"/>
          <a:ext cx="5914390" cy="1367155"/>
        </p:xfrm>
        <a:graphic>
          <a:graphicData uri="http://schemas.openxmlformats.org/drawingml/2006/table">
            <a:tbl>
              <a:tblPr firstRow="1" bandRow="1">
                <a:tableStyleId>{2D5ABB26-0587-4C30-8999-92F81FD0307C}</a:tableStyleId>
              </a:tblPr>
              <a:tblGrid>
                <a:gridCol w="4547235">
                  <a:extLst>
                    <a:ext uri="{9D8B030D-6E8A-4147-A177-3AD203B41FA5}">
                      <a16:colId xmlns:a16="http://schemas.microsoft.com/office/drawing/2014/main" val="20000"/>
                    </a:ext>
                  </a:extLst>
                </a:gridCol>
                <a:gridCol w="1367155">
                  <a:extLst>
                    <a:ext uri="{9D8B030D-6E8A-4147-A177-3AD203B41FA5}">
                      <a16:colId xmlns:a16="http://schemas.microsoft.com/office/drawing/2014/main" val="20001"/>
                    </a:ext>
                  </a:extLst>
                </a:gridCol>
              </a:tblGrid>
              <a:tr h="575945">
                <a:tc>
                  <a:txBody>
                    <a:bodyPr/>
                    <a:lstStyle/>
                    <a:p>
                      <a:pPr algn="ctr">
                        <a:lnSpc>
                          <a:spcPct val="100000"/>
                        </a:lnSpc>
                        <a:spcBef>
                          <a:spcPts val="200"/>
                        </a:spcBef>
                      </a:pPr>
                      <a:r>
                        <a:rPr sz="900" b="1" spc="100" dirty="0">
                          <a:latin typeface="Calibri"/>
                          <a:cs typeface="Calibri"/>
                        </a:rPr>
                        <a:t>Short</a:t>
                      </a:r>
                      <a:r>
                        <a:rPr sz="900" b="1" spc="45" dirty="0">
                          <a:latin typeface="Calibri"/>
                          <a:cs typeface="Calibri"/>
                        </a:rPr>
                        <a:t> </a:t>
                      </a:r>
                      <a:r>
                        <a:rPr sz="900" b="1" spc="70" dirty="0">
                          <a:latin typeface="Calibri"/>
                          <a:cs typeface="Calibri"/>
                        </a:rPr>
                        <a:t>-</a:t>
                      </a:r>
                      <a:r>
                        <a:rPr sz="900" b="1" spc="50" dirty="0">
                          <a:latin typeface="Calibri"/>
                          <a:cs typeface="Calibri"/>
                        </a:rPr>
                        <a:t> </a:t>
                      </a:r>
                      <a:r>
                        <a:rPr sz="900" b="1" spc="110" dirty="0">
                          <a:latin typeface="Calibri"/>
                          <a:cs typeface="Calibri"/>
                        </a:rPr>
                        <a:t>term</a:t>
                      </a:r>
                      <a:r>
                        <a:rPr sz="900" b="1" spc="55" dirty="0">
                          <a:latin typeface="Calibri"/>
                          <a:cs typeface="Calibri"/>
                        </a:rPr>
                        <a:t> </a:t>
                      </a:r>
                      <a:r>
                        <a:rPr sz="900" b="1" spc="90" dirty="0">
                          <a:latin typeface="Calibri"/>
                          <a:cs typeface="Calibri"/>
                        </a:rPr>
                        <a:t>goal</a:t>
                      </a:r>
                      <a:endParaRPr sz="900">
                        <a:latin typeface="Calibri"/>
                        <a:cs typeface="Calibri"/>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36550">
                        <a:lnSpc>
                          <a:spcPct val="100000"/>
                        </a:lnSpc>
                        <a:spcBef>
                          <a:spcPts val="200"/>
                        </a:spcBef>
                      </a:pPr>
                      <a:r>
                        <a:rPr sz="900" b="1" spc="105" dirty="0">
                          <a:latin typeface="Calibri"/>
                          <a:cs typeface="Calibri"/>
                        </a:rPr>
                        <a:t>Target</a:t>
                      </a:r>
                      <a:r>
                        <a:rPr sz="900" b="1" spc="45" dirty="0">
                          <a:latin typeface="Calibri"/>
                          <a:cs typeface="Calibri"/>
                        </a:rPr>
                        <a:t> </a:t>
                      </a:r>
                      <a:r>
                        <a:rPr sz="900" b="1" spc="85" dirty="0">
                          <a:latin typeface="Calibri"/>
                          <a:cs typeface="Calibri"/>
                        </a:rPr>
                        <a:t>date</a:t>
                      </a:r>
                      <a:endParaRPr sz="900">
                        <a:latin typeface="Calibri"/>
                        <a:cs typeface="Calibri"/>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791210">
                <a:tc>
                  <a:txBody>
                    <a:bodyPr/>
                    <a:lstStyle/>
                    <a:p>
                      <a:pPr>
                        <a:lnSpc>
                          <a:spcPct val="100000"/>
                        </a:lnSpc>
                      </a:pPr>
                      <a:endParaRPr sz="10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bl>
          </a:graphicData>
        </a:graphic>
      </p:graphicFrame>
      <p:graphicFrame>
        <p:nvGraphicFramePr>
          <p:cNvPr id="7" name="object 7"/>
          <p:cNvGraphicFramePr>
            <a:graphicFrameLocks noGrp="1"/>
          </p:cNvGraphicFramePr>
          <p:nvPr/>
        </p:nvGraphicFramePr>
        <p:xfrm>
          <a:off x="466977" y="7284910"/>
          <a:ext cx="5914390" cy="1477010"/>
        </p:xfrm>
        <a:graphic>
          <a:graphicData uri="http://schemas.openxmlformats.org/drawingml/2006/table">
            <a:tbl>
              <a:tblPr firstRow="1" bandRow="1">
                <a:tableStyleId>{2D5ABB26-0587-4C30-8999-92F81FD0307C}</a:tableStyleId>
              </a:tblPr>
              <a:tblGrid>
                <a:gridCol w="4547235">
                  <a:extLst>
                    <a:ext uri="{9D8B030D-6E8A-4147-A177-3AD203B41FA5}">
                      <a16:colId xmlns:a16="http://schemas.microsoft.com/office/drawing/2014/main" val="20000"/>
                    </a:ext>
                  </a:extLst>
                </a:gridCol>
                <a:gridCol w="1367155">
                  <a:extLst>
                    <a:ext uri="{9D8B030D-6E8A-4147-A177-3AD203B41FA5}">
                      <a16:colId xmlns:a16="http://schemas.microsoft.com/office/drawing/2014/main" val="20001"/>
                    </a:ext>
                  </a:extLst>
                </a:gridCol>
              </a:tblGrid>
              <a:tr h="622300">
                <a:tc>
                  <a:txBody>
                    <a:bodyPr/>
                    <a:lstStyle/>
                    <a:p>
                      <a:pPr algn="ctr">
                        <a:lnSpc>
                          <a:spcPct val="100000"/>
                        </a:lnSpc>
                        <a:spcBef>
                          <a:spcPts val="200"/>
                        </a:spcBef>
                      </a:pPr>
                      <a:r>
                        <a:rPr sz="900" b="1" spc="145" dirty="0">
                          <a:latin typeface="Calibri"/>
                          <a:cs typeface="Calibri"/>
                        </a:rPr>
                        <a:t>Long</a:t>
                      </a:r>
                      <a:r>
                        <a:rPr sz="900" b="1" spc="45" dirty="0">
                          <a:latin typeface="Calibri"/>
                          <a:cs typeface="Calibri"/>
                        </a:rPr>
                        <a:t> </a:t>
                      </a:r>
                      <a:r>
                        <a:rPr sz="900" b="1" spc="70" dirty="0">
                          <a:latin typeface="Calibri"/>
                          <a:cs typeface="Calibri"/>
                        </a:rPr>
                        <a:t>-</a:t>
                      </a:r>
                      <a:r>
                        <a:rPr sz="900" b="1" spc="50" dirty="0">
                          <a:latin typeface="Calibri"/>
                          <a:cs typeface="Calibri"/>
                        </a:rPr>
                        <a:t> </a:t>
                      </a:r>
                      <a:r>
                        <a:rPr sz="900" b="1" spc="110" dirty="0">
                          <a:latin typeface="Calibri"/>
                          <a:cs typeface="Calibri"/>
                        </a:rPr>
                        <a:t>term</a:t>
                      </a:r>
                      <a:r>
                        <a:rPr sz="900" b="1" spc="50" dirty="0">
                          <a:latin typeface="Calibri"/>
                          <a:cs typeface="Calibri"/>
                        </a:rPr>
                        <a:t> </a:t>
                      </a:r>
                      <a:r>
                        <a:rPr sz="900" b="1" spc="90" dirty="0">
                          <a:latin typeface="Calibri"/>
                          <a:cs typeface="Calibri"/>
                        </a:rPr>
                        <a:t>goal</a:t>
                      </a:r>
                      <a:endParaRPr sz="900">
                        <a:latin typeface="Calibri"/>
                        <a:cs typeface="Calibri"/>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36550">
                        <a:lnSpc>
                          <a:spcPct val="100000"/>
                        </a:lnSpc>
                        <a:spcBef>
                          <a:spcPts val="200"/>
                        </a:spcBef>
                      </a:pPr>
                      <a:r>
                        <a:rPr sz="900" b="1" spc="105" dirty="0">
                          <a:latin typeface="Calibri"/>
                          <a:cs typeface="Calibri"/>
                        </a:rPr>
                        <a:t>Target</a:t>
                      </a:r>
                      <a:r>
                        <a:rPr sz="900" b="1" spc="45" dirty="0">
                          <a:latin typeface="Calibri"/>
                          <a:cs typeface="Calibri"/>
                        </a:rPr>
                        <a:t> </a:t>
                      </a:r>
                      <a:r>
                        <a:rPr sz="900" b="1" spc="85" dirty="0">
                          <a:latin typeface="Calibri"/>
                          <a:cs typeface="Calibri"/>
                        </a:rPr>
                        <a:t>date</a:t>
                      </a:r>
                      <a:endParaRPr sz="900">
                        <a:latin typeface="Calibri"/>
                        <a:cs typeface="Calibri"/>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854710">
                <a:tc>
                  <a:txBody>
                    <a:bodyPr/>
                    <a:lstStyle/>
                    <a:p>
                      <a:pPr>
                        <a:lnSpc>
                          <a:spcPct val="100000"/>
                        </a:lnSpc>
                      </a:pP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bl>
          </a:graphicData>
        </a:graphic>
      </p:graphicFrame>
      <p:sp>
        <p:nvSpPr>
          <p:cNvPr id="8" name="object 8"/>
          <p:cNvSpPr txBox="1"/>
          <p:nvPr/>
        </p:nvSpPr>
        <p:spPr>
          <a:xfrm>
            <a:off x="2281058" y="496712"/>
            <a:ext cx="2310765" cy="574040"/>
          </a:xfrm>
          <a:prstGeom prst="rect">
            <a:avLst/>
          </a:prstGeom>
        </p:spPr>
        <p:txBody>
          <a:bodyPr vert="horz" wrap="square" lIns="0" tIns="12700" rIns="0" bIns="0" rtlCol="0">
            <a:spAutoFit/>
          </a:bodyPr>
          <a:lstStyle/>
          <a:p>
            <a:pPr marL="188595" marR="5080" indent="-176530">
              <a:lnSpc>
                <a:spcPct val="100000"/>
              </a:lnSpc>
              <a:spcBef>
                <a:spcPts val="100"/>
              </a:spcBef>
            </a:pPr>
            <a:r>
              <a:rPr sz="1800" spc="229" dirty="0">
                <a:latin typeface="Calibri"/>
                <a:cs typeface="Calibri"/>
              </a:rPr>
              <a:t>IDENTIFY</a:t>
            </a:r>
            <a:r>
              <a:rPr sz="1800" spc="60" dirty="0">
                <a:latin typeface="Calibri"/>
                <a:cs typeface="Calibri"/>
              </a:rPr>
              <a:t> </a:t>
            </a:r>
            <a:r>
              <a:rPr sz="1800" spc="235" dirty="0">
                <a:latin typeface="Calibri"/>
                <a:cs typeface="Calibri"/>
              </a:rPr>
              <a:t>SUITABLE </a:t>
            </a:r>
            <a:r>
              <a:rPr sz="1800" spc="240" dirty="0">
                <a:latin typeface="Calibri"/>
                <a:cs typeface="Calibri"/>
              </a:rPr>
              <a:t>OPPORTUNITIES</a:t>
            </a:r>
            <a:endParaRPr sz="1800">
              <a:latin typeface="Calibri"/>
              <a:cs typeface="Calibri"/>
            </a:endParaRPr>
          </a:p>
        </p:txBody>
      </p:sp>
      <p:sp>
        <p:nvSpPr>
          <p:cNvPr id="11" name="TextBox 10">
            <a:extLst>
              <a:ext uri="{FF2B5EF4-FFF2-40B4-BE49-F238E27FC236}">
                <a16:creationId xmlns:a16="http://schemas.microsoft.com/office/drawing/2014/main" id="{05D63C66-4EBB-0A73-A4F0-027EFCC60FD9}"/>
              </a:ext>
            </a:extLst>
          </p:cNvPr>
          <p:cNvSpPr txBox="1"/>
          <p:nvPr/>
        </p:nvSpPr>
        <p:spPr>
          <a:xfrm>
            <a:off x="3619502" y="2867250"/>
            <a:ext cx="2642987" cy="369332"/>
          </a:xfrm>
          <a:prstGeom prst="rect">
            <a:avLst/>
          </a:prstGeom>
          <a:noFill/>
          <a:ln>
            <a:solidFill>
              <a:schemeClr val="tx1"/>
            </a:solidFill>
          </a:ln>
        </p:spPr>
        <p:txBody>
          <a:bodyPr wrap="square" rtlCol="0">
            <a:spAutoFit/>
          </a:bodyPr>
          <a:lstStyle/>
          <a:p>
            <a:r>
              <a:rPr lang="en-GB"/>
              <a:t>reliability</a:t>
            </a:r>
            <a:endParaRPr lang="en-GB" dirty="0"/>
          </a:p>
        </p:txBody>
      </p:sp>
      <p:sp>
        <p:nvSpPr>
          <p:cNvPr id="12" name="TextBox 11">
            <a:extLst>
              <a:ext uri="{FF2B5EF4-FFF2-40B4-BE49-F238E27FC236}">
                <a16:creationId xmlns:a16="http://schemas.microsoft.com/office/drawing/2014/main" id="{19EF7118-BB68-EC39-EB48-A05F2BC67631}"/>
              </a:ext>
            </a:extLst>
          </p:cNvPr>
          <p:cNvSpPr txBox="1"/>
          <p:nvPr/>
        </p:nvSpPr>
        <p:spPr>
          <a:xfrm>
            <a:off x="3619502" y="3514773"/>
            <a:ext cx="2642987" cy="369332"/>
          </a:xfrm>
          <a:prstGeom prst="rect">
            <a:avLst/>
          </a:prstGeom>
          <a:noFill/>
          <a:ln>
            <a:solidFill>
              <a:schemeClr val="tx1"/>
            </a:solidFill>
          </a:ln>
        </p:spPr>
        <p:txBody>
          <a:bodyPr wrap="square" rtlCol="0">
            <a:spAutoFit/>
          </a:bodyPr>
          <a:lstStyle/>
          <a:p>
            <a:r>
              <a:rPr lang="en-GB" dirty="0"/>
              <a:t>adaptability</a:t>
            </a:r>
          </a:p>
        </p:txBody>
      </p:sp>
      <p:sp>
        <p:nvSpPr>
          <p:cNvPr id="13" name="TextBox 12">
            <a:extLst>
              <a:ext uri="{FF2B5EF4-FFF2-40B4-BE49-F238E27FC236}">
                <a16:creationId xmlns:a16="http://schemas.microsoft.com/office/drawing/2014/main" id="{F47FD9D7-6051-9C5B-3125-4AB0D266BE49}"/>
              </a:ext>
            </a:extLst>
          </p:cNvPr>
          <p:cNvSpPr txBox="1"/>
          <p:nvPr/>
        </p:nvSpPr>
        <p:spPr>
          <a:xfrm>
            <a:off x="3634119" y="4099610"/>
            <a:ext cx="2642987" cy="369332"/>
          </a:xfrm>
          <a:prstGeom prst="rect">
            <a:avLst/>
          </a:prstGeom>
          <a:noFill/>
          <a:ln>
            <a:solidFill>
              <a:schemeClr val="tx1"/>
            </a:solidFill>
          </a:ln>
        </p:spPr>
        <p:txBody>
          <a:bodyPr wrap="square" rtlCol="0">
            <a:spAutoFit/>
          </a:bodyPr>
          <a:lstStyle/>
          <a:p>
            <a:r>
              <a:rPr lang="en-GB" dirty="0"/>
              <a:t>curiosity</a:t>
            </a:r>
          </a:p>
        </p:txBody>
      </p:sp>
      <p:sp>
        <p:nvSpPr>
          <p:cNvPr id="14" name="TextBox 13">
            <a:extLst>
              <a:ext uri="{FF2B5EF4-FFF2-40B4-BE49-F238E27FC236}">
                <a16:creationId xmlns:a16="http://schemas.microsoft.com/office/drawing/2014/main" id="{2CB7FFF6-D35A-921C-D5FF-BDD8134485AE}"/>
              </a:ext>
            </a:extLst>
          </p:cNvPr>
          <p:cNvSpPr txBox="1"/>
          <p:nvPr/>
        </p:nvSpPr>
        <p:spPr>
          <a:xfrm>
            <a:off x="610343" y="2899157"/>
            <a:ext cx="2642987" cy="369332"/>
          </a:xfrm>
          <a:prstGeom prst="rect">
            <a:avLst/>
          </a:prstGeom>
          <a:noFill/>
          <a:ln>
            <a:solidFill>
              <a:schemeClr val="tx1"/>
            </a:solidFill>
          </a:ln>
        </p:spPr>
        <p:txBody>
          <a:bodyPr wrap="square" rtlCol="0">
            <a:spAutoFit/>
          </a:bodyPr>
          <a:lstStyle/>
          <a:p>
            <a:r>
              <a:rPr lang="en-GB" dirty="0"/>
              <a:t>problem-solving.</a:t>
            </a:r>
          </a:p>
        </p:txBody>
      </p:sp>
      <p:sp>
        <p:nvSpPr>
          <p:cNvPr id="15" name="TextBox 14">
            <a:extLst>
              <a:ext uri="{FF2B5EF4-FFF2-40B4-BE49-F238E27FC236}">
                <a16:creationId xmlns:a16="http://schemas.microsoft.com/office/drawing/2014/main" id="{20D19C68-3EDF-AD8C-070E-4E1CABAA1976}"/>
              </a:ext>
            </a:extLst>
          </p:cNvPr>
          <p:cNvSpPr txBox="1"/>
          <p:nvPr/>
        </p:nvSpPr>
        <p:spPr>
          <a:xfrm>
            <a:off x="610343" y="3546680"/>
            <a:ext cx="2642987" cy="369332"/>
          </a:xfrm>
          <a:prstGeom prst="rect">
            <a:avLst/>
          </a:prstGeom>
          <a:noFill/>
          <a:ln>
            <a:solidFill>
              <a:schemeClr val="tx1"/>
            </a:solidFill>
          </a:ln>
        </p:spPr>
        <p:txBody>
          <a:bodyPr wrap="square" rtlCol="0">
            <a:spAutoFit/>
          </a:bodyPr>
          <a:lstStyle/>
          <a:p>
            <a:r>
              <a:rPr lang="en-GB" dirty="0"/>
              <a:t>analytical thinking.</a:t>
            </a:r>
          </a:p>
        </p:txBody>
      </p:sp>
      <p:sp>
        <p:nvSpPr>
          <p:cNvPr id="16" name="TextBox 15">
            <a:extLst>
              <a:ext uri="{FF2B5EF4-FFF2-40B4-BE49-F238E27FC236}">
                <a16:creationId xmlns:a16="http://schemas.microsoft.com/office/drawing/2014/main" id="{3F3DB55D-1391-ACB7-A0BB-6D6857F149E9}"/>
              </a:ext>
            </a:extLst>
          </p:cNvPr>
          <p:cNvSpPr txBox="1"/>
          <p:nvPr/>
        </p:nvSpPr>
        <p:spPr>
          <a:xfrm>
            <a:off x="624960" y="4131517"/>
            <a:ext cx="2642987" cy="369332"/>
          </a:xfrm>
          <a:prstGeom prst="rect">
            <a:avLst/>
          </a:prstGeom>
          <a:noFill/>
          <a:ln>
            <a:solidFill>
              <a:schemeClr val="tx1"/>
            </a:solidFill>
          </a:ln>
        </p:spPr>
        <p:txBody>
          <a:bodyPr wrap="square" rtlCol="0">
            <a:spAutoFit/>
          </a:bodyPr>
          <a:lstStyle/>
          <a:p>
            <a:r>
              <a:rPr lang="en-GB" dirty="0"/>
              <a:t>Communication.</a:t>
            </a:r>
          </a:p>
        </p:txBody>
      </p:sp>
      <p:sp>
        <p:nvSpPr>
          <p:cNvPr id="17" name="TextBox 16">
            <a:extLst>
              <a:ext uri="{FF2B5EF4-FFF2-40B4-BE49-F238E27FC236}">
                <a16:creationId xmlns:a16="http://schemas.microsoft.com/office/drawing/2014/main" id="{1C6A5B99-521E-B97A-2A56-84DC15B05D95}"/>
              </a:ext>
            </a:extLst>
          </p:cNvPr>
          <p:cNvSpPr txBox="1"/>
          <p:nvPr/>
        </p:nvSpPr>
        <p:spPr>
          <a:xfrm>
            <a:off x="466976" y="6140366"/>
            <a:ext cx="4333623" cy="461665"/>
          </a:xfrm>
          <a:prstGeom prst="rect">
            <a:avLst/>
          </a:prstGeom>
          <a:noFill/>
          <a:ln>
            <a:solidFill>
              <a:schemeClr val="tx1"/>
            </a:solidFill>
          </a:ln>
        </p:spPr>
        <p:txBody>
          <a:bodyPr wrap="square" rtlCol="0">
            <a:spAutoFit/>
          </a:bodyPr>
          <a:lstStyle/>
          <a:p>
            <a:r>
              <a:rPr lang="en-GB" sz="1200" dirty="0"/>
              <a:t>entry-level role such as Junior Data Analyst, Junior Data Scientist, or Predictive Analyst</a:t>
            </a:r>
          </a:p>
        </p:txBody>
      </p:sp>
      <p:sp>
        <p:nvSpPr>
          <p:cNvPr id="18" name="TextBox 17">
            <a:extLst>
              <a:ext uri="{FF2B5EF4-FFF2-40B4-BE49-F238E27FC236}">
                <a16:creationId xmlns:a16="http://schemas.microsoft.com/office/drawing/2014/main" id="{1E682D96-7C60-0580-EA21-0F3274FAAB12}"/>
              </a:ext>
            </a:extLst>
          </p:cNvPr>
          <p:cNvSpPr txBox="1"/>
          <p:nvPr/>
        </p:nvSpPr>
        <p:spPr>
          <a:xfrm>
            <a:off x="557986" y="7992156"/>
            <a:ext cx="4333623" cy="738664"/>
          </a:xfrm>
          <a:prstGeom prst="rect">
            <a:avLst/>
          </a:prstGeom>
          <a:noFill/>
          <a:ln>
            <a:solidFill>
              <a:schemeClr val="tx1"/>
            </a:solidFill>
          </a:ln>
        </p:spPr>
        <p:txBody>
          <a:bodyPr wrap="square" rtlCol="0">
            <a:spAutoFit/>
          </a:bodyPr>
          <a:lstStyle/>
          <a:p>
            <a:r>
              <a:rPr lang="en-GB" sz="1400" dirty="0"/>
              <a:t>Data Scientist specialising in Machine Learning, Machine Learning Specialist, or Predictive Modelling Specialist </a:t>
            </a:r>
          </a:p>
        </p:txBody>
      </p:sp>
      <p:sp>
        <p:nvSpPr>
          <p:cNvPr id="19" name="TextBox 18">
            <a:extLst>
              <a:ext uri="{FF2B5EF4-FFF2-40B4-BE49-F238E27FC236}">
                <a16:creationId xmlns:a16="http://schemas.microsoft.com/office/drawing/2014/main" id="{B702697D-D043-E4F1-AD22-A2F0C760913C}"/>
              </a:ext>
            </a:extLst>
          </p:cNvPr>
          <p:cNvSpPr txBox="1"/>
          <p:nvPr/>
        </p:nvSpPr>
        <p:spPr>
          <a:xfrm>
            <a:off x="5059872" y="6200256"/>
            <a:ext cx="1048840" cy="523220"/>
          </a:xfrm>
          <a:prstGeom prst="rect">
            <a:avLst/>
          </a:prstGeom>
          <a:noFill/>
          <a:ln>
            <a:solidFill>
              <a:schemeClr val="tx1"/>
            </a:solidFill>
          </a:ln>
        </p:spPr>
        <p:txBody>
          <a:bodyPr wrap="square" rtlCol="0">
            <a:spAutoFit/>
          </a:bodyPr>
          <a:lstStyle/>
          <a:p>
            <a:r>
              <a:rPr lang="en-GB" sz="1400" dirty="0"/>
              <a:t>6 to 12 months</a:t>
            </a:r>
          </a:p>
        </p:txBody>
      </p:sp>
      <p:sp>
        <p:nvSpPr>
          <p:cNvPr id="20" name="TextBox 19">
            <a:extLst>
              <a:ext uri="{FF2B5EF4-FFF2-40B4-BE49-F238E27FC236}">
                <a16:creationId xmlns:a16="http://schemas.microsoft.com/office/drawing/2014/main" id="{43FD0727-4130-9451-687A-304FAEB94CE4}"/>
              </a:ext>
            </a:extLst>
          </p:cNvPr>
          <p:cNvSpPr txBox="1"/>
          <p:nvPr/>
        </p:nvSpPr>
        <p:spPr>
          <a:xfrm>
            <a:off x="5112068" y="8067922"/>
            <a:ext cx="1048840" cy="523220"/>
          </a:xfrm>
          <a:prstGeom prst="rect">
            <a:avLst/>
          </a:prstGeom>
          <a:noFill/>
          <a:ln>
            <a:solidFill>
              <a:schemeClr val="tx1"/>
            </a:solidFill>
          </a:ln>
        </p:spPr>
        <p:txBody>
          <a:bodyPr wrap="square" rtlCol="0">
            <a:spAutoFit/>
          </a:bodyPr>
          <a:lstStyle/>
          <a:p>
            <a:r>
              <a:rPr lang="en-GB" sz="1400" dirty="0"/>
              <a:t>3 to 5 years.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41847" y="394716"/>
            <a:ext cx="890015" cy="536447"/>
          </a:xfrm>
          <a:prstGeom prst="rect">
            <a:avLst/>
          </a:prstGeom>
        </p:spPr>
      </p:pic>
      <p:sp>
        <p:nvSpPr>
          <p:cNvPr id="3" name="object 3"/>
          <p:cNvSpPr txBox="1"/>
          <p:nvPr/>
        </p:nvSpPr>
        <p:spPr>
          <a:xfrm>
            <a:off x="443539" y="1362338"/>
            <a:ext cx="4124960" cy="177800"/>
          </a:xfrm>
          <a:prstGeom prst="rect">
            <a:avLst/>
          </a:prstGeom>
        </p:spPr>
        <p:txBody>
          <a:bodyPr vert="horz" wrap="square" lIns="0" tIns="12065" rIns="0" bIns="0" rtlCol="0">
            <a:spAutoFit/>
          </a:bodyPr>
          <a:lstStyle/>
          <a:p>
            <a:pPr marL="12700">
              <a:lnSpc>
                <a:spcPct val="100000"/>
              </a:lnSpc>
              <a:spcBef>
                <a:spcPts val="95"/>
              </a:spcBef>
            </a:pPr>
            <a:r>
              <a:rPr sz="1000" b="1" spc="100" dirty="0">
                <a:latin typeface="Calibri"/>
                <a:cs typeface="Calibri"/>
              </a:rPr>
              <a:t>Q6)</a:t>
            </a:r>
            <a:r>
              <a:rPr sz="1000" b="1" spc="125" dirty="0">
                <a:latin typeface="Calibri"/>
                <a:cs typeface="Calibri"/>
              </a:rPr>
              <a:t> </a:t>
            </a:r>
            <a:r>
              <a:rPr sz="1000" b="1" dirty="0">
                <a:latin typeface="Calibri"/>
                <a:cs typeface="Calibri"/>
              </a:rPr>
              <a:t>2.3</a:t>
            </a:r>
            <a:r>
              <a:rPr sz="1000" b="1" spc="110" dirty="0">
                <a:latin typeface="Calibri"/>
                <a:cs typeface="Calibri"/>
              </a:rPr>
              <a:t> </a:t>
            </a:r>
            <a:r>
              <a:rPr sz="1000" b="1" spc="105" dirty="0">
                <a:latin typeface="Calibri"/>
                <a:cs typeface="Calibri"/>
              </a:rPr>
              <a:t>List</a:t>
            </a:r>
            <a:r>
              <a:rPr sz="1000" b="1" spc="110" dirty="0">
                <a:latin typeface="Calibri"/>
                <a:cs typeface="Calibri"/>
              </a:rPr>
              <a:t> </a:t>
            </a:r>
            <a:r>
              <a:rPr sz="1000" dirty="0">
                <a:latin typeface="Century Gothic"/>
                <a:cs typeface="Century Gothic"/>
              </a:rPr>
              <a:t>ways</a:t>
            </a:r>
            <a:r>
              <a:rPr sz="1000" spc="20" dirty="0">
                <a:latin typeface="Century Gothic"/>
                <a:cs typeface="Century Gothic"/>
              </a:rPr>
              <a:t> </a:t>
            </a:r>
            <a:r>
              <a:rPr sz="1000" dirty="0">
                <a:latin typeface="Century Gothic"/>
                <a:cs typeface="Century Gothic"/>
              </a:rPr>
              <a:t>to</a:t>
            </a:r>
            <a:r>
              <a:rPr sz="1000" spc="15" dirty="0">
                <a:latin typeface="Century Gothic"/>
                <a:cs typeface="Century Gothic"/>
              </a:rPr>
              <a:t> </a:t>
            </a:r>
            <a:r>
              <a:rPr sz="1000" spc="-25" dirty="0">
                <a:latin typeface="Century Gothic"/>
                <a:cs typeface="Century Gothic"/>
              </a:rPr>
              <a:t>achieve</a:t>
            </a:r>
            <a:r>
              <a:rPr sz="1000" spc="40" dirty="0">
                <a:latin typeface="Century Gothic"/>
                <a:cs typeface="Century Gothic"/>
              </a:rPr>
              <a:t> </a:t>
            </a:r>
            <a:r>
              <a:rPr sz="1000" dirty="0">
                <a:latin typeface="Century Gothic"/>
                <a:cs typeface="Century Gothic"/>
              </a:rPr>
              <a:t>identified</a:t>
            </a:r>
            <a:r>
              <a:rPr sz="1000" spc="65" dirty="0">
                <a:latin typeface="Century Gothic"/>
                <a:cs typeface="Century Gothic"/>
              </a:rPr>
              <a:t> </a:t>
            </a:r>
            <a:r>
              <a:rPr sz="1000" dirty="0">
                <a:latin typeface="Century Gothic"/>
                <a:cs typeface="Century Gothic"/>
              </a:rPr>
              <a:t>long</a:t>
            </a:r>
            <a:r>
              <a:rPr sz="1000" spc="40" dirty="0">
                <a:latin typeface="Century Gothic"/>
                <a:cs typeface="Century Gothic"/>
              </a:rPr>
              <a:t> </a:t>
            </a:r>
            <a:r>
              <a:rPr sz="1000" spc="-10" dirty="0">
                <a:latin typeface="Century Gothic"/>
                <a:cs typeface="Century Gothic"/>
              </a:rPr>
              <a:t>and</a:t>
            </a:r>
            <a:r>
              <a:rPr sz="1000" spc="45" dirty="0">
                <a:latin typeface="Century Gothic"/>
                <a:cs typeface="Century Gothic"/>
              </a:rPr>
              <a:t> </a:t>
            </a:r>
            <a:r>
              <a:rPr sz="1000" spc="50" dirty="0">
                <a:latin typeface="Century Gothic"/>
                <a:cs typeface="Century Gothic"/>
              </a:rPr>
              <a:t>short-term</a:t>
            </a:r>
            <a:r>
              <a:rPr sz="1000" spc="30" dirty="0">
                <a:latin typeface="Century Gothic"/>
                <a:cs typeface="Century Gothic"/>
              </a:rPr>
              <a:t> </a:t>
            </a:r>
            <a:r>
              <a:rPr sz="1000" spc="-10" dirty="0">
                <a:latin typeface="Century Gothic"/>
                <a:cs typeface="Century Gothic"/>
              </a:rPr>
              <a:t>goals</a:t>
            </a:r>
            <a:endParaRPr sz="1000">
              <a:latin typeface="Century Gothic"/>
              <a:cs typeface="Century Gothic"/>
            </a:endParaRPr>
          </a:p>
        </p:txBody>
      </p:sp>
      <p:graphicFrame>
        <p:nvGraphicFramePr>
          <p:cNvPr id="4" name="object 4"/>
          <p:cNvGraphicFramePr>
            <a:graphicFrameLocks noGrp="1"/>
          </p:cNvGraphicFramePr>
          <p:nvPr>
            <p:extLst>
              <p:ext uri="{D42A27DB-BD31-4B8C-83A1-F6EECF244321}">
                <p14:modId xmlns:p14="http://schemas.microsoft.com/office/powerpoint/2010/main" val="4249732966"/>
              </p:ext>
            </p:extLst>
          </p:nvPr>
        </p:nvGraphicFramePr>
        <p:xfrm>
          <a:off x="428553" y="1688155"/>
          <a:ext cx="5915024" cy="2345054"/>
        </p:xfrm>
        <a:graphic>
          <a:graphicData uri="http://schemas.openxmlformats.org/drawingml/2006/table">
            <a:tbl>
              <a:tblPr firstRow="1" bandRow="1">
                <a:tableStyleId>{2D5ABB26-0587-4C30-8999-92F81FD0307C}</a:tableStyleId>
              </a:tblPr>
              <a:tblGrid>
                <a:gridCol w="2021205">
                  <a:extLst>
                    <a:ext uri="{9D8B030D-6E8A-4147-A177-3AD203B41FA5}">
                      <a16:colId xmlns:a16="http://schemas.microsoft.com/office/drawing/2014/main" val="20000"/>
                    </a:ext>
                  </a:extLst>
                </a:gridCol>
                <a:gridCol w="1080134">
                  <a:extLst>
                    <a:ext uri="{9D8B030D-6E8A-4147-A177-3AD203B41FA5}">
                      <a16:colId xmlns:a16="http://schemas.microsoft.com/office/drawing/2014/main" val="20001"/>
                    </a:ext>
                  </a:extLst>
                </a:gridCol>
                <a:gridCol w="1800225">
                  <a:extLst>
                    <a:ext uri="{9D8B030D-6E8A-4147-A177-3AD203B41FA5}">
                      <a16:colId xmlns:a16="http://schemas.microsoft.com/office/drawing/2014/main" val="20002"/>
                    </a:ext>
                  </a:extLst>
                </a:gridCol>
                <a:gridCol w="1013460">
                  <a:extLst>
                    <a:ext uri="{9D8B030D-6E8A-4147-A177-3AD203B41FA5}">
                      <a16:colId xmlns:a16="http://schemas.microsoft.com/office/drawing/2014/main" val="20003"/>
                    </a:ext>
                  </a:extLst>
                </a:gridCol>
              </a:tblGrid>
              <a:tr h="422909">
                <a:tc>
                  <a:txBody>
                    <a:bodyPr/>
                    <a:lstStyle/>
                    <a:p>
                      <a:pPr algn="ctr">
                        <a:lnSpc>
                          <a:spcPct val="100000"/>
                        </a:lnSpc>
                        <a:spcBef>
                          <a:spcPts val="200"/>
                        </a:spcBef>
                      </a:pPr>
                      <a:r>
                        <a:rPr sz="1200" dirty="0"/>
                        <a:t>Short-term</a:t>
                      </a:r>
                      <a:endParaRPr sz="1200"/>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6050">
                        <a:lnSpc>
                          <a:spcPct val="100000"/>
                        </a:lnSpc>
                        <a:spcBef>
                          <a:spcPts val="195"/>
                        </a:spcBef>
                      </a:pPr>
                      <a:r>
                        <a:rPr sz="1200" dirty="0"/>
                        <a:t>Target Date</a:t>
                      </a:r>
                      <a:endParaRPr sz="1200"/>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81025">
                        <a:lnSpc>
                          <a:spcPct val="100000"/>
                        </a:lnSpc>
                        <a:spcBef>
                          <a:spcPts val="200"/>
                        </a:spcBef>
                      </a:pPr>
                      <a:r>
                        <a:rPr sz="1200" dirty="0"/>
                        <a:t>Long-term</a:t>
                      </a:r>
                      <a:endParaRPr sz="1200"/>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2395">
                        <a:lnSpc>
                          <a:spcPct val="100000"/>
                        </a:lnSpc>
                        <a:spcBef>
                          <a:spcPts val="195"/>
                        </a:spcBef>
                      </a:pPr>
                      <a:r>
                        <a:rPr sz="1200" dirty="0"/>
                        <a:t>Target Date</a:t>
                      </a:r>
                      <a:endParaRPr sz="1200"/>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640715">
                <a:tc>
                  <a:txBody>
                    <a:bodyPr/>
                    <a:lstStyle/>
                    <a:p>
                      <a:pPr marL="62230">
                        <a:lnSpc>
                          <a:spcPct val="100000"/>
                        </a:lnSpc>
                        <a:spcBef>
                          <a:spcPts val="200"/>
                        </a:spcBef>
                      </a:pPr>
                      <a:r>
                        <a:rPr sz="1200" dirty="0"/>
                        <a:t>1)</a:t>
                      </a:r>
                      <a:endParaRPr sz="1200"/>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200"/>
                        </a:spcBef>
                      </a:pPr>
                      <a:r>
                        <a:rPr sz="1200" dirty="0"/>
                        <a:t>1)</a:t>
                      </a:r>
                      <a:endParaRPr sz="1200"/>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640715">
                <a:tc>
                  <a:txBody>
                    <a:bodyPr/>
                    <a:lstStyle/>
                    <a:p>
                      <a:pPr marL="62230">
                        <a:lnSpc>
                          <a:spcPct val="100000"/>
                        </a:lnSpc>
                        <a:spcBef>
                          <a:spcPts val="200"/>
                        </a:spcBef>
                      </a:pPr>
                      <a:r>
                        <a:rPr sz="1200" dirty="0"/>
                        <a:t>2)</a:t>
                      </a:r>
                      <a:endParaRPr sz="1200"/>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200"/>
                        </a:spcBef>
                      </a:pPr>
                      <a:r>
                        <a:rPr sz="1200" dirty="0"/>
                        <a:t>2)</a:t>
                      </a:r>
                      <a:endParaRPr sz="1200"/>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640715">
                <a:tc>
                  <a:txBody>
                    <a:bodyPr/>
                    <a:lstStyle/>
                    <a:p>
                      <a:pPr marL="62230">
                        <a:lnSpc>
                          <a:spcPct val="100000"/>
                        </a:lnSpc>
                        <a:spcBef>
                          <a:spcPts val="200"/>
                        </a:spcBef>
                      </a:pPr>
                      <a:r>
                        <a:rPr sz="1200" dirty="0"/>
                        <a:t>3)</a:t>
                      </a:r>
                      <a:endParaRPr sz="1200"/>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200"/>
                        </a:spcBef>
                      </a:pPr>
                      <a:r>
                        <a:rPr sz="1200" dirty="0"/>
                        <a:t>3)</a:t>
                      </a:r>
                      <a:endParaRPr sz="1200"/>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dirty="0"/>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5" name="object 5"/>
          <p:cNvSpPr txBox="1"/>
          <p:nvPr/>
        </p:nvSpPr>
        <p:spPr>
          <a:xfrm>
            <a:off x="339388" y="4259844"/>
            <a:ext cx="4331335" cy="177800"/>
          </a:xfrm>
          <a:prstGeom prst="rect">
            <a:avLst/>
          </a:prstGeom>
        </p:spPr>
        <p:txBody>
          <a:bodyPr vert="horz" wrap="square" lIns="0" tIns="12065" rIns="0" bIns="0" rtlCol="0">
            <a:spAutoFit/>
          </a:bodyPr>
          <a:lstStyle/>
          <a:p>
            <a:pPr marL="12700">
              <a:lnSpc>
                <a:spcPct val="100000"/>
              </a:lnSpc>
              <a:spcBef>
                <a:spcPts val="95"/>
              </a:spcBef>
            </a:pPr>
            <a:r>
              <a:rPr sz="1000" b="1" spc="90" dirty="0">
                <a:latin typeface="Calibri"/>
                <a:cs typeface="Calibri"/>
              </a:rPr>
              <a:t>Q7)</a:t>
            </a:r>
            <a:r>
              <a:rPr sz="1000" b="1" spc="114" dirty="0">
                <a:latin typeface="Calibri"/>
                <a:cs typeface="Calibri"/>
              </a:rPr>
              <a:t> </a:t>
            </a:r>
            <a:r>
              <a:rPr sz="1000" b="1" spc="75" dirty="0">
                <a:latin typeface="Calibri"/>
                <a:cs typeface="Calibri"/>
              </a:rPr>
              <a:t>2.4</a:t>
            </a:r>
            <a:r>
              <a:rPr sz="1000" b="1" spc="85" dirty="0">
                <a:latin typeface="Calibri"/>
                <a:cs typeface="Calibri"/>
              </a:rPr>
              <a:t> </a:t>
            </a:r>
            <a:r>
              <a:rPr sz="1000" b="1" spc="114" dirty="0">
                <a:latin typeface="Calibri"/>
                <a:cs typeface="Calibri"/>
              </a:rPr>
              <a:t>Explain</a:t>
            </a:r>
            <a:r>
              <a:rPr sz="1000" b="1" spc="110" dirty="0">
                <a:latin typeface="Calibri"/>
                <a:cs typeface="Calibri"/>
              </a:rPr>
              <a:t> </a:t>
            </a:r>
            <a:r>
              <a:rPr sz="1000" dirty="0">
                <a:latin typeface="Century Gothic"/>
                <a:cs typeface="Century Gothic"/>
              </a:rPr>
              <a:t>why</a:t>
            </a:r>
            <a:r>
              <a:rPr sz="1000" spc="10" dirty="0">
                <a:latin typeface="Century Gothic"/>
                <a:cs typeface="Century Gothic"/>
              </a:rPr>
              <a:t> </a:t>
            </a:r>
            <a:r>
              <a:rPr sz="1000" dirty="0">
                <a:latin typeface="Century Gothic"/>
                <a:cs typeface="Century Gothic"/>
              </a:rPr>
              <a:t>goals</a:t>
            </a:r>
            <a:r>
              <a:rPr sz="1000" spc="30" dirty="0">
                <a:latin typeface="Century Gothic"/>
                <a:cs typeface="Century Gothic"/>
              </a:rPr>
              <a:t> </a:t>
            </a:r>
            <a:r>
              <a:rPr sz="1000" dirty="0">
                <a:latin typeface="Century Gothic"/>
                <a:cs typeface="Century Gothic"/>
              </a:rPr>
              <a:t>may</a:t>
            </a:r>
            <a:r>
              <a:rPr sz="1000" spc="10" dirty="0">
                <a:latin typeface="Century Gothic"/>
                <a:cs typeface="Century Gothic"/>
              </a:rPr>
              <a:t> </a:t>
            </a:r>
            <a:r>
              <a:rPr sz="1000" dirty="0">
                <a:latin typeface="Century Gothic"/>
                <a:cs typeface="Century Gothic"/>
              </a:rPr>
              <a:t>not </a:t>
            </a:r>
            <a:r>
              <a:rPr sz="1000" spc="-20" dirty="0">
                <a:latin typeface="Century Gothic"/>
                <a:cs typeface="Century Gothic"/>
              </a:rPr>
              <a:t>be</a:t>
            </a:r>
            <a:r>
              <a:rPr sz="1000" spc="10" dirty="0">
                <a:latin typeface="Century Gothic"/>
                <a:cs typeface="Century Gothic"/>
              </a:rPr>
              <a:t> </a:t>
            </a:r>
            <a:r>
              <a:rPr sz="1000" spc="-25" dirty="0">
                <a:latin typeface="Century Gothic"/>
                <a:cs typeface="Century Gothic"/>
              </a:rPr>
              <a:t>reached</a:t>
            </a:r>
            <a:r>
              <a:rPr sz="1000" spc="25" dirty="0">
                <a:latin typeface="Century Gothic"/>
                <a:cs typeface="Century Gothic"/>
              </a:rPr>
              <a:t> </a:t>
            </a:r>
            <a:r>
              <a:rPr sz="1000" spc="55" dirty="0">
                <a:latin typeface="Century Gothic"/>
                <a:cs typeface="Century Gothic"/>
              </a:rPr>
              <a:t>within</a:t>
            </a:r>
            <a:r>
              <a:rPr sz="1000" spc="20" dirty="0">
                <a:latin typeface="Century Gothic"/>
                <a:cs typeface="Century Gothic"/>
              </a:rPr>
              <a:t> </a:t>
            </a:r>
            <a:r>
              <a:rPr sz="1000" dirty="0">
                <a:latin typeface="Century Gothic"/>
                <a:cs typeface="Century Gothic"/>
              </a:rPr>
              <a:t>the</a:t>
            </a:r>
            <a:r>
              <a:rPr sz="1000" spc="15" dirty="0">
                <a:latin typeface="Century Gothic"/>
                <a:cs typeface="Century Gothic"/>
              </a:rPr>
              <a:t> </a:t>
            </a:r>
            <a:r>
              <a:rPr sz="1000" spc="-10" dirty="0">
                <a:latin typeface="Century Gothic"/>
                <a:cs typeface="Century Gothic"/>
              </a:rPr>
              <a:t>timescale</a:t>
            </a:r>
            <a:endParaRPr sz="1000" dirty="0">
              <a:latin typeface="Century Gothic"/>
              <a:cs typeface="Century Gothic"/>
            </a:endParaRPr>
          </a:p>
        </p:txBody>
      </p:sp>
      <p:grpSp>
        <p:nvGrpSpPr>
          <p:cNvPr id="6" name="object 6"/>
          <p:cNvGrpSpPr/>
          <p:nvPr/>
        </p:nvGrpSpPr>
        <p:grpSpPr>
          <a:xfrm>
            <a:off x="455218" y="4544798"/>
            <a:ext cx="5927725" cy="1374775"/>
            <a:chOff x="455218" y="4544798"/>
            <a:chExt cx="5927725" cy="1374775"/>
          </a:xfrm>
        </p:grpSpPr>
        <p:sp>
          <p:nvSpPr>
            <p:cNvPr id="7" name="object 7"/>
            <p:cNvSpPr/>
            <p:nvPr/>
          </p:nvSpPr>
          <p:spPr>
            <a:xfrm>
              <a:off x="461568" y="4544798"/>
              <a:ext cx="0" cy="1374775"/>
            </a:xfrm>
            <a:custGeom>
              <a:avLst/>
              <a:gdLst/>
              <a:ahLst/>
              <a:cxnLst/>
              <a:rect l="l" t="t" r="r" b="b"/>
              <a:pathLst>
                <a:path h="1374775">
                  <a:moveTo>
                    <a:pt x="0" y="0"/>
                  </a:moveTo>
                  <a:lnTo>
                    <a:pt x="0" y="1374394"/>
                  </a:lnTo>
                </a:path>
              </a:pathLst>
            </a:custGeom>
            <a:ln w="12700">
              <a:solidFill>
                <a:srgbClr val="000000"/>
              </a:solidFill>
            </a:ln>
          </p:spPr>
          <p:txBody>
            <a:bodyPr wrap="square" lIns="0" tIns="0" rIns="0" bIns="0" rtlCol="0"/>
            <a:lstStyle/>
            <a:p>
              <a:endParaRPr/>
            </a:p>
          </p:txBody>
        </p:sp>
        <p:sp>
          <p:nvSpPr>
            <p:cNvPr id="8" name="object 8"/>
            <p:cNvSpPr/>
            <p:nvPr/>
          </p:nvSpPr>
          <p:spPr>
            <a:xfrm>
              <a:off x="6376593" y="4544798"/>
              <a:ext cx="0" cy="1374775"/>
            </a:xfrm>
            <a:custGeom>
              <a:avLst/>
              <a:gdLst/>
              <a:ahLst/>
              <a:cxnLst/>
              <a:rect l="l" t="t" r="r" b="b"/>
              <a:pathLst>
                <a:path h="1374775">
                  <a:moveTo>
                    <a:pt x="0" y="0"/>
                  </a:moveTo>
                  <a:lnTo>
                    <a:pt x="0" y="1374394"/>
                  </a:lnTo>
                </a:path>
              </a:pathLst>
            </a:custGeom>
            <a:ln w="12700">
              <a:solidFill>
                <a:srgbClr val="000000"/>
              </a:solidFill>
            </a:ln>
          </p:spPr>
          <p:txBody>
            <a:bodyPr wrap="square" lIns="0" tIns="0" rIns="0" bIns="0" rtlCol="0"/>
            <a:lstStyle/>
            <a:p>
              <a:endParaRPr/>
            </a:p>
          </p:txBody>
        </p:sp>
        <p:sp>
          <p:nvSpPr>
            <p:cNvPr id="9" name="object 9"/>
            <p:cNvSpPr/>
            <p:nvPr/>
          </p:nvSpPr>
          <p:spPr>
            <a:xfrm>
              <a:off x="455218" y="4551148"/>
              <a:ext cx="5927725" cy="0"/>
            </a:xfrm>
            <a:custGeom>
              <a:avLst/>
              <a:gdLst/>
              <a:ahLst/>
              <a:cxnLst/>
              <a:rect l="l" t="t" r="r" b="b"/>
              <a:pathLst>
                <a:path w="5927725">
                  <a:moveTo>
                    <a:pt x="0" y="0"/>
                  </a:moveTo>
                  <a:lnTo>
                    <a:pt x="5927725" y="0"/>
                  </a:lnTo>
                </a:path>
              </a:pathLst>
            </a:custGeom>
            <a:ln w="12700">
              <a:solidFill>
                <a:srgbClr val="000000"/>
              </a:solidFill>
            </a:ln>
          </p:spPr>
          <p:txBody>
            <a:bodyPr wrap="square" lIns="0" tIns="0" rIns="0" bIns="0" rtlCol="0"/>
            <a:lstStyle/>
            <a:p>
              <a:endParaRPr/>
            </a:p>
          </p:txBody>
        </p:sp>
        <p:sp>
          <p:nvSpPr>
            <p:cNvPr id="10" name="object 10"/>
            <p:cNvSpPr/>
            <p:nvPr/>
          </p:nvSpPr>
          <p:spPr>
            <a:xfrm>
              <a:off x="455218" y="5912848"/>
              <a:ext cx="5927725" cy="0"/>
            </a:xfrm>
            <a:custGeom>
              <a:avLst/>
              <a:gdLst/>
              <a:ahLst/>
              <a:cxnLst/>
              <a:rect l="l" t="t" r="r" b="b"/>
              <a:pathLst>
                <a:path w="5927725">
                  <a:moveTo>
                    <a:pt x="0" y="0"/>
                  </a:moveTo>
                  <a:lnTo>
                    <a:pt x="5927725" y="0"/>
                  </a:lnTo>
                </a:path>
              </a:pathLst>
            </a:custGeom>
            <a:ln w="12700">
              <a:solidFill>
                <a:srgbClr val="000000"/>
              </a:solidFill>
            </a:ln>
          </p:spPr>
          <p:txBody>
            <a:bodyPr wrap="square" lIns="0" tIns="0" rIns="0" bIns="0" rtlCol="0"/>
            <a:lstStyle/>
            <a:p>
              <a:endParaRPr/>
            </a:p>
          </p:txBody>
        </p:sp>
      </p:grpSp>
      <p:sp>
        <p:nvSpPr>
          <p:cNvPr id="11" name="object 11"/>
          <p:cNvSpPr txBox="1"/>
          <p:nvPr/>
        </p:nvSpPr>
        <p:spPr>
          <a:xfrm>
            <a:off x="339388" y="6011782"/>
            <a:ext cx="5763895" cy="330200"/>
          </a:xfrm>
          <a:prstGeom prst="rect">
            <a:avLst/>
          </a:prstGeom>
        </p:spPr>
        <p:txBody>
          <a:bodyPr vert="horz" wrap="square" lIns="0" tIns="12065" rIns="0" bIns="0" rtlCol="0">
            <a:spAutoFit/>
          </a:bodyPr>
          <a:lstStyle/>
          <a:p>
            <a:pPr marL="12700">
              <a:lnSpc>
                <a:spcPct val="100000"/>
              </a:lnSpc>
              <a:spcBef>
                <a:spcPts val="95"/>
              </a:spcBef>
            </a:pPr>
            <a:r>
              <a:rPr sz="1000" b="1" spc="105" dirty="0">
                <a:latin typeface="Calibri"/>
                <a:cs typeface="Calibri"/>
              </a:rPr>
              <a:t>Q8)</a:t>
            </a:r>
            <a:r>
              <a:rPr sz="1000" b="1" spc="185" dirty="0">
                <a:latin typeface="Calibri"/>
                <a:cs typeface="Calibri"/>
              </a:rPr>
              <a:t> </a:t>
            </a:r>
            <a:r>
              <a:rPr sz="1000" b="1" dirty="0">
                <a:latin typeface="Calibri"/>
                <a:cs typeface="Calibri"/>
              </a:rPr>
              <a:t>3.1</a:t>
            </a:r>
            <a:r>
              <a:rPr sz="1000" b="1" spc="160" dirty="0">
                <a:latin typeface="Calibri"/>
                <a:cs typeface="Calibri"/>
              </a:rPr>
              <a:t> </a:t>
            </a:r>
            <a:r>
              <a:rPr sz="1000" b="1" spc="125" dirty="0">
                <a:latin typeface="Calibri"/>
                <a:cs typeface="Calibri"/>
              </a:rPr>
              <a:t>Describe</a:t>
            </a:r>
            <a:r>
              <a:rPr sz="1000" b="1" spc="160" dirty="0">
                <a:latin typeface="Calibri"/>
                <a:cs typeface="Calibri"/>
              </a:rPr>
              <a:t> </a:t>
            </a:r>
            <a:r>
              <a:rPr sz="1000" dirty="0">
                <a:latin typeface="Century Gothic"/>
                <a:cs typeface="Century Gothic"/>
              </a:rPr>
              <a:t>three</a:t>
            </a:r>
            <a:r>
              <a:rPr sz="1000" spc="65" dirty="0">
                <a:latin typeface="Century Gothic"/>
                <a:cs typeface="Century Gothic"/>
              </a:rPr>
              <a:t> </a:t>
            </a:r>
            <a:r>
              <a:rPr sz="1000" dirty="0">
                <a:latin typeface="Century Gothic"/>
                <a:cs typeface="Century Gothic"/>
              </a:rPr>
              <a:t>possible</a:t>
            </a:r>
            <a:r>
              <a:rPr sz="1000" spc="110" dirty="0">
                <a:latin typeface="Century Gothic"/>
                <a:cs typeface="Century Gothic"/>
              </a:rPr>
              <a:t> </a:t>
            </a:r>
            <a:r>
              <a:rPr sz="1000" dirty="0">
                <a:latin typeface="Century Gothic"/>
                <a:cs typeface="Century Gothic"/>
              </a:rPr>
              <a:t>sources</a:t>
            </a:r>
            <a:r>
              <a:rPr sz="1000" spc="90" dirty="0">
                <a:latin typeface="Century Gothic"/>
                <a:cs typeface="Century Gothic"/>
              </a:rPr>
              <a:t> </a:t>
            </a:r>
            <a:r>
              <a:rPr sz="1000" dirty="0">
                <a:latin typeface="Century Gothic"/>
                <a:cs typeface="Century Gothic"/>
              </a:rPr>
              <a:t>of</a:t>
            </a:r>
            <a:r>
              <a:rPr sz="1000" spc="85" dirty="0">
                <a:latin typeface="Century Gothic"/>
                <a:cs typeface="Century Gothic"/>
              </a:rPr>
              <a:t> </a:t>
            </a:r>
            <a:r>
              <a:rPr sz="1000" dirty="0">
                <a:latin typeface="Century Gothic"/>
                <a:cs typeface="Century Gothic"/>
              </a:rPr>
              <a:t>identifying</a:t>
            </a:r>
            <a:r>
              <a:rPr sz="1000" spc="130" dirty="0">
                <a:latin typeface="Century Gothic"/>
                <a:cs typeface="Century Gothic"/>
              </a:rPr>
              <a:t> </a:t>
            </a:r>
            <a:r>
              <a:rPr sz="1000" dirty="0">
                <a:latin typeface="Century Gothic"/>
                <a:cs typeface="Century Gothic"/>
              </a:rPr>
              <a:t>opportunities</a:t>
            </a:r>
            <a:r>
              <a:rPr sz="1000" spc="105" dirty="0">
                <a:latin typeface="Century Gothic"/>
                <a:cs typeface="Century Gothic"/>
              </a:rPr>
              <a:t> </a:t>
            </a:r>
            <a:r>
              <a:rPr sz="1000" spc="-20" dirty="0">
                <a:latin typeface="Century Gothic"/>
                <a:cs typeface="Century Gothic"/>
              </a:rPr>
              <a:t>and</a:t>
            </a:r>
            <a:r>
              <a:rPr sz="1000" spc="75" dirty="0">
                <a:latin typeface="Century Gothic"/>
                <a:cs typeface="Century Gothic"/>
              </a:rPr>
              <a:t> </a:t>
            </a:r>
            <a:r>
              <a:rPr sz="1000" dirty="0">
                <a:latin typeface="Century Gothic"/>
                <a:cs typeface="Century Gothic"/>
              </a:rPr>
              <a:t>provide</a:t>
            </a:r>
            <a:r>
              <a:rPr sz="1000" spc="110" dirty="0">
                <a:latin typeface="Century Gothic"/>
                <a:cs typeface="Century Gothic"/>
              </a:rPr>
              <a:t> </a:t>
            </a:r>
            <a:r>
              <a:rPr sz="1000" spc="-10" dirty="0">
                <a:latin typeface="Century Gothic"/>
                <a:cs typeface="Century Gothic"/>
              </a:rPr>
              <a:t>examples.</a:t>
            </a:r>
            <a:endParaRPr sz="1000" dirty="0">
              <a:latin typeface="Century Gothic"/>
              <a:cs typeface="Century Gothic"/>
            </a:endParaRPr>
          </a:p>
          <a:p>
            <a:pPr marL="12700">
              <a:lnSpc>
                <a:spcPct val="100000"/>
              </a:lnSpc>
            </a:pPr>
            <a:r>
              <a:rPr sz="1000" b="1" i="1" spc="95" dirty="0">
                <a:latin typeface="Calibri"/>
                <a:cs typeface="Calibri"/>
              </a:rPr>
              <a:t>(At</a:t>
            </a:r>
            <a:r>
              <a:rPr sz="1000" b="1" i="1" spc="70" dirty="0">
                <a:latin typeface="Calibri"/>
                <a:cs typeface="Calibri"/>
              </a:rPr>
              <a:t> </a:t>
            </a:r>
            <a:r>
              <a:rPr sz="1000" b="1" i="1" spc="105" dirty="0">
                <a:latin typeface="Calibri"/>
                <a:cs typeface="Calibri"/>
              </a:rPr>
              <a:t>least</a:t>
            </a:r>
            <a:r>
              <a:rPr sz="1000" b="1" i="1" spc="80" dirty="0">
                <a:latin typeface="Calibri"/>
                <a:cs typeface="Calibri"/>
              </a:rPr>
              <a:t> </a:t>
            </a:r>
            <a:r>
              <a:rPr sz="1000" b="1" i="1" spc="135" dirty="0">
                <a:latin typeface="Calibri"/>
                <a:cs typeface="Calibri"/>
              </a:rPr>
              <a:t>one</a:t>
            </a:r>
            <a:r>
              <a:rPr sz="1000" b="1" i="1" spc="70" dirty="0">
                <a:latin typeface="Calibri"/>
                <a:cs typeface="Calibri"/>
              </a:rPr>
              <a:t> </a:t>
            </a:r>
            <a:r>
              <a:rPr sz="1000" b="1" i="1" spc="95" dirty="0">
                <a:latin typeface="Calibri"/>
                <a:cs typeface="Calibri"/>
              </a:rPr>
              <a:t>of</a:t>
            </a:r>
            <a:r>
              <a:rPr sz="1000" b="1" i="1" spc="80" dirty="0">
                <a:latin typeface="Calibri"/>
                <a:cs typeface="Calibri"/>
              </a:rPr>
              <a:t> </a:t>
            </a:r>
            <a:r>
              <a:rPr sz="1000" b="1" i="1" spc="125" dirty="0">
                <a:latin typeface="Calibri"/>
                <a:cs typeface="Calibri"/>
              </a:rPr>
              <a:t>these</a:t>
            </a:r>
            <a:r>
              <a:rPr sz="1000" b="1" i="1" spc="70" dirty="0">
                <a:latin typeface="Calibri"/>
                <a:cs typeface="Calibri"/>
              </a:rPr>
              <a:t> </a:t>
            </a:r>
            <a:r>
              <a:rPr sz="1000" b="1" i="1" spc="125" dirty="0">
                <a:latin typeface="Calibri"/>
                <a:cs typeface="Calibri"/>
              </a:rPr>
              <a:t>sources</a:t>
            </a:r>
            <a:r>
              <a:rPr sz="1000" b="1" i="1" spc="70" dirty="0">
                <a:latin typeface="Calibri"/>
                <a:cs typeface="Calibri"/>
              </a:rPr>
              <a:t> </a:t>
            </a:r>
            <a:r>
              <a:rPr sz="1000" b="1" i="1" spc="145" dirty="0">
                <a:latin typeface="Calibri"/>
                <a:cs typeface="Calibri"/>
              </a:rPr>
              <a:t>must</a:t>
            </a:r>
            <a:r>
              <a:rPr sz="1000" b="1" i="1" spc="80" dirty="0">
                <a:latin typeface="Calibri"/>
                <a:cs typeface="Calibri"/>
              </a:rPr>
              <a:t> </a:t>
            </a:r>
            <a:r>
              <a:rPr sz="1000" b="1" i="1" spc="140" dirty="0">
                <a:latin typeface="Calibri"/>
                <a:cs typeface="Calibri"/>
              </a:rPr>
              <a:t>be</a:t>
            </a:r>
            <a:r>
              <a:rPr sz="1000" b="1" i="1" spc="70" dirty="0">
                <a:latin typeface="Calibri"/>
                <a:cs typeface="Calibri"/>
              </a:rPr>
              <a:t> </a:t>
            </a:r>
            <a:r>
              <a:rPr sz="1000" b="1" i="1" spc="155" dirty="0">
                <a:latin typeface="Calibri"/>
                <a:cs typeface="Calibri"/>
              </a:rPr>
              <a:t>a</a:t>
            </a:r>
            <a:r>
              <a:rPr sz="1000" b="1" i="1" spc="65" dirty="0">
                <a:latin typeface="Calibri"/>
                <a:cs typeface="Calibri"/>
              </a:rPr>
              <a:t> </a:t>
            </a:r>
            <a:r>
              <a:rPr sz="1000" b="1" i="1" spc="95" dirty="0">
                <a:latin typeface="Calibri"/>
                <a:cs typeface="Calibri"/>
              </a:rPr>
              <a:t>digital </a:t>
            </a:r>
            <a:r>
              <a:rPr sz="1000" b="1" i="1" spc="90" dirty="0">
                <a:latin typeface="Calibri"/>
                <a:cs typeface="Calibri"/>
              </a:rPr>
              <a:t>reference).</a:t>
            </a:r>
            <a:endParaRPr sz="1000" dirty="0">
              <a:latin typeface="Calibri"/>
              <a:cs typeface="Calibri"/>
            </a:endParaRPr>
          </a:p>
        </p:txBody>
      </p:sp>
      <p:sp>
        <p:nvSpPr>
          <p:cNvPr id="14" name="object 14"/>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15" name="object 15"/>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8</a:t>
            </a:fld>
            <a:endParaRPr spc="-25" dirty="0"/>
          </a:p>
        </p:txBody>
      </p:sp>
      <p:graphicFrame>
        <p:nvGraphicFramePr>
          <p:cNvPr id="12" name="object 12"/>
          <p:cNvGraphicFramePr>
            <a:graphicFrameLocks noGrp="1"/>
          </p:cNvGraphicFramePr>
          <p:nvPr/>
        </p:nvGraphicFramePr>
        <p:xfrm>
          <a:off x="455217" y="6500627"/>
          <a:ext cx="5915025" cy="2693034"/>
        </p:xfrm>
        <a:graphic>
          <a:graphicData uri="http://schemas.openxmlformats.org/drawingml/2006/table">
            <a:tbl>
              <a:tblPr firstRow="1" bandRow="1">
                <a:tableStyleId>{2D5ABB26-0587-4C30-8999-92F81FD0307C}</a:tableStyleId>
              </a:tblPr>
              <a:tblGrid>
                <a:gridCol w="3359785">
                  <a:extLst>
                    <a:ext uri="{9D8B030D-6E8A-4147-A177-3AD203B41FA5}">
                      <a16:colId xmlns:a16="http://schemas.microsoft.com/office/drawing/2014/main" val="20000"/>
                    </a:ext>
                  </a:extLst>
                </a:gridCol>
                <a:gridCol w="2555240">
                  <a:extLst>
                    <a:ext uri="{9D8B030D-6E8A-4147-A177-3AD203B41FA5}">
                      <a16:colId xmlns:a16="http://schemas.microsoft.com/office/drawing/2014/main" val="20001"/>
                    </a:ext>
                  </a:extLst>
                </a:gridCol>
              </a:tblGrid>
              <a:tr h="422275">
                <a:tc>
                  <a:txBody>
                    <a:bodyPr/>
                    <a:lstStyle/>
                    <a:p>
                      <a:pPr algn="ctr">
                        <a:lnSpc>
                          <a:spcPct val="100000"/>
                        </a:lnSpc>
                        <a:spcBef>
                          <a:spcPts val="200"/>
                        </a:spcBef>
                      </a:pPr>
                      <a:r>
                        <a:rPr sz="900" b="1" spc="100" dirty="0">
                          <a:latin typeface="Calibri"/>
                          <a:cs typeface="Calibri"/>
                        </a:rPr>
                        <a:t>Sources</a:t>
                      </a:r>
                      <a:endParaRPr sz="900">
                        <a:latin typeface="Calibri"/>
                        <a:cs typeface="Calibri"/>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5"/>
                        </a:spcBef>
                      </a:pPr>
                      <a:r>
                        <a:rPr sz="1000" b="1" spc="125" dirty="0">
                          <a:latin typeface="Calibri"/>
                          <a:cs typeface="Calibri"/>
                        </a:rPr>
                        <a:t>Examples</a:t>
                      </a:r>
                      <a:endParaRPr sz="1000">
                        <a:latin typeface="Calibri"/>
                        <a:cs typeface="Calibri"/>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639445">
                <a:tc>
                  <a:txBody>
                    <a:bodyPr/>
                    <a:lstStyle/>
                    <a:p>
                      <a:pPr marL="62230">
                        <a:lnSpc>
                          <a:spcPct val="100000"/>
                        </a:lnSpc>
                        <a:spcBef>
                          <a:spcPts val="200"/>
                        </a:spcBef>
                      </a:pPr>
                      <a:r>
                        <a:rPr sz="900" spc="-25" dirty="0">
                          <a:latin typeface="Century Gothic"/>
                          <a:cs typeface="Century Gothic"/>
                        </a:rPr>
                        <a:t>1)</a:t>
                      </a:r>
                      <a:endParaRPr sz="900">
                        <a:latin typeface="Century Gothic"/>
                        <a:cs typeface="Century Gothic"/>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639445">
                <a:tc>
                  <a:txBody>
                    <a:bodyPr/>
                    <a:lstStyle/>
                    <a:p>
                      <a:pPr marL="62230">
                        <a:lnSpc>
                          <a:spcPct val="100000"/>
                        </a:lnSpc>
                        <a:spcBef>
                          <a:spcPts val="200"/>
                        </a:spcBef>
                      </a:pPr>
                      <a:r>
                        <a:rPr sz="900" spc="-25" dirty="0">
                          <a:latin typeface="Century Gothic"/>
                          <a:cs typeface="Century Gothic"/>
                        </a:rPr>
                        <a:t>2)</a:t>
                      </a:r>
                      <a:endParaRPr sz="900">
                        <a:latin typeface="Century Gothic"/>
                        <a:cs typeface="Century Gothic"/>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991869">
                <a:tc>
                  <a:txBody>
                    <a:bodyPr/>
                    <a:lstStyle/>
                    <a:p>
                      <a:pPr marL="62230">
                        <a:lnSpc>
                          <a:spcPct val="100000"/>
                        </a:lnSpc>
                        <a:spcBef>
                          <a:spcPts val="200"/>
                        </a:spcBef>
                      </a:pPr>
                      <a:r>
                        <a:rPr sz="900" spc="-25" dirty="0">
                          <a:latin typeface="Century Gothic"/>
                          <a:cs typeface="Century Gothic"/>
                        </a:rPr>
                        <a:t>3)</a:t>
                      </a:r>
                      <a:endParaRPr sz="900">
                        <a:latin typeface="Century Gothic"/>
                        <a:cs typeface="Century Gothic"/>
                      </a:endParaRPr>
                    </a:p>
                    <a:p>
                      <a:pPr marL="31750">
                        <a:lnSpc>
                          <a:spcPct val="100000"/>
                        </a:lnSpc>
                        <a:spcBef>
                          <a:spcPts val="855"/>
                        </a:spcBef>
                      </a:pPr>
                      <a:r>
                        <a:rPr sz="900" b="1" i="1" spc="100" dirty="0">
                          <a:latin typeface="Calibri"/>
                          <a:cs typeface="Calibri"/>
                        </a:rPr>
                        <a:t>Digital</a:t>
                      </a:r>
                      <a:r>
                        <a:rPr sz="900" b="1" i="1" spc="15" dirty="0">
                          <a:latin typeface="Calibri"/>
                          <a:cs typeface="Calibri"/>
                        </a:rPr>
                        <a:t> </a:t>
                      </a:r>
                      <a:r>
                        <a:rPr sz="900" b="1" i="1" spc="20" dirty="0">
                          <a:latin typeface="Calibri"/>
                          <a:cs typeface="Calibri"/>
                        </a:rPr>
                        <a:t>-</a:t>
                      </a:r>
                      <a:endParaRPr sz="900">
                        <a:latin typeface="Calibri"/>
                        <a:cs typeface="Calibri"/>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13" name="object 13"/>
          <p:cNvSpPr txBox="1"/>
          <p:nvPr/>
        </p:nvSpPr>
        <p:spPr>
          <a:xfrm>
            <a:off x="2250004" y="476009"/>
            <a:ext cx="2310765" cy="574040"/>
          </a:xfrm>
          <a:prstGeom prst="rect">
            <a:avLst/>
          </a:prstGeom>
        </p:spPr>
        <p:txBody>
          <a:bodyPr vert="horz" wrap="square" lIns="0" tIns="12700" rIns="0" bIns="0" rtlCol="0">
            <a:spAutoFit/>
          </a:bodyPr>
          <a:lstStyle/>
          <a:p>
            <a:pPr marL="188595" marR="5080" indent="-176530">
              <a:lnSpc>
                <a:spcPct val="100000"/>
              </a:lnSpc>
              <a:spcBef>
                <a:spcPts val="100"/>
              </a:spcBef>
            </a:pPr>
            <a:r>
              <a:rPr sz="1800" spc="229" dirty="0">
                <a:latin typeface="Calibri"/>
                <a:cs typeface="Calibri"/>
              </a:rPr>
              <a:t>IDENTIFY</a:t>
            </a:r>
            <a:r>
              <a:rPr sz="1800" spc="50" dirty="0">
                <a:latin typeface="Calibri"/>
                <a:cs typeface="Calibri"/>
              </a:rPr>
              <a:t> </a:t>
            </a:r>
            <a:r>
              <a:rPr sz="1800" spc="235" dirty="0">
                <a:latin typeface="Calibri"/>
                <a:cs typeface="Calibri"/>
              </a:rPr>
              <a:t>SUITABLE </a:t>
            </a:r>
            <a:r>
              <a:rPr sz="1800" spc="240" dirty="0">
                <a:latin typeface="Calibri"/>
                <a:cs typeface="Calibri"/>
              </a:rPr>
              <a:t>OPPORTUNITIES</a:t>
            </a:r>
            <a:endParaRPr sz="1800">
              <a:latin typeface="Calibri"/>
              <a:cs typeface="Calibri"/>
            </a:endParaRPr>
          </a:p>
        </p:txBody>
      </p:sp>
      <p:sp>
        <p:nvSpPr>
          <p:cNvPr id="16" name="TextBox 15">
            <a:extLst>
              <a:ext uri="{FF2B5EF4-FFF2-40B4-BE49-F238E27FC236}">
                <a16:creationId xmlns:a16="http://schemas.microsoft.com/office/drawing/2014/main" id="{8F9DD949-11BC-9616-2B45-B8FED5565A54}"/>
              </a:ext>
            </a:extLst>
          </p:cNvPr>
          <p:cNvSpPr txBox="1"/>
          <p:nvPr/>
        </p:nvSpPr>
        <p:spPr>
          <a:xfrm>
            <a:off x="742191" y="2162397"/>
            <a:ext cx="1507813" cy="276999"/>
          </a:xfrm>
          <a:prstGeom prst="rect">
            <a:avLst/>
          </a:prstGeom>
          <a:noFill/>
          <a:ln>
            <a:solidFill>
              <a:schemeClr val="tx1"/>
            </a:solidFill>
          </a:ln>
        </p:spPr>
        <p:txBody>
          <a:bodyPr wrap="square" rtlCol="0">
            <a:spAutoFit/>
          </a:bodyPr>
          <a:lstStyle/>
          <a:p>
            <a:r>
              <a:rPr lang="en-GB" sz="1200" dirty="0"/>
              <a:t>Junior Data Analyst</a:t>
            </a:r>
          </a:p>
        </p:txBody>
      </p:sp>
      <p:sp>
        <p:nvSpPr>
          <p:cNvPr id="17" name="TextBox 16">
            <a:extLst>
              <a:ext uri="{FF2B5EF4-FFF2-40B4-BE49-F238E27FC236}">
                <a16:creationId xmlns:a16="http://schemas.microsoft.com/office/drawing/2014/main" id="{790B3B1D-1844-E909-247B-4C5851650533}"/>
              </a:ext>
            </a:extLst>
          </p:cNvPr>
          <p:cNvSpPr txBox="1"/>
          <p:nvPr/>
        </p:nvSpPr>
        <p:spPr>
          <a:xfrm>
            <a:off x="742190" y="2836843"/>
            <a:ext cx="1507813" cy="461665"/>
          </a:xfrm>
          <a:prstGeom prst="rect">
            <a:avLst/>
          </a:prstGeom>
          <a:noFill/>
          <a:ln>
            <a:solidFill>
              <a:schemeClr val="tx1"/>
            </a:solidFill>
          </a:ln>
        </p:spPr>
        <p:txBody>
          <a:bodyPr wrap="square" rtlCol="0">
            <a:spAutoFit/>
          </a:bodyPr>
          <a:lstStyle/>
          <a:p>
            <a:r>
              <a:rPr lang="en-GB" sz="1200" dirty="0"/>
              <a:t>Junior Data Scientist</a:t>
            </a:r>
          </a:p>
        </p:txBody>
      </p:sp>
      <p:sp>
        <p:nvSpPr>
          <p:cNvPr id="18" name="TextBox 17">
            <a:extLst>
              <a:ext uri="{FF2B5EF4-FFF2-40B4-BE49-F238E27FC236}">
                <a16:creationId xmlns:a16="http://schemas.microsoft.com/office/drawing/2014/main" id="{C3DAEDAE-5CEC-C7AF-077F-24FAC03419F3}"/>
              </a:ext>
            </a:extLst>
          </p:cNvPr>
          <p:cNvSpPr txBox="1"/>
          <p:nvPr/>
        </p:nvSpPr>
        <p:spPr>
          <a:xfrm>
            <a:off x="742189" y="3530778"/>
            <a:ext cx="1507813" cy="523220"/>
          </a:xfrm>
          <a:prstGeom prst="rect">
            <a:avLst/>
          </a:prstGeom>
          <a:noFill/>
          <a:ln>
            <a:solidFill>
              <a:schemeClr val="tx1"/>
            </a:solidFill>
          </a:ln>
        </p:spPr>
        <p:txBody>
          <a:bodyPr wrap="square" rtlCol="0">
            <a:spAutoFit/>
          </a:bodyPr>
          <a:lstStyle/>
          <a:p>
            <a:r>
              <a:rPr lang="en-GB" sz="1400" dirty="0"/>
              <a:t>Predictive Analyst</a:t>
            </a:r>
          </a:p>
        </p:txBody>
      </p:sp>
      <p:sp>
        <p:nvSpPr>
          <p:cNvPr id="19" name="TextBox 18">
            <a:extLst>
              <a:ext uri="{FF2B5EF4-FFF2-40B4-BE49-F238E27FC236}">
                <a16:creationId xmlns:a16="http://schemas.microsoft.com/office/drawing/2014/main" id="{4AAC31E0-19E6-0986-AB22-6AEACBB10EED}"/>
              </a:ext>
            </a:extLst>
          </p:cNvPr>
          <p:cNvSpPr txBox="1"/>
          <p:nvPr/>
        </p:nvSpPr>
        <p:spPr>
          <a:xfrm>
            <a:off x="2547367" y="3407863"/>
            <a:ext cx="865362" cy="738664"/>
          </a:xfrm>
          <a:prstGeom prst="rect">
            <a:avLst/>
          </a:prstGeom>
          <a:noFill/>
          <a:ln>
            <a:solidFill>
              <a:schemeClr val="tx1"/>
            </a:solidFill>
          </a:ln>
        </p:spPr>
        <p:txBody>
          <a:bodyPr wrap="square" rtlCol="0">
            <a:spAutoFit/>
          </a:bodyPr>
          <a:lstStyle/>
          <a:p>
            <a:r>
              <a:rPr lang="en-GB" sz="1200" dirty="0"/>
              <a:t>6 to 12 months</a:t>
            </a:r>
          </a:p>
          <a:p>
            <a:endParaRPr lang="en-GB" dirty="0"/>
          </a:p>
        </p:txBody>
      </p:sp>
      <p:sp>
        <p:nvSpPr>
          <p:cNvPr id="20" name="TextBox 19">
            <a:extLst>
              <a:ext uri="{FF2B5EF4-FFF2-40B4-BE49-F238E27FC236}">
                <a16:creationId xmlns:a16="http://schemas.microsoft.com/office/drawing/2014/main" id="{AC92C153-CEEC-F3AA-9DC0-E75D475CF6B2}"/>
              </a:ext>
            </a:extLst>
          </p:cNvPr>
          <p:cNvSpPr txBox="1"/>
          <p:nvPr/>
        </p:nvSpPr>
        <p:spPr>
          <a:xfrm>
            <a:off x="2553718" y="2779681"/>
            <a:ext cx="865362" cy="738664"/>
          </a:xfrm>
          <a:prstGeom prst="rect">
            <a:avLst/>
          </a:prstGeom>
          <a:noFill/>
          <a:ln>
            <a:solidFill>
              <a:schemeClr val="tx1"/>
            </a:solidFill>
          </a:ln>
        </p:spPr>
        <p:txBody>
          <a:bodyPr wrap="square" rtlCol="0">
            <a:spAutoFit/>
          </a:bodyPr>
          <a:lstStyle/>
          <a:p>
            <a:r>
              <a:rPr lang="en-GB" sz="1200" dirty="0"/>
              <a:t>6 to 12 months</a:t>
            </a:r>
          </a:p>
          <a:p>
            <a:endParaRPr lang="en-GB" dirty="0"/>
          </a:p>
        </p:txBody>
      </p:sp>
      <p:sp>
        <p:nvSpPr>
          <p:cNvPr id="21" name="TextBox 20">
            <a:extLst>
              <a:ext uri="{FF2B5EF4-FFF2-40B4-BE49-F238E27FC236}">
                <a16:creationId xmlns:a16="http://schemas.microsoft.com/office/drawing/2014/main" id="{EC5A00D7-B4F1-8001-15DB-0DDCC5B7E02A}"/>
              </a:ext>
            </a:extLst>
          </p:cNvPr>
          <p:cNvSpPr txBox="1"/>
          <p:nvPr/>
        </p:nvSpPr>
        <p:spPr>
          <a:xfrm>
            <a:off x="2572232" y="2173257"/>
            <a:ext cx="865362" cy="738664"/>
          </a:xfrm>
          <a:prstGeom prst="rect">
            <a:avLst/>
          </a:prstGeom>
          <a:noFill/>
          <a:ln>
            <a:solidFill>
              <a:schemeClr val="tx1"/>
            </a:solidFill>
          </a:ln>
        </p:spPr>
        <p:txBody>
          <a:bodyPr wrap="square" rtlCol="0">
            <a:spAutoFit/>
          </a:bodyPr>
          <a:lstStyle/>
          <a:p>
            <a:r>
              <a:rPr lang="en-GB" sz="1200" dirty="0"/>
              <a:t>6 to 12 months</a:t>
            </a:r>
          </a:p>
          <a:p>
            <a:endParaRPr lang="en-GB" dirty="0"/>
          </a:p>
        </p:txBody>
      </p:sp>
      <p:sp>
        <p:nvSpPr>
          <p:cNvPr id="22" name="TextBox 21">
            <a:extLst>
              <a:ext uri="{FF2B5EF4-FFF2-40B4-BE49-F238E27FC236}">
                <a16:creationId xmlns:a16="http://schemas.microsoft.com/office/drawing/2014/main" id="{01F34C21-67E0-AB00-D571-3A9D73CD2D87}"/>
              </a:ext>
            </a:extLst>
          </p:cNvPr>
          <p:cNvSpPr txBox="1"/>
          <p:nvPr/>
        </p:nvSpPr>
        <p:spPr>
          <a:xfrm>
            <a:off x="3698769" y="2152450"/>
            <a:ext cx="1643416" cy="646331"/>
          </a:xfrm>
          <a:prstGeom prst="rect">
            <a:avLst/>
          </a:prstGeom>
          <a:noFill/>
          <a:ln>
            <a:solidFill>
              <a:schemeClr val="tx1"/>
            </a:solidFill>
          </a:ln>
        </p:spPr>
        <p:txBody>
          <a:bodyPr wrap="square" rtlCol="0">
            <a:spAutoFit/>
          </a:bodyPr>
          <a:lstStyle/>
          <a:p>
            <a:r>
              <a:rPr lang="en-GB" sz="1200" dirty="0"/>
              <a:t>Data Scientist specialising in Machine Learning,</a:t>
            </a:r>
          </a:p>
        </p:txBody>
      </p:sp>
      <p:sp>
        <p:nvSpPr>
          <p:cNvPr id="23" name="TextBox 22">
            <a:extLst>
              <a:ext uri="{FF2B5EF4-FFF2-40B4-BE49-F238E27FC236}">
                <a16:creationId xmlns:a16="http://schemas.microsoft.com/office/drawing/2014/main" id="{9099268C-9F86-CDF6-54F7-3AB4BB3D37A5}"/>
              </a:ext>
            </a:extLst>
          </p:cNvPr>
          <p:cNvSpPr txBox="1"/>
          <p:nvPr/>
        </p:nvSpPr>
        <p:spPr>
          <a:xfrm>
            <a:off x="3698768" y="2826896"/>
            <a:ext cx="1507813" cy="461665"/>
          </a:xfrm>
          <a:prstGeom prst="rect">
            <a:avLst/>
          </a:prstGeom>
          <a:noFill/>
          <a:ln>
            <a:solidFill>
              <a:schemeClr val="tx1"/>
            </a:solidFill>
          </a:ln>
        </p:spPr>
        <p:txBody>
          <a:bodyPr wrap="square" rtlCol="0">
            <a:spAutoFit/>
          </a:bodyPr>
          <a:lstStyle/>
          <a:p>
            <a:r>
              <a:rPr lang="en-GB" sz="1200" dirty="0"/>
              <a:t>Machine Learning Specialist</a:t>
            </a:r>
          </a:p>
        </p:txBody>
      </p:sp>
      <p:sp>
        <p:nvSpPr>
          <p:cNvPr id="24" name="TextBox 23">
            <a:extLst>
              <a:ext uri="{FF2B5EF4-FFF2-40B4-BE49-F238E27FC236}">
                <a16:creationId xmlns:a16="http://schemas.microsoft.com/office/drawing/2014/main" id="{02180C7E-A75C-384B-66D8-D32C431A7DAD}"/>
              </a:ext>
            </a:extLst>
          </p:cNvPr>
          <p:cNvSpPr txBox="1"/>
          <p:nvPr/>
        </p:nvSpPr>
        <p:spPr>
          <a:xfrm>
            <a:off x="3632114" y="3512209"/>
            <a:ext cx="1574467" cy="461665"/>
          </a:xfrm>
          <a:prstGeom prst="rect">
            <a:avLst/>
          </a:prstGeom>
          <a:noFill/>
          <a:ln>
            <a:solidFill>
              <a:schemeClr val="tx1"/>
            </a:solidFill>
          </a:ln>
        </p:spPr>
        <p:txBody>
          <a:bodyPr wrap="square" rtlCol="0">
            <a:spAutoFit/>
          </a:bodyPr>
          <a:lstStyle/>
          <a:p>
            <a:r>
              <a:rPr lang="en-GB" sz="1200" dirty="0"/>
              <a:t>Predictive Modelling Specialist </a:t>
            </a:r>
          </a:p>
        </p:txBody>
      </p:sp>
      <p:sp>
        <p:nvSpPr>
          <p:cNvPr id="25" name="TextBox 24">
            <a:extLst>
              <a:ext uri="{FF2B5EF4-FFF2-40B4-BE49-F238E27FC236}">
                <a16:creationId xmlns:a16="http://schemas.microsoft.com/office/drawing/2014/main" id="{0C0CD2F7-F2D0-0B14-E370-9C45B822AD89}"/>
              </a:ext>
            </a:extLst>
          </p:cNvPr>
          <p:cNvSpPr txBox="1"/>
          <p:nvPr/>
        </p:nvSpPr>
        <p:spPr>
          <a:xfrm>
            <a:off x="5410200" y="3482008"/>
            <a:ext cx="865362" cy="461665"/>
          </a:xfrm>
          <a:prstGeom prst="rect">
            <a:avLst/>
          </a:prstGeom>
          <a:noFill/>
          <a:ln>
            <a:solidFill>
              <a:schemeClr val="tx1"/>
            </a:solidFill>
          </a:ln>
        </p:spPr>
        <p:txBody>
          <a:bodyPr wrap="square" rtlCol="0">
            <a:spAutoFit/>
          </a:bodyPr>
          <a:lstStyle/>
          <a:p>
            <a:r>
              <a:rPr lang="en-GB" sz="1200" dirty="0"/>
              <a:t>3 to 5 years</a:t>
            </a:r>
          </a:p>
        </p:txBody>
      </p:sp>
      <p:sp>
        <p:nvSpPr>
          <p:cNvPr id="26" name="TextBox 25">
            <a:extLst>
              <a:ext uri="{FF2B5EF4-FFF2-40B4-BE49-F238E27FC236}">
                <a16:creationId xmlns:a16="http://schemas.microsoft.com/office/drawing/2014/main" id="{7189EDC4-E151-CFD9-DFD2-7BC5EF898E20}"/>
              </a:ext>
            </a:extLst>
          </p:cNvPr>
          <p:cNvSpPr txBox="1"/>
          <p:nvPr/>
        </p:nvSpPr>
        <p:spPr>
          <a:xfrm>
            <a:off x="5410200" y="2826896"/>
            <a:ext cx="865362" cy="461665"/>
          </a:xfrm>
          <a:prstGeom prst="rect">
            <a:avLst/>
          </a:prstGeom>
          <a:noFill/>
          <a:ln>
            <a:solidFill>
              <a:schemeClr val="tx1"/>
            </a:solidFill>
          </a:ln>
        </p:spPr>
        <p:txBody>
          <a:bodyPr wrap="square" rtlCol="0">
            <a:spAutoFit/>
          </a:bodyPr>
          <a:lstStyle/>
          <a:p>
            <a:r>
              <a:rPr lang="en-GB" sz="1200" dirty="0"/>
              <a:t>3 to 5 years</a:t>
            </a:r>
          </a:p>
        </p:txBody>
      </p:sp>
      <p:sp>
        <p:nvSpPr>
          <p:cNvPr id="27" name="TextBox 26">
            <a:extLst>
              <a:ext uri="{FF2B5EF4-FFF2-40B4-BE49-F238E27FC236}">
                <a16:creationId xmlns:a16="http://schemas.microsoft.com/office/drawing/2014/main" id="{FC2F2324-0BBD-0D03-B3B2-75D61BCE3AAE}"/>
              </a:ext>
            </a:extLst>
          </p:cNvPr>
          <p:cNvSpPr txBox="1"/>
          <p:nvPr/>
        </p:nvSpPr>
        <p:spPr>
          <a:xfrm>
            <a:off x="5418793" y="2163310"/>
            <a:ext cx="865362" cy="461665"/>
          </a:xfrm>
          <a:prstGeom prst="rect">
            <a:avLst/>
          </a:prstGeom>
          <a:noFill/>
          <a:ln>
            <a:solidFill>
              <a:schemeClr val="tx1"/>
            </a:solidFill>
          </a:ln>
        </p:spPr>
        <p:txBody>
          <a:bodyPr wrap="square" rtlCol="0">
            <a:spAutoFit/>
          </a:bodyPr>
          <a:lstStyle/>
          <a:p>
            <a:r>
              <a:rPr lang="en-GB" sz="1200" dirty="0"/>
              <a:t>3 to 5 years</a:t>
            </a:r>
          </a:p>
        </p:txBody>
      </p:sp>
      <p:sp>
        <p:nvSpPr>
          <p:cNvPr id="28" name="TextBox 27">
            <a:extLst>
              <a:ext uri="{FF2B5EF4-FFF2-40B4-BE49-F238E27FC236}">
                <a16:creationId xmlns:a16="http://schemas.microsoft.com/office/drawing/2014/main" id="{686AB672-8118-B6F5-FC26-7CEE20DFE99F}"/>
              </a:ext>
            </a:extLst>
          </p:cNvPr>
          <p:cNvSpPr txBox="1"/>
          <p:nvPr/>
        </p:nvSpPr>
        <p:spPr>
          <a:xfrm>
            <a:off x="442453" y="4610507"/>
            <a:ext cx="5841681" cy="1015663"/>
          </a:xfrm>
          <a:prstGeom prst="rect">
            <a:avLst/>
          </a:prstGeom>
          <a:noFill/>
          <a:ln>
            <a:solidFill>
              <a:schemeClr val="tx1"/>
            </a:solidFill>
          </a:ln>
        </p:spPr>
        <p:txBody>
          <a:bodyPr wrap="square" rtlCol="0">
            <a:spAutoFit/>
          </a:bodyPr>
          <a:lstStyle/>
          <a:p>
            <a:r>
              <a:rPr lang="en-GB" sz="1200" dirty="0"/>
              <a:t>Goals may not be reached within the planned timescale due to skills gaps that require more time to develop, limited practical experience, and high competition within the data and machine learning job market. Other factors, such as time constraints, personal responsibilities, or reduced confidence when learning complex technical skills, may also delay progress.</a:t>
            </a:r>
          </a:p>
        </p:txBody>
      </p:sp>
      <p:sp>
        <p:nvSpPr>
          <p:cNvPr id="29" name="TextBox 28">
            <a:extLst>
              <a:ext uri="{FF2B5EF4-FFF2-40B4-BE49-F238E27FC236}">
                <a16:creationId xmlns:a16="http://schemas.microsoft.com/office/drawing/2014/main" id="{032FD3DA-1BEA-A988-1850-31BB55D29196}"/>
              </a:ext>
            </a:extLst>
          </p:cNvPr>
          <p:cNvSpPr txBox="1"/>
          <p:nvPr/>
        </p:nvSpPr>
        <p:spPr>
          <a:xfrm>
            <a:off x="712513" y="7039681"/>
            <a:ext cx="2986254" cy="307777"/>
          </a:xfrm>
          <a:prstGeom prst="rect">
            <a:avLst/>
          </a:prstGeom>
          <a:noFill/>
          <a:ln>
            <a:solidFill>
              <a:schemeClr val="tx1"/>
            </a:solidFill>
          </a:ln>
        </p:spPr>
        <p:txBody>
          <a:bodyPr wrap="square" rtlCol="0">
            <a:spAutoFit/>
          </a:bodyPr>
          <a:lstStyle/>
          <a:p>
            <a:r>
              <a:rPr lang="en-GB" sz="1400" dirty="0"/>
              <a:t>Company websites</a:t>
            </a:r>
          </a:p>
        </p:txBody>
      </p:sp>
      <p:sp>
        <p:nvSpPr>
          <p:cNvPr id="30" name="TextBox 29">
            <a:extLst>
              <a:ext uri="{FF2B5EF4-FFF2-40B4-BE49-F238E27FC236}">
                <a16:creationId xmlns:a16="http://schemas.microsoft.com/office/drawing/2014/main" id="{EDB2A932-DE1B-64C1-BB2C-4D00086DCD25}"/>
              </a:ext>
            </a:extLst>
          </p:cNvPr>
          <p:cNvSpPr txBox="1"/>
          <p:nvPr/>
        </p:nvSpPr>
        <p:spPr>
          <a:xfrm>
            <a:off x="756875" y="7692467"/>
            <a:ext cx="2986254" cy="523220"/>
          </a:xfrm>
          <a:prstGeom prst="rect">
            <a:avLst/>
          </a:prstGeom>
          <a:noFill/>
          <a:ln>
            <a:solidFill>
              <a:schemeClr val="tx1"/>
            </a:solidFill>
          </a:ln>
        </p:spPr>
        <p:txBody>
          <a:bodyPr wrap="square" rtlCol="0">
            <a:spAutoFit/>
          </a:bodyPr>
          <a:lstStyle/>
          <a:p>
            <a:r>
              <a:rPr lang="en-GB" sz="1400" dirty="0"/>
              <a:t>University or training provider career services</a:t>
            </a:r>
          </a:p>
        </p:txBody>
      </p:sp>
      <p:sp>
        <p:nvSpPr>
          <p:cNvPr id="31" name="TextBox 30">
            <a:extLst>
              <a:ext uri="{FF2B5EF4-FFF2-40B4-BE49-F238E27FC236}">
                <a16:creationId xmlns:a16="http://schemas.microsoft.com/office/drawing/2014/main" id="{41DB8F9E-4F8A-0855-D357-AFD824C616A6}"/>
              </a:ext>
            </a:extLst>
          </p:cNvPr>
          <p:cNvSpPr txBox="1"/>
          <p:nvPr/>
        </p:nvSpPr>
        <p:spPr>
          <a:xfrm>
            <a:off x="682835" y="8636671"/>
            <a:ext cx="2986254" cy="307777"/>
          </a:xfrm>
          <a:prstGeom prst="rect">
            <a:avLst/>
          </a:prstGeom>
          <a:noFill/>
          <a:ln>
            <a:solidFill>
              <a:schemeClr val="tx1"/>
            </a:solidFill>
          </a:ln>
        </p:spPr>
        <p:txBody>
          <a:bodyPr wrap="square" rtlCol="0">
            <a:spAutoFit/>
          </a:bodyPr>
          <a:lstStyle/>
          <a:p>
            <a:r>
              <a:rPr lang="en-GB" sz="1400" dirty="0"/>
              <a:t>Online job boards (digital source)</a:t>
            </a:r>
          </a:p>
        </p:txBody>
      </p:sp>
      <p:sp>
        <p:nvSpPr>
          <p:cNvPr id="32" name="TextBox 31">
            <a:extLst>
              <a:ext uri="{FF2B5EF4-FFF2-40B4-BE49-F238E27FC236}">
                <a16:creationId xmlns:a16="http://schemas.microsoft.com/office/drawing/2014/main" id="{CBB3C77D-DE7D-5D18-AAED-89B3AEFFC9D1}"/>
              </a:ext>
            </a:extLst>
          </p:cNvPr>
          <p:cNvSpPr txBox="1"/>
          <p:nvPr/>
        </p:nvSpPr>
        <p:spPr>
          <a:xfrm>
            <a:off x="3855505" y="6922553"/>
            <a:ext cx="2488071" cy="830997"/>
          </a:xfrm>
          <a:prstGeom prst="rect">
            <a:avLst/>
          </a:prstGeom>
          <a:noFill/>
          <a:ln>
            <a:solidFill>
              <a:schemeClr val="tx1"/>
            </a:solidFill>
          </a:ln>
        </p:spPr>
        <p:txBody>
          <a:bodyPr wrap="square" rtlCol="0">
            <a:spAutoFit/>
          </a:bodyPr>
          <a:lstStyle/>
          <a:p>
            <a:r>
              <a:rPr lang="en-GB" sz="1200" dirty="0"/>
              <a:t>A technology company advertising data science or analytics roles on its careers page.</a:t>
            </a:r>
          </a:p>
        </p:txBody>
      </p:sp>
      <p:sp>
        <p:nvSpPr>
          <p:cNvPr id="33" name="TextBox 32">
            <a:extLst>
              <a:ext uri="{FF2B5EF4-FFF2-40B4-BE49-F238E27FC236}">
                <a16:creationId xmlns:a16="http://schemas.microsoft.com/office/drawing/2014/main" id="{4C8FA74D-341C-BA4B-FDC2-4478F9022995}"/>
              </a:ext>
            </a:extLst>
          </p:cNvPr>
          <p:cNvSpPr txBox="1"/>
          <p:nvPr/>
        </p:nvSpPr>
        <p:spPr>
          <a:xfrm>
            <a:off x="3855505" y="7645632"/>
            <a:ext cx="2488070" cy="646331"/>
          </a:xfrm>
          <a:prstGeom prst="rect">
            <a:avLst/>
          </a:prstGeom>
          <a:noFill/>
          <a:ln>
            <a:solidFill>
              <a:schemeClr val="tx1"/>
            </a:solidFill>
          </a:ln>
        </p:spPr>
        <p:txBody>
          <a:bodyPr wrap="square" rtlCol="0">
            <a:spAutoFit/>
          </a:bodyPr>
          <a:lstStyle/>
          <a:p>
            <a:r>
              <a:rPr lang="en-GB" sz="1200" dirty="0"/>
              <a:t>A university careers portal sharing graduate schemes, internships, or entry-level data roles.</a:t>
            </a:r>
          </a:p>
        </p:txBody>
      </p:sp>
      <p:sp>
        <p:nvSpPr>
          <p:cNvPr id="34" name="TextBox 33">
            <a:extLst>
              <a:ext uri="{FF2B5EF4-FFF2-40B4-BE49-F238E27FC236}">
                <a16:creationId xmlns:a16="http://schemas.microsoft.com/office/drawing/2014/main" id="{B352B754-2984-D251-FD01-66D4CFB8C4F2}"/>
              </a:ext>
            </a:extLst>
          </p:cNvPr>
          <p:cNvSpPr txBox="1"/>
          <p:nvPr/>
        </p:nvSpPr>
        <p:spPr>
          <a:xfrm>
            <a:off x="3956865" y="8320008"/>
            <a:ext cx="2277346" cy="646331"/>
          </a:xfrm>
          <a:prstGeom prst="rect">
            <a:avLst/>
          </a:prstGeom>
          <a:noFill/>
          <a:ln>
            <a:solidFill>
              <a:schemeClr val="tx1"/>
            </a:solidFill>
          </a:ln>
        </p:spPr>
        <p:txBody>
          <a:bodyPr wrap="square" rtlCol="0">
            <a:spAutoFit/>
          </a:bodyPr>
          <a:lstStyle/>
          <a:p>
            <a:r>
              <a:rPr lang="en-GB" sz="1200" dirty="0"/>
              <a:t>LinkedIn Jobs advertising roles such as Junior Data Analyst or Predictive Analyst.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16879" y="463295"/>
            <a:ext cx="890003" cy="536447"/>
          </a:xfrm>
          <a:prstGeom prst="rect">
            <a:avLst/>
          </a:prstGeom>
        </p:spPr>
      </p:pic>
      <p:sp>
        <p:nvSpPr>
          <p:cNvPr id="3" name="object 3"/>
          <p:cNvSpPr txBox="1"/>
          <p:nvPr/>
        </p:nvSpPr>
        <p:spPr>
          <a:xfrm>
            <a:off x="514802" y="1531282"/>
            <a:ext cx="4872990" cy="330200"/>
          </a:xfrm>
          <a:prstGeom prst="rect">
            <a:avLst/>
          </a:prstGeom>
        </p:spPr>
        <p:txBody>
          <a:bodyPr vert="horz" wrap="square" lIns="0" tIns="12065" rIns="0" bIns="0" rtlCol="0">
            <a:spAutoFit/>
          </a:bodyPr>
          <a:lstStyle/>
          <a:p>
            <a:pPr marL="12700">
              <a:lnSpc>
                <a:spcPct val="100000"/>
              </a:lnSpc>
              <a:spcBef>
                <a:spcPts val="95"/>
              </a:spcBef>
            </a:pPr>
            <a:r>
              <a:rPr sz="1000" b="1" spc="100" dirty="0">
                <a:latin typeface="Calibri"/>
                <a:cs typeface="Calibri"/>
              </a:rPr>
              <a:t>Q9)</a:t>
            </a:r>
            <a:r>
              <a:rPr sz="1000" b="1" spc="145" dirty="0">
                <a:latin typeface="Calibri"/>
                <a:cs typeface="Calibri"/>
              </a:rPr>
              <a:t> </a:t>
            </a:r>
            <a:r>
              <a:rPr sz="1000" b="1" dirty="0">
                <a:latin typeface="Calibri"/>
                <a:cs typeface="Calibri"/>
              </a:rPr>
              <a:t>3.2</a:t>
            </a:r>
            <a:r>
              <a:rPr sz="1000" b="1" spc="130" dirty="0">
                <a:latin typeface="Calibri"/>
                <a:cs typeface="Calibri"/>
              </a:rPr>
              <a:t> </a:t>
            </a:r>
            <a:r>
              <a:rPr sz="1000" b="1" spc="125" dirty="0">
                <a:latin typeface="Calibri"/>
                <a:cs typeface="Calibri"/>
              </a:rPr>
              <a:t>Describe</a:t>
            </a:r>
            <a:r>
              <a:rPr sz="1000" b="1" spc="110" dirty="0">
                <a:latin typeface="Calibri"/>
                <a:cs typeface="Calibri"/>
              </a:rPr>
              <a:t> </a:t>
            </a:r>
            <a:r>
              <a:rPr sz="1000" dirty="0">
                <a:latin typeface="Century Gothic"/>
                <a:cs typeface="Century Gothic"/>
              </a:rPr>
              <a:t>the</a:t>
            </a:r>
            <a:r>
              <a:rPr sz="1000" spc="45" dirty="0">
                <a:latin typeface="Century Gothic"/>
                <a:cs typeface="Century Gothic"/>
              </a:rPr>
              <a:t> </a:t>
            </a:r>
            <a:r>
              <a:rPr sz="1000" dirty="0">
                <a:latin typeface="Century Gothic"/>
                <a:cs typeface="Century Gothic"/>
              </a:rPr>
              <a:t>support</a:t>
            </a:r>
            <a:r>
              <a:rPr sz="1000" spc="55" dirty="0">
                <a:latin typeface="Century Gothic"/>
                <a:cs typeface="Century Gothic"/>
              </a:rPr>
              <a:t> </a:t>
            </a:r>
            <a:r>
              <a:rPr sz="1000" spc="45" dirty="0">
                <a:latin typeface="Century Gothic"/>
                <a:cs typeface="Century Gothic"/>
              </a:rPr>
              <a:t>networks</a:t>
            </a:r>
            <a:r>
              <a:rPr sz="1000" spc="40" dirty="0">
                <a:latin typeface="Century Gothic"/>
                <a:cs typeface="Century Gothic"/>
              </a:rPr>
              <a:t> </a:t>
            </a:r>
            <a:r>
              <a:rPr sz="1000" spc="-20" dirty="0">
                <a:latin typeface="Century Gothic"/>
                <a:cs typeface="Century Gothic"/>
              </a:rPr>
              <a:t>available</a:t>
            </a:r>
            <a:r>
              <a:rPr sz="1000" spc="95" dirty="0">
                <a:latin typeface="Century Gothic"/>
                <a:cs typeface="Century Gothic"/>
              </a:rPr>
              <a:t> </a:t>
            </a:r>
            <a:r>
              <a:rPr sz="1000" dirty="0">
                <a:latin typeface="Century Gothic"/>
                <a:cs typeface="Century Gothic"/>
              </a:rPr>
              <a:t>to</a:t>
            </a:r>
            <a:r>
              <a:rPr sz="1000" spc="25" dirty="0">
                <a:latin typeface="Century Gothic"/>
                <a:cs typeface="Century Gothic"/>
              </a:rPr>
              <a:t> </a:t>
            </a:r>
            <a:r>
              <a:rPr sz="1000" dirty="0">
                <a:latin typeface="Century Gothic"/>
                <a:cs typeface="Century Gothic"/>
              </a:rPr>
              <a:t>help</a:t>
            </a:r>
            <a:r>
              <a:rPr sz="1000" spc="60" dirty="0">
                <a:latin typeface="Century Gothic"/>
                <a:cs typeface="Century Gothic"/>
              </a:rPr>
              <a:t> </a:t>
            </a:r>
            <a:r>
              <a:rPr sz="1000" dirty="0">
                <a:latin typeface="Century Gothic"/>
                <a:cs typeface="Century Gothic"/>
              </a:rPr>
              <a:t>them</a:t>
            </a:r>
            <a:r>
              <a:rPr sz="1000" spc="50" dirty="0">
                <a:latin typeface="Century Gothic"/>
                <a:cs typeface="Century Gothic"/>
              </a:rPr>
              <a:t> </a:t>
            </a:r>
            <a:r>
              <a:rPr sz="1000" dirty="0">
                <a:latin typeface="Century Gothic"/>
                <a:cs typeface="Century Gothic"/>
              </a:rPr>
              <a:t>as</a:t>
            </a:r>
            <a:r>
              <a:rPr sz="1000" spc="55" dirty="0">
                <a:latin typeface="Century Gothic"/>
                <a:cs typeface="Century Gothic"/>
              </a:rPr>
              <a:t> </a:t>
            </a:r>
            <a:r>
              <a:rPr sz="1000" spc="-10" dirty="0">
                <a:latin typeface="Century Gothic"/>
                <a:cs typeface="Century Gothic"/>
              </a:rPr>
              <a:t>individuals.</a:t>
            </a:r>
            <a:endParaRPr sz="1000" dirty="0">
              <a:latin typeface="Century Gothic"/>
              <a:cs typeface="Century Gothic"/>
            </a:endParaRPr>
          </a:p>
          <a:p>
            <a:pPr marL="12700">
              <a:lnSpc>
                <a:spcPct val="100000"/>
              </a:lnSpc>
            </a:pPr>
            <a:r>
              <a:rPr sz="1000" b="1" i="1" spc="90" dirty="0">
                <a:latin typeface="Calibri"/>
                <a:cs typeface="Calibri"/>
              </a:rPr>
              <a:t>(Must</a:t>
            </a:r>
            <a:r>
              <a:rPr sz="1000" b="1" i="1" spc="85" dirty="0">
                <a:latin typeface="Calibri"/>
                <a:cs typeface="Calibri"/>
              </a:rPr>
              <a:t> </a:t>
            </a:r>
            <a:r>
              <a:rPr sz="1000" b="1" i="1" spc="120" dirty="0">
                <a:latin typeface="Calibri"/>
                <a:cs typeface="Calibri"/>
              </a:rPr>
              <a:t>include</a:t>
            </a:r>
            <a:r>
              <a:rPr sz="1000" b="1" i="1" spc="90" dirty="0">
                <a:latin typeface="Calibri"/>
                <a:cs typeface="Calibri"/>
              </a:rPr>
              <a:t> </a:t>
            </a:r>
            <a:r>
              <a:rPr sz="1000" b="1" i="1" spc="155" dirty="0">
                <a:latin typeface="Calibri"/>
                <a:cs typeface="Calibri"/>
              </a:rPr>
              <a:t>a</a:t>
            </a:r>
            <a:r>
              <a:rPr sz="1000" b="1" i="1" spc="70" dirty="0">
                <a:latin typeface="Calibri"/>
                <a:cs typeface="Calibri"/>
              </a:rPr>
              <a:t> </a:t>
            </a:r>
            <a:r>
              <a:rPr sz="1000" b="1" i="1" spc="95" dirty="0">
                <a:latin typeface="Calibri"/>
                <a:cs typeface="Calibri"/>
              </a:rPr>
              <a:t>digital</a:t>
            </a:r>
            <a:r>
              <a:rPr sz="1000" b="1" i="1" spc="90" dirty="0">
                <a:latin typeface="Calibri"/>
                <a:cs typeface="Calibri"/>
              </a:rPr>
              <a:t> reference).</a:t>
            </a:r>
            <a:endParaRPr sz="1000" dirty="0">
              <a:latin typeface="Calibri"/>
              <a:cs typeface="Calibri"/>
            </a:endParaRPr>
          </a:p>
        </p:txBody>
      </p:sp>
      <p:grpSp>
        <p:nvGrpSpPr>
          <p:cNvPr id="4" name="object 4"/>
          <p:cNvGrpSpPr/>
          <p:nvPr/>
        </p:nvGrpSpPr>
        <p:grpSpPr>
          <a:xfrm>
            <a:off x="414096" y="2035925"/>
            <a:ext cx="5965825" cy="6986905"/>
            <a:chOff x="414096" y="2035925"/>
            <a:chExt cx="5965825" cy="6986905"/>
          </a:xfrm>
        </p:grpSpPr>
        <p:sp>
          <p:nvSpPr>
            <p:cNvPr id="5" name="object 5"/>
            <p:cNvSpPr/>
            <p:nvPr/>
          </p:nvSpPr>
          <p:spPr>
            <a:xfrm>
              <a:off x="458157" y="2035925"/>
              <a:ext cx="0" cy="1699895"/>
            </a:xfrm>
            <a:custGeom>
              <a:avLst/>
              <a:gdLst/>
              <a:ahLst/>
              <a:cxnLst/>
              <a:rect l="l" t="t" r="r" b="b"/>
              <a:pathLst>
                <a:path h="1699895">
                  <a:moveTo>
                    <a:pt x="0" y="0"/>
                  </a:moveTo>
                  <a:lnTo>
                    <a:pt x="0" y="1699285"/>
                  </a:lnTo>
                </a:path>
              </a:pathLst>
            </a:custGeom>
            <a:ln w="12700">
              <a:solidFill>
                <a:srgbClr val="000000"/>
              </a:solidFill>
            </a:ln>
          </p:spPr>
          <p:txBody>
            <a:bodyPr wrap="square" lIns="0" tIns="0" rIns="0" bIns="0" rtlCol="0"/>
            <a:lstStyle/>
            <a:p>
              <a:endParaRPr/>
            </a:p>
          </p:txBody>
        </p:sp>
        <p:sp>
          <p:nvSpPr>
            <p:cNvPr id="6" name="object 6"/>
            <p:cNvSpPr/>
            <p:nvPr/>
          </p:nvSpPr>
          <p:spPr>
            <a:xfrm>
              <a:off x="6373182" y="2035925"/>
              <a:ext cx="0" cy="1699895"/>
            </a:xfrm>
            <a:custGeom>
              <a:avLst/>
              <a:gdLst/>
              <a:ahLst/>
              <a:cxnLst/>
              <a:rect l="l" t="t" r="r" b="b"/>
              <a:pathLst>
                <a:path h="1699895">
                  <a:moveTo>
                    <a:pt x="0" y="0"/>
                  </a:moveTo>
                  <a:lnTo>
                    <a:pt x="0" y="1699285"/>
                  </a:lnTo>
                </a:path>
              </a:pathLst>
            </a:custGeom>
            <a:ln w="12700">
              <a:solidFill>
                <a:srgbClr val="000000"/>
              </a:solidFill>
            </a:ln>
          </p:spPr>
          <p:txBody>
            <a:bodyPr wrap="square" lIns="0" tIns="0" rIns="0" bIns="0" rtlCol="0"/>
            <a:lstStyle/>
            <a:p>
              <a:endParaRPr/>
            </a:p>
          </p:txBody>
        </p:sp>
        <p:sp>
          <p:nvSpPr>
            <p:cNvPr id="7" name="object 7"/>
            <p:cNvSpPr/>
            <p:nvPr/>
          </p:nvSpPr>
          <p:spPr>
            <a:xfrm>
              <a:off x="451807" y="2042275"/>
              <a:ext cx="5927725" cy="0"/>
            </a:xfrm>
            <a:custGeom>
              <a:avLst/>
              <a:gdLst/>
              <a:ahLst/>
              <a:cxnLst/>
              <a:rect l="l" t="t" r="r" b="b"/>
              <a:pathLst>
                <a:path w="5927725">
                  <a:moveTo>
                    <a:pt x="0" y="0"/>
                  </a:moveTo>
                  <a:lnTo>
                    <a:pt x="5927725" y="0"/>
                  </a:lnTo>
                </a:path>
              </a:pathLst>
            </a:custGeom>
            <a:ln w="12700">
              <a:solidFill>
                <a:srgbClr val="000000"/>
              </a:solidFill>
            </a:ln>
          </p:spPr>
          <p:txBody>
            <a:bodyPr wrap="square" lIns="0" tIns="0" rIns="0" bIns="0" rtlCol="0"/>
            <a:lstStyle/>
            <a:p>
              <a:endParaRPr/>
            </a:p>
          </p:txBody>
        </p:sp>
        <p:sp>
          <p:nvSpPr>
            <p:cNvPr id="8" name="object 8"/>
            <p:cNvSpPr/>
            <p:nvPr/>
          </p:nvSpPr>
          <p:spPr>
            <a:xfrm>
              <a:off x="451807" y="3728863"/>
              <a:ext cx="5927725" cy="0"/>
            </a:xfrm>
            <a:custGeom>
              <a:avLst/>
              <a:gdLst/>
              <a:ahLst/>
              <a:cxnLst/>
              <a:rect l="l" t="t" r="r" b="b"/>
              <a:pathLst>
                <a:path w="5927725">
                  <a:moveTo>
                    <a:pt x="0" y="0"/>
                  </a:moveTo>
                  <a:lnTo>
                    <a:pt x="5927725" y="0"/>
                  </a:lnTo>
                </a:path>
              </a:pathLst>
            </a:custGeom>
            <a:ln w="12700">
              <a:solidFill>
                <a:srgbClr val="000000"/>
              </a:solidFill>
            </a:ln>
          </p:spPr>
          <p:txBody>
            <a:bodyPr wrap="square" lIns="0" tIns="0" rIns="0" bIns="0" rtlCol="0"/>
            <a:lstStyle/>
            <a:p>
              <a:endParaRPr/>
            </a:p>
          </p:txBody>
        </p:sp>
        <p:sp>
          <p:nvSpPr>
            <p:cNvPr id="9" name="object 9"/>
            <p:cNvSpPr/>
            <p:nvPr/>
          </p:nvSpPr>
          <p:spPr>
            <a:xfrm>
              <a:off x="420446" y="7305472"/>
              <a:ext cx="0" cy="1717675"/>
            </a:xfrm>
            <a:custGeom>
              <a:avLst/>
              <a:gdLst/>
              <a:ahLst/>
              <a:cxnLst/>
              <a:rect l="l" t="t" r="r" b="b"/>
              <a:pathLst>
                <a:path h="1717675">
                  <a:moveTo>
                    <a:pt x="0" y="0"/>
                  </a:moveTo>
                  <a:lnTo>
                    <a:pt x="0" y="1717205"/>
                  </a:lnTo>
                </a:path>
              </a:pathLst>
            </a:custGeom>
            <a:ln w="12700">
              <a:solidFill>
                <a:srgbClr val="000000"/>
              </a:solidFill>
            </a:ln>
          </p:spPr>
          <p:txBody>
            <a:bodyPr wrap="square" lIns="0" tIns="0" rIns="0" bIns="0" rtlCol="0"/>
            <a:lstStyle/>
            <a:p>
              <a:endParaRPr/>
            </a:p>
          </p:txBody>
        </p:sp>
        <p:sp>
          <p:nvSpPr>
            <p:cNvPr id="10" name="object 10"/>
            <p:cNvSpPr/>
            <p:nvPr/>
          </p:nvSpPr>
          <p:spPr>
            <a:xfrm>
              <a:off x="6335471" y="7305472"/>
              <a:ext cx="0" cy="1717675"/>
            </a:xfrm>
            <a:custGeom>
              <a:avLst/>
              <a:gdLst/>
              <a:ahLst/>
              <a:cxnLst/>
              <a:rect l="l" t="t" r="r" b="b"/>
              <a:pathLst>
                <a:path h="1717675">
                  <a:moveTo>
                    <a:pt x="0" y="0"/>
                  </a:moveTo>
                  <a:lnTo>
                    <a:pt x="0" y="1717205"/>
                  </a:lnTo>
                </a:path>
              </a:pathLst>
            </a:custGeom>
            <a:ln w="12700">
              <a:solidFill>
                <a:srgbClr val="000000"/>
              </a:solidFill>
            </a:ln>
          </p:spPr>
          <p:txBody>
            <a:bodyPr wrap="square" lIns="0" tIns="0" rIns="0" bIns="0" rtlCol="0"/>
            <a:lstStyle/>
            <a:p>
              <a:endParaRPr/>
            </a:p>
          </p:txBody>
        </p:sp>
        <p:sp>
          <p:nvSpPr>
            <p:cNvPr id="11" name="object 11"/>
            <p:cNvSpPr/>
            <p:nvPr/>
          </p:nvSpPr>
          <p:spPr>
            <a:xfrm>
              <a:off x="414096" y="7311822"/>
              <a:ext cx="5927725" cy="0"/>
            </a:xfrm>
            <a:custGeom>
              <a:avLst/>
              <a:gdLst/>
              <a:ahLst/>
              <a:cxnLst/>
              <a:rect l="l" t="t" r="r" b="b"/>
              <a:pathLst>
                <a:path w="5927725">
                  <a:moveTo>
                    <a:pt x="0" y="0"/>
                  </a:moveTo>
                  <a:lnTo>
                    <a:pt x="5927725" y="0"/>
                  </a:lnTo>
                </a:path>
              </a:pathLst>
            </a:custGeom>
            <a:ln w="12700">
              <a:solidFill>
                <a:srgbClr val="000000"/>
              </a:solidFill>
            </a:ln>
          </p:spPr>
          <p:txBody>
            <a:bodyPr wrap="square" lIns="0" tIns="0" rIns="0" bIns="0" rtlCol="0"/>
            <a:lstStyle/>
            <a:p>
              <a:endParaRPr/>
            </a:p>
          </p:txBody>
        </p:sp>
        <p:sp>
          <p:nvSpPr>
            <p:cNvPr id="12" name="object 12"/>
            <p:cNvSpPr/>
            <p:nvPr/>
          </p:nvSpPr>
          <p:spPr>
            <a:xfrm>
              <a:off x="414096" y="9016326"/>
              <a:ext cx="5927725" cy="0"/>
            </a:xfrm>
            <a:custGeom>
              <a:avLst/>
              <a:gdLst/>
              <a:ahLst/>
              <a:cxnLst/>
              <a:rect l="l" t="t" r="r" b="b"/>
              <a:pathLst>
                <a:path w="5927725">
                  <a:moveTo>
                    <a:pt x="0" y="0"/>
                  </a:moveTo>
                  <a:lnTo>
                    <a:pt x="5927725" y="0"/>
                  </a:lnTo>
                </a:path>
              </a:pathLst>
            </a:custGeom>
            <a:ln w="12700">
              <a:solidFill>
                <a:srgbClr val="000000"/>
              </a:solidFill>
            </a:ln>
          </p:spPr>
          <p:txBody>
            <a:bodyPr wrap="square" lIns="0" tIns="0" rIns="0" bIns="0" rtlCol="0"/>
            <a:lstStyle/>
            <a:p>
              <a:endParaRPr/>
            </a:p>
          </p:txBody>
        </p:sp>
      </p:grpSp>
      <p:sp>
        <p:nvSpPr>
          <p:cNvPr id="13" name="object 13"/>
          <p:cNvSpPr txBox="1"/>
          <p:nvPr/>
        </p:nvSpPr>
        <p:spPr>
          <a:xfrm>
            <a:off x="410347" y="6852131"/>
            <a:ext cx="5651500" cy="177800"/>
          </a:xfrm>
          <a:prstGeom prst="rect">
            <a:avLst/>
          </a:prstGeom>
        </p:spPr>
        <p:txBody>
          <a:bodyPr vert="horz" wrap="square" lIns="0" tIns="12065" rIns="0" bIns="0" rtlCol="0">
            <a:spAutoFit/>
          </a:bodyPr>
          <a:lstStyle/>
          <a:p>
            <a:pPr marL="12700">
              <a:lnSpc>
                <a:spcPct val="100000"/>
              </a:lnSpc>
              <a:spcBef>
                <a:spcPts val="95"/>
              </a:spcBef>
            </a:pPr>
            <a:r>
              <a:rPr sz="1000" b="1" dirty="0">
                <a:latin typeface="Calibri"/>
                <a:cs typeface="Calibri"/>
              </a:rPr>
              <a:t>Q11)</a:t>
            </a:r>
            <a:r>
              <a:rPr sz="1000" b="1" spc="95" dirty="0">
                <a:latin typeface="Calibri"/>
                <a:cs typeface="Calibri"/>
              </a:rPr>
              <a:t> </a:t>
            </a:r>
            <a:r>
              <a:rPr sz="1000" b="1" dirty="0">
                <a:latin typeface="Calibri"/>
                <a:cs typeface="Calibri"/>
              </a:rPr>
              <a:t>4.1</a:t>
            </a:r>
            <a:r>
              <a:rPr sz="1000" b="1" spc="90" dirty="0">
                <a:latin typeface="Calibri"/>
                <a:cs typeface="Calibri"/>
              </a:rPr>
              <a:t> </a:t>
            </a:r>
            <a:r>
              <a:rPr sz="1000" b="1" spc="114" dirty="0">
                <a:latin typeface="Calibri"/>
                <a:cs typeface="Calibri"/>
              </a:rPr>
              <a:t>Explain </a:t>
            </a:r>
            <a:r>
              <a:rPr sz="1000" dirty="0">
                <a:latin typeface="Century Gothic"/>
                <a:cs typeface="Century Gothic"/>
              </a:rPr>
              <a:t>how</a:t>
            </a:r>
            <a:r>
              <a:rPr sz="1000" spc="15" dirty="0">
                <a:latin typeface="Century Gothic"/>
                <a:cs typeface="Century Gothic"/>
              </a:rPr>
              <a:t> </a:t>
            </a:r>
            <a:r>
              <a:rPr sz="1000" spc="-20" dirty="0">
                <a:latin typeface="Century Gothic"/>
                <a:cs typeface="Century Gothic"/>
              </a:rPr>
              <a:t>everyday</a:t>
            </a:r>
            <a:r>
              <a:rPr sz="1000" spc="15" dirty="0">
                <a:latin typeface="Century Gothic"/>
                <a:cs typeface="Century Gothic"/>
              </a:rPr>
              <a:t> </a:t>
            </a:r>
            <a:r>
              <a:rPr sz="1000" dirty="0">
                <a:latin typeface="Century Gothic"/>
                <a:cs typeface="Century Gothic"/>
              </a:rPr>
              <a:t>activities</a:t>
            </a:r>
            <a:r>
              <a:rPr sz="1000" spc="25" dirty="0">
                <a:latin typeface="Century Gothic"/>
                <a:cs typeface="Century Gothic"/>
              </a:rPr>
              <a:t> </a:t>
            </a:r>
            <a:r>
              <a:rPr sz="1000" spc="-45" dirty="0">
                <a:latin typeface="Century Gothic"/>
                <a:cs typeface="Century Gothic"/>
              </a:rPr>
              <a:t>can</a:t>
            </a:r>
            <a:r>
              <a:rPr sz="1000" spc="15" dirty="0">
                <a:latin typeface="Century Gothic"/>
                <a:cs typeface="Century Gothic"/>
              </a:rPr>
              <a:t> </a:t>
            </a:r>
            <a:r>
              <a:rPr sz="1000" dirty="0">
                <a:latin typeface="Century Gothic"/>
                <a:cs typeface="Century Gothic"/>
              </a:rPr>
              <a:t>help</a:t>
            </a:r>
            <a:r>
              <a:rPr sz="1000" spc="35" dirty="0">
                <a:latin typeface="Century Gothic"/>
                <a:cs typeface="Century Gothic"/>
              </a:rPr>
              <a:t> </a:t>
            </a:r>
            <a:r>
              <a:rPr sz="1000" spc="-10" dirty="0">
                <a:latin typeface="Century Gothic"/>
                <a:cs typeface="Century Gothic"/>
              </a:rPr>
              <a:t>develop</a:t>
            </a:r>
            <a:r>
              <a:rPr sz="1000" spc="30" dirty="0">
                <a:latin typeface="Century Gothic"/>
                <a:cs typeface="Century Gothic"/>
              </a:rPr>
              <a:t> </a:t>
            </a:r>
            <a:r>
              <a:rPr sz="1000" dirty="0">
                <a:latin typeface="Century Gothic"/>
                <a:cs typeface="Century Gothic"/>
              </a:rPr>
              <a:t>transferable</a:t>
            </a:r>
            <a:r>
              <a:rPr sz="1000" spc="25" dirty="0">
                <a:latin typeface="Century Gothic"/>
                <a:cs typeface="Century Gothic"/>
              </a:rPr>
              <a:t> </a:t>
            </a:r>
            <a:r>
              <a:rPr sz="1000" spc="75" dirty="0">
                <a:latin typeface="Century Gothic"/>
                <a:cs typeface="Century Gothic"/>
              </a:rPr>
              <a:t>skills</a:t>
            </a:r>
            <a:r>
              <a:rPr sz="1000" spc="50" dirty="0">
                <a:latin typeface="Century Gothic"/>
                <a:cs typeface="Century Gothic"/>
              </a:rPr>
              <a:t> </a:t>
            </a:r>
            <a:r>
              <a:rPr sz="1000" spc="-20" dirty="0">
                <a:latin typeface="Century Gothic"/>
                <a:cs typeface="Century Gothic"/>
              </a:rPr>
              <a:t>and</a:t>
            </a:r>
            <a:r>
              <a:rPr sz="1000" spc="10" dirty="0">
                <a:latin typeface="Century Gothic"/>
                <a:cs typeface="Century Gothic"/>
              </a:rPr>
              <a:t> </a:t>
            </a:r>
            <a:r>
              <a:rPr sz="1000" spc="-10" dirty="0">
                <a:latin typeface="Century Gothic"/>
                <a:cs typeface="Century Gothic"/>
              </a:rPr>
              <a:t>qualities.</a:t>
            </a:r>
            <a:endParaRPr sz="1000" dirty="0">
              <a:latin typeface="Century Gothic"/>
              <a:cs typeface="Century Gothic"/>
            </a:endParaRPr>
          </a:p>
        </p:txBody>
      </p:sp>
      <p:sp>
        <p:nvSpPr>
          <p:cNvPr id="17" name="object 17"/>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18" name="object 18"/>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9</a:t>
            </a:fld>
            <a:endParaRPr spc="-25" dirty="0"/>
          </a:p>
        </p:txBody>
      </p:sp>
      <p:graphicFrame>
        <p:nvGraphicFramePr>
          <p:cNvPr id="14" name="object 14"/>
          <p:cNvGraphicFramePr>
            <a:graphicFrameLocks noGrp="1"/>
          </p:cNvGraphicFramePr>
          <p:nvPr/>
        </p:nvGraphicFramePr>
        <p:xfrm>
          <a:off x="429712" y="4454423"/>
          <a:ext cx="5935980" cy="2219325"/>
        </p:xfrm>
        <a:graphic>
          <a:graphicData uri="http://schemas.openxmlformats.org/drawingml/2006/table">
            <a:tbl>
              <a:tblPr firstRow="1" bandRow="1">
                <a:tableStyleId>{2D5ABB26-0587-4C30-8999-92F81FD0307C}</a:tableStyleId>
              </a:tblPr>
              <a:tblGrid>
                <a:gridCol w="5935980">
                  <a:extLst>
                    <a:ext uri="{9D8B030D-6E8A-4147-A177-3AD203B41FA5}">
                      <a16:colId xmlns:a16="http://schemas.microsoft.com/office/drawing/2014/main" val="20000"/>
                    </a:ext>
                  </a:extLst>
                </a:gridCol>
              </a:tblGrid>
              <a:tr h="400050">
                <a:tc>
                  <a:txBody>
                    <a:bodyPr/>
                    <a:lstStyle/>
                    <a:p>
                      <a:pPr algn="ctr">
                        <a:lnSpc>
                          <a:spcPct val="100000"/>
                        </a:lnSpc>
                        <a:spcBef>
                          <a:spcPts val="200"/>
                        </a:spcBef>
                      </a:pPr>
                      <a:r>
                        <a:rPr sz="900" b="1" spc="85" dirty="0">
                          <a:latin typeface="Calibri"/>
                          <a:cs typeface="Calibri"/>
                        </a:rPr>
                        <a:t>Opportunities</a:t>
                      </a:r>
                      <a:endParaRPr sz="900">
                        <a:latin typeface="Calibri"/>
                        <a:cs typeface="Calibri"/>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606425">
                <a:tc>
                  <a:txBody>
                    <a:bodyPr/>
                    <a:lstStyle/>
                    <a:p>
                      <a:pPr marL="62230">
                        <a:lnSpc>
                          <a:spcPct val="100000"/>
                        </a:lnSpc>
                        <a:spcBef>
                          <a:spcPts val="200"/>
                        </a:spcBef>
                      </a:pPr>
                      <a:r>
                        <a:rPr sz="900" spc="-25" dirty="0">
                          <a:latin typeface="Century Gothic"/>
                          <a:cs typeface="Century Gothic"/>
                        </a:rPr>
                        <a:t>1)</a:t>
                      </a:r>
                      <a:endParaRPr sz="900" dirty="0">
                        <a:latin typeface="Century Gothic"/>
                        <a:cs typeface="Century Gothic"/>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606425">
                <a:tc>
                  <a:txBody>
                    <a:bodyPr/>
                    <a:lstStyle/>
                    <a:p>
                      <a:pPr marL="62230">
                        <a:lnSpc>
                          <a:spcPct val="100000"/>
                        </a:lnSpc>
                        <a:spcBef>
                          <a:spcPts val="200"/>
                        </a:spcBef>
                      </a:pPr>
                      <a:r>
                        <a:rPr sz="900" spc="-25" dirty="0">
                          <a:latin typeface="Century Gothic"/>
                          <a:cs typeface="Century Gothic"/>
                        </a:rPr>
                        <a:t>2)</a:t>
                      </a:r>
                      <a:endParaRPr sz="900">
                        <a:latin typeface="Century Gothic"/>
                        <a:cs typeface="Century Gothic"/>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606425">
                <a:tc>
                  <a:txBody>
                    <a:bodyPr/>
                    <a:lstStyle/>
                    <a:p>
                      <a:pPr marL="62230">
                        <a:lnSpc>
                          <a:spcPct val="100000"/>
                        </a:lnSpc>
                        <a:spcBef>
                          <a:spcPts val="200"/>
                        </a:spcBef>
                      </a:pPr>
                      <a:r>
                        <a:rPr sz="900" spc="-25" dirty="0">
                          <a:latin typeface="Century Gothic"/>
                          <a:cs typeface="Century Gothic"/>
                        </a:rPr>
                        <a:t>3)</a:t>
                      </a:r>
                      <a:endParaRPr sz="900" dirty="0">
                        <a:latin typeface="Century Gothic"/>
                        <a:cs typeface="Century Gothic"/>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15" name="object 15"/>
          <p:cNvSpPr txBox="1"/>
          <p:nvPr/>
        </p:nvSpPr>
        <p:spPr>
          <a:xfrm>
            <a:off x="410347" y="4049608"/>
            <a:ext cx="3891279" cy="177800"/>
          </a:xfrm>
          <a:prstGeom prst="rect">
            <a:avLst/>
          </a:prstGeom>
        </p:spPr>
        <p:txBody>
          <a:bodyPr vert="horz" wrap="square" lIns="0" tIns="12065" rIns="0" bIns="0" rtlCol="0">
            <a:spAutoFit/>
          </a:bodyPr>
          <a:lstStyle/>
          <a:p>
            <a:pPr marL="12700">
              <a:lnSpc>
                <a:spcPct val="100000"/>
              </a:lnSpc>
              <a:spcBef>
                <a:spcPts val="95"/>
              </a:spcBef>
            </a:pPr>
            <a:r>
              <a:rPr sz="1000" b="1" spc="55" dirty="0">
                <a:latin typeface="Calibri"/>
                <a:cs typeface="Calibri"/>
              </a:rPr>
              <a:t>Q10)</a:t>
            </a:r>
            <a:r>
              <a:rPr sz="1000" b="1" spc="160" dirty="0">
                <a:latin typeface="Calibri"/>
                <a:cs typeface="Calibri"/>
              </a:rPr>
              <a:t> </a:t>
            </a:r>
            <a:r>
              <a:rPr sz="1000" b="1" spc="10" dirty="0">
                <a:latin typeface="Calibri"/>
                <a:cs typeface="Calibri"/>
              </a:rPr>
              <a:t>3.3</a:t>
            </a:r>
            <a:r>
              <a:rPr sz="1000" b="1" spc="120" dirty="0">
                <a:latin typeface="Calibri"/>
                <a:cs typeface="Calibri"/>
              </a:rPr>
              <a:t> </a:t>
            </a:r>
            <a:r>
              <a:rPr sz="1000" b="1" spc="114" dirty="0">
                <a:latin typeface="Calibri"/>
                <a:cs typeface="Calibri"/>
              </a:rPr>
              <a:t>Provide</a:t>
            </a:r>
            <a:r>
              <a:rPr sz="1000" b="1" spc="145" dirty="0">
                <a:latin typeface="Calibri"/>
                <a:cs typeface="Calibri"/>
              </a:rPr>
              <a:t> </a:t>
            </a:r>
            <a:r>
              <a:rPr sz="1000" spc="10" dirty="0">
                <a:latin typeface="Century Gothic"/>
                <a:cs typeface="Century Gothic"/>
              </a:rPr>
              <a:t>examples</a:t>
            </a:r>
            <a:r>
              <a:rPr sz="1000" spc="100" dirty="0">
                <a:latin typeface="Century Gothic"/>
                <a:cs typeface="Century Gothic"/>
              </a:rPr>
              <a:t> </a:t>
            </a:r>
            <a:r>
              <a:rPr sz="1000" spc="10" dirty="0">
                <a:latin typeface="Century Gothic"/>
                <a:cs typeface="Century Gothic"/>
              </a:rPr>
              <a:t>of</a:t>
            </a:r>
            <a:r>
              <a:rPr sz="1000" spc="60" dirty="0">
                <a:latin typeface="Century Gothic"/>
                <a:cs typeface="Century Gothic"/>
              </a:rPr>
              <a:t> </a:t>
            </a:r>
            <a:r>
              <a:rPr sz="1000" spc="10" dirty="0">
                <a:latin typeface="Century Gothic"/>
                <a:cs typeface="Century Gothic"/>
              </a:rPr>
              <a:t>opportunities</a:t>
            </a:r>
            <a:r>
              <a:rPr sz="1000" spc="75" dirty="0">
                <a:latin typeface="Century Gothic"/>
                <a:cs typeface="Century Gothic"/>
              </a:rPr>
              <a:t> </a:t>
            </a:r>
            <a:r>
              <a:rPr sz="1000" spc="10" dirty="0">
                <a:latin typeface="Century Gothic"/>
                <a:cs typeface="Century Gothic"/>
              </a:rPr>
              <a:t>that</a:t>
            </a:r>
            <a:r>
              <a:rPr sz="1000" spc="50" dirty="0">
                <a:latin typeface="Century Gothic"/>
                <a:cs typeface="Century Gothic"/>
              </a:rPr>
              <a:t> </a:t>
            </a:r>
            <a:r>
              <a:rPr sz="1000" spc="10" dirty="0">
                <a:latin typeface="Century Gothic"/>
                <a:cs typeface="Century Gothic"/>
              </a:rPr>
              <a:t>interest</a:t>
            </a:r>
            <a:r>
              <a:rPr sz="1000" spc="65" dirty="0">
                <a:latin typeface="Century Gothic"/>
                <a:cs typeface="Century Gothic"/>
              </a:rPr>
              <a:t> </a:t>
            </a:r>
            <a:r>
              <a:rPr sz="1000" spc="-20" dirty="0">
                <a:latin typeface="Century Gothic"/>
                <a:cs typeface="Century Gothic"/>
              </a:rPr>
              <a:t>you.</a:t>
            </a:r>
            <a:endParaRPr sz="1000" dirty="0">
              <a:latin typeface="Century Gothic"/>
              <a:cs typeface="Century Gothic"/>
            </a:endParaRPr>
          </a:p>
        </p:txBody>
      </p:sp>
      <p:sp>
        <p:nvSpPr>
          <p:cNvPr id="16" name="object 16"/>
          <p:cNvSpPr txBox="1"/>
          <p:nvPr/>
        </p:nvSpPr>
        <p:spPr>
          <a:xfrm>
            <a:off x="2250004" y="476009"/>
            <a:ext cx="2310765" cy="574040"/>
          </a:xfrm>
          <a:prstGeom prst="rect">
            <a:avLst/>
          </a:prstGeom>
        </p:spPr>
        <p:txBody>
          <a:bodyPr vert="horz" wrap="square" lIns="0" tIns="12700" rIns="0" bIns="0" rtlCol="0">
            <a:spAutoFit/>
          </a:bodyPr>
          <a:lstStyle/>
          <a:p>
            <a:pPr marL="188595" marR="5080" indent="-176530">
              <a:lnSpc>
                <a:spcPct val="100000"/>
              </a:lnSpc>
              <a:spcBef>
                <a:spcPts val="100"/>
              </a:spcBef>
            </a:pPr>
            <a:r>
              <a:rPr sz="1800" spc="229" dirty="0">
                <a:latin typeface="Calibri"/>
                <a:cs typeface="Calibri"/>
              </a:rPr>
              <a:t>IDENTIFY</a:t>
            </a:r>
            <a:r>
              <a:rPr sz="1800" spc="50" dirty="0">
                <a:latin typeface="Calibri"/>
                <a:cs typeface="Calibri"/>
              </a:rPr>
              <a:t> </a:t>
            </a:r>
            <a:r>
              <a:rPr sz="1800" spc="235" dirty="0">
                <a:latin typeface="Calibri"/>
                <a:cs typeface="Calibri"/>
              </a:rPr>
              <a:t>SUITABLE </a:t>
            </a:r>
            <a:r>
              <a:rPr sz="1800" spc="240" dirty="0">
                <a:latin typeface="Calibri"/>
                <a:cs typeface="Calibri"/>
              </a:rPr>
              <a:t>OPPORTUNITIES</a:t>
            </a:r>
            <a:endParaRPr sz="1800">
              <a:latin typeface="Calibri"/>
              <a:cs typeface="Calibri"/>
            </a:endParaRPr>
          </a:p>
        </p:txBody>
      </p:sp>
      <p:sp>
        <p:nvSpPr>
          <p:cNvPr id="19" name="TextBox 18">
            <a:extLst>
              <a:ext uri="{FF2B5EF4-FFF2-40B4-BE49-F238E27FC236}">
                <a16:creationId xmlns:a16="http://schemas.microsoft.com/office/drawing/2014/main" id="{4F48C030-25BB-E6EF-562B-7023339EFC03}"/>
              </a:ext>
            </a:extLst>
          </p:cNvPr>
          <p:cNvSpPr txBox="1"/>
          <p:nvPr/>
        </p:nvSpPr>
        <p:spPr>
          <a:xfrm>
            <a:off x="464508" y="2052250"/>
            <a:ext cx="5915024" cy="1384995"/>
          </a:xfrm>
          <a:prstGeom prst="rect">
            <a:avLst/>
          </a:prstGeom>
          <a:noFill/>
          <a:ln>
            <a:solidFill>
              <a:schemeClr val="tx1"/>
            </a:solidFill>
          </a:ln>
        </p:spPr>
        <p:txBody>
          <a:bodyPr wrap="square" rtlCol="0">
            <a:spAutoFit/>
          </a:bodyPr>
          <a:lstStyle/>
          <a:p>
            <a:r>
              <a:rPr lang="en-GB" sz="1400" dirty="0"/>
              <a:t>Support networks available to me include LinkedIn, which is a digital platform that provides job opportunities, networking, and career advice. I can also access university or training provider career services, which offer support with CVs, interviews, and job searching. In addition, government employment services such as Jobcentre Plus provide guidance and access to job vacancies.</a:t>
            </a:r>
          </a:p>
        </p:txBody>
      </p:sp>
      <p:sp>
        <p:nvSpPr>
          <p:cNvPr id="20" name="TextBox 19">
            <a:extLst>
              <a:ext uri="{FF2B5EF4-FFF2-40B4-BE49-F238E27FC236}">
                <a16:creationId xmlns:a16="http://schemas.microsoft.com/office/drawing/2014/main" id="{B04CE5DB-B182-D866-9B00-66FDAA3493CD}"/>
              </a:ext>
            </a:extLst>
          </p:cNvPr>
          <p:cNvSpPr txBox="1"/>
          <p:nvPr/>
        </p:nvSpPr>
        <p:spPr>
          <a:xfrm>
            <a:off x="762000" y="4921287"/>
            <a:ext cx="5486400" cy="369332"/>
          </a:xfrm>
          <a:prstGeom prst="rect">
            <a:avLst/>
          </a:prstGeom>
          <a:noFill/>
          <a:ln>
            <a:solidFill>
              <a:schemeClr val="tx1"/>
            </a:solidFill>
          </a:ln>
        </p:spPr>
        <p:txBody>
          <a:bodyPr wrap="square" rtlCol="0">
            <a:spAutoFit/>
          </a:bodyPr>
          <a:lstStyle/>
          <a:p>
            <a:r>
              <a:rPr lang="en-GB" dirty="0"/>
              <a:t>Junior Data Analyst</a:t>
            </a:r>
          </a:p>
        </p:txBody>
      </p:sp>
      <p:sp>
        <p:nvSpPr>
          <p:cNvPr id="21" name="TextBox 20">
            <a:extLst>
              <a:ext uri="{FF2B5EF4-FFF2-40B4-BE49-F238E27FC236}">
                <a16:creationId xmlns:a16="http://schemas.microsoft.com/office/drawing/2014/main" id="{0E7BBFD8-ED13-C80F-43FB-E43108FE199B}"/>
              </a:ext>
            </a:extLst>
          </p:cNvPr>
          <p:cNvSpPr txBox="1"/>
          <p:nvPr/>
        </p:nvSpPr>
        <p:spPr>
          <a:xfrm>
            <a:off x="762000" y="5535447"/>
            <a:ext cx="5486400" cy="369332"/>
          </a:xfrm>
          <a:prstGeom prst="rect">
            <a:avLst/>
          </a:prstGeom>
          <a:noFill/>
          <a:ln>
            <a:solidFill>
              <a:schemeClr val="tx1"/>
            </a:solidFill>
          </a:ln>
        </p:spPr>
        <p:txBody>
          <a:bodyPr wrap="square" rtlCol="0">
            <a:spAutoFit/>
          </a:bodyPr>
          <a:lstStyle/>
          <a:p>
            <a:r>
              <a:rPr lang="en-GB" dirty="0"/>
              <a:t>Predictive Analyst</a:t>
            </a:r>
          </a:p>
        </p:txBody>
      </p:sp>
      <p:sp>
        <p:nvSpPr>
          <p:cNvPr id="22" name="TextBox 21">
            <a:extLst>
              <a:ext uri="{FF2B5EF4-FFF2-40B4-BE49-F238E27FC236}">
                <a16:creationId xmlns:a16="http://schemas.microsoft.com/office/drawing/2014/main" id="{75285144-CFDA-E42B-0A1A-6154BFF3B3A5}"/>
              </a:ext>
            </a:extLst>
          </p:cNvPr>
          <p:cNvSpPr txBox="1"/>
          <p:nvPr/>
        </p:nvSpPr>
        <p:spPr>
          <a:xfrm>
            <a:off x="762000" y="6173521"/>
            <a:ext cx="5486400" cy="369332"/>
          </a:xfrm>
          <a:prstGeom prst="rect">
            <a:avLst/>
          </a:prstGeom>
          <a:noFill/>
          <a:ln>
            <a:solidFill>
              <a:schemeClr val="tx1"/>
            </a:solidFill>
          </a:ln>
        </p:spPr>
        <p:txBody>
          <a:bodyPr wrap="square" rtlCol="0">
            <a:spAutoFit/>
          </a:bodyPr>
          <a:lstStyle/>
          <a:p>
            <a:r>
              <a:rPr lang="en-GB" dirty="0"/>
              <a:t>Data Science Internship</a:t>
            </a:r>
          </a:p>
        </p:txBody>
      </p:sp>
      <p:sp>
        <p:nvSpPr>
          <p:cNvPr id="23" name="TextBox 22">
            <a:extLst>
              <a:ext uri="{FF2B5EF4-FFF2-40B4-BE49-F238E27FC236}">
                <a16:creationId xmlns:a16="http://schemas.microsoft.com/office/drawing/2014/main" id="{1BCBF0E3-E0AF-2ABD-A2A1-6602013D10B9}"/>
              </a:ext>
            </a:extLst>
          </p:cNvPr>
          <p:cNvSpPr txBox="1"/>
          <p:nvPr/>
        </p:nvSpPr>
        <p:spPr>
          <a:xfrm>
            <a:off x="501672" y="7370060"/>
            <a:ext cx="5746719" cy="1384995"/>
          </a:xfrm>
          <a:prstGeom prst="rect">
            <a:avLst/>
          </a:prstGeom>
          <a:noFill/>
          <a:ln>
            <a:solidFill>
              <a:schemeClr val="tx1"/>
            </a:solidFill>
          </a:ln>
        </p:spPr>
        <p:txBody>
          <a:bodyPr wrap="square" rtlCol="0">
            <a:spAutoFit/>
          </a:bodyPr>
          <a:lstStyle/>
          <a:p>
            <a:r>
              <a:rPr lang="en-GB" sz="1200" dirty="0"/>
              <a:t>Everyday activities help develop transferable skills and qualities by allowing individuals to practise them in real situations. For example, managing daily tasks or study schedules develops time management and organisation skills. Communicating with others in group activities or family responsibilities improves communication and teamwork. Solving everyday problems helps build problem-solving skills, confidence, and adaptability, which can be applied in many different work environments.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16879" y="463295"/>
            <a:ext cx="890003" cy="536447"/>
          </a:xfrm>
          <a:prstGeom prst="rect">
            <a:avLst/>
          </a:prstGeom>
        </p:spPr>
      </p:pic>
      <p:sp>
        <p:nvSpPr>
          <p:cNvPr id="3" name="object 3"/>
          <p:cNvSpPr txBox="1"/>
          <p:nvPr/>
        </p:nvSpPr>
        <p:spPr>
          <a:xfrm>
            <a:off x="411396" y="1667555"/>
            <a:ext cx="4985385" cy="177800"/>
          </a:xfrm>
          <a:prstGeom prst="rect">
            <a:avLst/>
          </a:prstGeom>
        </p:spPr>
        <p:txBody>
          <a:bodyPr vert="horz" wrap="square" lIns="0" tIns="12065" rIns="0" bIns="0" rtlCol="0">
            <a:spAutoFit/>
          </a:bodyPr>
          <a:lstStyle/>
          <a:p>
            <a:pPr marL="12700">
              <a:lnSpc>
                <a:spcPct val="100000"/>
              </a:lnSpc>
              <a:spcBef>
                <a:spcPts val="95"/>
              </a:spcBef>
            </a:pPr>
            <a:r>
              <a:rPr sz="1000" b="1" dirty="0">
                <a:latin typeface="Calibri"/>
                <a:cs typeface="Calibri"/>
              </a:rPr>
              <a:t>Q12)</a:t>
            </a:r>
            <a:r>
              <a:rPr sz="1000" b="1" spc="150" dirty="0">
                <a:latin typeface="Calibri"/>
                <a:cs typeface="Calibri"/>
              </a:rPr>
              <a:t> </a:t>
            </a:r>
            <a:r>
              <a:rPr sz="1000" b="1" spc="75" dirty="0">
                <a:latin typeface="Calibri"/>
                <a:cs typeface="Calibri"/>
              </a:rPr>
              <a:t>4.2</a:t>
            </a:r>
            <a:r>
              <a:rPr sz="1000" b="1" spc="145" dirty="0">
                <a:latin typeface="Calibri"/>
                <a:cs typeface="Calibri"/>
              </a:rPr>
              <a:t> </a:t>
            </a:r>
            <a:r>
              <a:rPr sz="1000" b="1" spc="114" dirty="0">
                <a:latin typeface="Calibri"/>
                <a:cs typeface="Calibri"/>
              </a:rPr>
              <a:t>Explain</a:t>
            </a:r>
            <a:r>
              <a:rPr sz="1000" b="1" spc="175" dirty="0">
                <a:latin typeface="Calibri"/>
                <a:cs typeface="Calibri"/>
              </a:rPr>
              <a:t> </a:t>
            </a:r>
            <a:r>
              <a:rPr sz="1000" dirty="0">
                <a:latin typeface="Century Gothic"/>
                <a:cs typeface="Century Gothic"/>
              </a:rPr>
              <a:t>how</a:t>
            </a:r>
            <a:r>
              <a:rPr sz="1000" spc="65" dirty="0">
                <a:latin typeface="Century Gothic"/>
                <a:cs typeface="Century Gothic"/>
              </a:rPr>
              <a:t> </a:t>
            </a:r>
            <a:r>
              <a:rPr sz="1000" dirty="0">
                <a:latin typeface="Century Gothic"/>
                <a:cs typeface="Century Gothic"/>
              </a:rPr>
              <a:t>other</a:t>
            </a:r>
            <a:r>
              <a:rPr sz="1000" spc="55" dirty="0">
                <a:latin typeface="Century Gothic"/>
                <a:cs typeface="Century Gothic"/>
              </a:rPr>
              <a:t> </a:t>
            </a:r>
            <a:r>
              <a:rPr sz="1000" dirty="0">
                <a:latin typeface="Century Gothic"/>
                <a:cs typeface="Century Gothic"/>
              </a:rPr>
              <a:t>initiatives</a:t>
            </a:r>
            <a:r>
              <a:rPr sz="1000" spc="105" dirty="0">
                <a:latin typeface="Century Gothic"/>
                <a:cs typeface="Century Gothic"/>
              </a:rPr>
              <a:t> </a:t>
            </a:r>
            <a:r>
              <a:rPr sz="1000" spc="-45" dirty="0">
                <a:latin typeface="Century Gothic"/>
                <a:cs typeface="Century Gothic"/>
              </a:rPr>
              <a:t>can</a:t>
            </a:r>
            <a:r>
              <a:rPr sz="1000" spc="60" dirty="0">
                <a:latin typeface="Century Gothic"/>
                <a:cs typeface="Century Gothic"/>
              </a:rPr>
              <a:t> </a:t>
            </a:r>
            <a:r>
              <a:rPr sz="1000" dirty="0">
                <a:latin typeface="Century Gothic"/>
                <a:cs typeface="Century Gothic"/>
              </a:rPr>
              <a:t>help</a:t>
            </a:r>
            <a:r>
              <a:rPr sz="1000" spc="80" dirty="0">
                <a:latin typeface="Century Gothic"/>
                <a:cs typeface="Century Gothic"/>
              </a:rPr>
              <a:t> </a:t>
            </a:r>
            <a:r>
              <a:rPr sz="1000" dirty="0">
                <a:latin typeface="Century Gothic"/>
                <a:cs typeface="Century Gothic"/>
              </a:rPr>
              <a:t>transferable</a:t>
            </a:r>
            <a:r>
              <a:rPr sz="1000" spc="75" dirty="0">
                <a:latin typeface="Century Gothic"/>
                <a:cs typeface="Century Gothic"/>
              </a:rPr>
              <a:t> skills</a:t>
            </a:r>
            <a:r>
              <a:rPr sz="1000" spc="105" dirty="0">
                <a:latin typeface="Century Gothic"/>
                <a:cs typeface="Century Gothic"/>
              </a:rPr>
              <a:t> </a:t>
            </a:r>
            <a:r>
              <a:rPr sz="1000" spc="-20" dirty="0">
                <a:latin typeface="Century Gothic"/>
                <a:cs typeface="Century Gothic"/>
              </a:rPr>
              <a:t>and</a:t>
            </a:r>
            <a:r>
              <a:rPr sz="1000" spc="55" dirty="0">
                <a:latin typeface="Century Gothic"/>
                <a:cs typeface="Century Gothic"/>
              </a:rPr>
              <a:t> </a:t>
            </a:r>
            <a:r>
              <a:rPr sz="1000" spc="-10" dirty="0">
                <a:latin typeface="Century Gothic"/>
                <a:cs typeface="Century Gothic"/>
              </a:rPr>
              <a:t>qualities.</a:t>
            </a:r>
            <a:endParaRPr sz="1000" dirty="0">
              <a:latin typeface="Century Gothic"/>
              <a:cs typeface="Century Gothic"/>
            </a:endParaRPr>
          </a:p>
        </p:txBody>
      </p:sp>
      <p:grpSp>
        <p:nvGrpSpPr>
          <p:cNvPr id="4" name="object 4"/>
          <p:cNvGrpSpPr/>
          <p:nvPr/>
        </p:nvGrpSpPr>
        <p:grpSpPr>
          <a:xfrm>
            <a:off x="418025" y="2095596"/>
            <a:ext cx="5967730" cy="6824345"/>
            <a:chOff x="418025" y="2095596"/>
            <a:chExt cx="5967730" cy="6824345"/>
          </a:xfrm>
        </p:grpSpPr>
        <p:sp>
          <p:nvSpPr>
            <p:cNvPr id="5" name="object 5"/>
            <p:cNvSpPr/>
            <p:nvPr/>
          </p:nvSpPr>
          <p:spPr>
            <a:xfrm>
              <a:off x="464238" y="2095596"/>
              <a:ext cx="0" cy="1809750"/>
            </a:xfrm>
            <a:custGeom>
              <a:avLst/>
              <a:gdLst/>
              <a:ahLst/>
              <a:cxnLst/>
              <a:rect l="l" t="t" r="r" b="b"/>
              <a:pathLst>
                <a:path h="1809750">
                  <a:moveTo>
                    <a:pt x="0" y="0"/>
                  </a:moveTo>
                  <a:lnTo>
                    <a:pt x="0" y="1809724"/>
                  </a:lnTo>
                </a:path>
              </a:pathLst>
            </a:custGeom>
            <a:ln w="12700">
              <a:solidFill>
                <a:srgbClr val="000000"/>
              </a:solidFill>
            </a:ln>
          </p:spPr>
          <p:txBody>
            <a:bodyPr wrap="square" lIns="0" tIns="0" rIns="0" bIns="0" rtlCol="0"/>
            <a:lstStyle/>
            <a:p>
              <a:endParaRPr/>
            </a:p>
          </p:txBody>
        </p:sp>
        <p:sp>
          <p:nvSpPr>
            <p:cNvPr id="6" name="object 6"/>
            <p:cNvSpPr/>
            <p:nvPr/>
          </p:nvSpPr>
          <p:spPr>
            <a:xfrm>
              <a:off x="6379263" y="2095596"/>
              <a:ext cx="0" cy="1809750"/>
            </a:xfrm>
            <a:custGeom>
              <a:avLst/>
              <a:gdLst/>
              <a:ahLst/>
              <a:cxnLst/>
              <a:rect l="l" t="t" r="r" b="b"/>
              <a:pathLst>
                <a:path h="1809750">
                  <a:moveTo>
                    <a:pt x="0" y="0"/>
                  </a:moveTo>
                  <a:lnTo>
                    <a:pt x="0" y="1809724"/>
                  </a:lnTo>
                </a:path>
              </a:pathLst>
            </a:custGeom>
            <a:ln w="12700">
              <a:solidFill>
                <a:srgbClr val="000000"/>
              </a:solidFill>
            </a:ln>
          </p:spPr>
          <p:txBody>
            <a:bodyPr wrap="square" lIns="0" tIns="0" rIns="0" bIns="0" rtlCol="0"/>
            <a:lstStyle/>
            <a:p>
              <a:endParaRPr/>
            </a:p>
          </p:txBody>
        </p:sp>
        <p:sp>
          <p:nvSpPr>
            <p:cNvPr id="7" name="object 7"/>
            <p:cNvSpPr/>
            <p:nvPr/>
          </p:nvSpPr>
          <p:spPr>
            <a:xfrm>
              <a:off x="457888" y="2101946"/>
              <a:ext cx="5927725" cy="0"/>
            </a:xfrm>
            <a:custGeom>
              <a:avLst/>
              <a:gdLst/>
              <a:ahLst/>
              <a:cxnLst/>
              <a:rect l="l" t="t" r="r" b="b"/>
              <a:pathLst>
                <a:path w="5927725">
                  <a:moveTo>
                    <a:pt x="0" y="0"/>
                  </a:moveTo>
                  <a:lnTo>
                    <a:pt x="5927725" y="0"/>
                  </a:lnTo>
                </a:path>
              </a:pathLst>
            </a:custGeom>
            <a:ln w="12700">
              <a:solidFill>
                <a:srgbClr val="000000"/>
              </a:solidFill>
            </a:ln>
          </p:spPr>
          <p:txBody>
            <a:bodyPr wrap="square" lIns="0" tIns="0" rIns="0" bIns="0" rtlCol="0"/>
            <a:lstStyle/>
            <a:p>
              <a:endParaRPr/>
            </a:p>
          </p:txBody>
        </p:sp>
        <p:sp>
          <p:nvSpPr>
            <p:cNvPr id="8" name="object 8"/>
            <p:cNvSpPr/>
            <p:nvPr/>
          </p:nvSpPr>
          <p:spPr>
            <a:xfrm>
              <a:off x="457888" y="3898968"/>
              <a:ext cx="5927725" cy="0"/>
            </a:xfrm>
            <a:custGeom>
              <a:avLst/>
              <a:gdLst/>
              <a:ahLst/>
              <a:cxnLst/>
              <a:rect l="l" t="t" r="r" b="b"/>
              <a:pathLst>
                <a:path w="5927725">
                  <a:moveTo>
                    <a:pt x="0" y="0"/>
                  </a:moveTo>
                  <a:lnTo>
                    <a:pt x="5927725" y="0"/>
                  </a:lnTo>
                </a:path>
              </a:pathLst>
            </a:custGeom>
            <a:ln w="12700">
              <a:solidFill>
                <a:srgbClr val="000000"/>
              </a:solidFill>
            </a:ln>
          </p:spPr>
          <p:txBody>
            <a:bodyPr wrap="square" lIns="0" tIns="0" rIns="0" bIns="0" rtlCol="0"/>
            <a:lstStyle/>
            <a:p>
              <a:endParaRPr/>
            </a:p>
          </p:txBody>
        </p:sp>
        <p:sp>
          <p:nvSpPr>
            <p:cNvPr id="9" name="object 9"/>
            <p:cNvSpPr/>
            <p:nvPr/>
          </p:nvSpPr>
          <p:spPr>
            <a:xfrm>
              <a:off x="424375" y="4399364"/>
              <a:ext cx="0" cy="1957070"/>
            </a:xfrm>
            <a:custGeom>
              <a:avLst/>
              <a:gdLst/>
              <a:ahLst/>
              <a:cxnLst/>
              <a:rect l="l" t="t" r="r" b="b"/>
              <a:pathLst>
                <a:path h="1957070">
                  <a:moveTo>
                    <a:pt x="0" y="0"/>
                  </a:moveTo>
                  <a:lnTo>
                    <a:pt x="0" y="1956638"/>
                  </a:lnTo>
                </a:path>
              </a:pathLst>
            </a:custGeom>
            <a:ln w="12700">
              <a:solidFill>
                <a:srgbClr val="000000"/>
              </a:solidFill>
            </a:ln>
          </p:spPr>
          <p:txBody>
            <a:bodyPr wrap="square" lIns="0" tIns="0" rIns="0" bIns="0" rtlCol="0"/>
            <a:lstStyle/>
            <a:p>
              <a:endParaRPr/>
            </a:p>
          </p:txBody>
        </p:sp>
        <p:sp>
          <p:nvSpPr>
            <p:cNvPr id="10" name="object 10"/>
            <p:cNvSpPr/>
            <p:nvPr/>
          </p:nvSpPr>
          <p:spPr>
            <a:xfrm>
              <a:off x="6360215" y="4399364"/>
              <a:ext cx="0" cy="1957070"/>
            </a:xfrm>
            <a:custGeom>
              <a:avLst/>
              <a:gdLst/>
              <a:ahLst/>
              <a:cxnLst/>
              <a:rect l="l" t="t" r="r" b="b"/>
              <a:pathLst>
                <a:path h="1957070">
                  <a:moveTo>
                    <a:pt x="0" y="0"/>
                  </a:moveTo>
                  <a:lnTo>
                    <a:pt x="0" y="1956638"/>
                  </a:lnTo>
                </a:path>
              </a:pathLst>
            </a:custGeom>
            <a:ln w="12700">
              <a:solidFill>
                <a:srgbClr val="000000"/>
              </a:solidFill>
            </a:ln>
          </p:spPr>
          <p:txBody>
            <a:bodyPr wrap="square" lIns="0" tIns="0" rIns="0" bIns="0" rtlCol="0"/>
            <a:lstStyle/>
            <a:p>
              <a:endParaRPr/>
            </a:p>
          </p:txBody>
        </p:sp>
        <p:sp>
          <p:nvSpPr>
            <p:cNvPr id="11" name="object 11"/>
            <p:cNvSpPr/>
            <p:nvPr/>
          </p:nvSpPr>
          <p:spPr>
            <a:xfrm>
              <a:off x="418025" y="4405714"/>
              <a:ext cx="5948680" cy="0"/>
            </a:xfrm>
            <a:custGeom>
              <a:avLst/>
              <a:gdLst/>
              <a:ahLst/>
              <a:cxnLst/>
              <a:rect l="l" t="t" r="r" b="b"/>
              <a:pathLst>
                <a:path w="5948680">
                  <a:moveTo>
                    <a:pt x="0" y="0"/>
                  </a:moveTo>
                  <a:lnTo>
                    <a:pt x="5948540" y="0"/>
                  </a:lnTo>
                </a:path>
              </a:pathLst>
            </a:custGeom>
            <a:ln w="12700">
              <a:solidFill>
                <a:srgbClr val="000000"/>
              </a:solidFill>
            </a:ln>
          </p:spPr>
          <p:txBody>
            <a:bodyPr wrap="square" lIns="0" tIns="0" rIns="0" bIns="0" rtlCol="0"/>
            <a:lstStyle/>
            <a:p>
              <a:endParaRPr/>
            </a:p>
          </p:txBody>
        </p:sp>
        <p:sp>
          <p:nvSpPr>
            <p:cNvPr id="12" name="object 12"/>
            <p:cNvSpPr/>
            <p:nvPr/>
          </p:nvSpPr>
          <p:spPr>
            <a:xfrm>
              <a:off x="418025" y="6349651"/>
              <a:ext cx="5948680" cy="0"/>
            </a:xfrm>
            <a:custGeom>
              <a:avLst/>
              <a:gdLst/>
              <a:ahLst/>
              <a:cxnLst/>
              <a:rect l="l" t="t" r="r" b="b"/>
              <a:pathLst>
                <a:path w="5948680">
                  <a:moveTo>
                    <a:pt x="0" y="0"/>
                  </a:moveTo>
                  <a:lnTo>
                    <a:pt x="5948540" y="0"/>
                  </a:lnTo>
                </a:path>
              </a:pathLst>
            </a:custGeom>
            <a:ln w="12700">
              <a:solidFill>
                <a:srgbClr val="000000"/>
              </a:solidFill>
            </a:ln>
          </p:spPr>
          <p:txBody>
            <a:bodyPr wrap="square" lIns="0" tIns="0" rIns="0" bIns="0" rtlCol="0"/>
            <a:lstStyle/>
            <a:p>
              <a:endParaRPr/>
            </a:p>
          </p:txBody>
        </p:sp>
        <p:sp>
          <p:nvSpPr>
            <p:cNvPr id="13" name="object 13"/>
            <p:cNvSpPr/>
            <p:nvPr/>
          </p:nvSpPr>
          <p:spPr>
            <a:xfrm>
              <a:off x="424375" y="6869380"/>
              <a:ext cx="0" cy="2050414"/>
            </a:xfrm>
            <a:custGeom>
              <a:avLst/>
              <a:gdLst/>
              <a:ahLst/>
              <a:cxnLst/>
              <a:rect l="l" t="t" r="r" b="b"/>
              <a:pathLst>
                <a:path h="2050415">
                  <a:moveTo>
                    <a:pt x="0" y="0"/>
                  </a:moveTo>
                  <a:lnTo>
                    <a:pt x="0" y="2050415"/>
                  </a:lnTo>
                </a:path>
              </a:pathLst>
            </a:custGeom>
            <a:ln w="12700">
              <a:solidFill>
                <a:srgbClr val="000000"/>
              </a:solidFill>
            </a:ln>
          </p:spPr>
          <p:txBody>
            <a:bodyPr wrap="square" lIns="0" tIns="0" rIns="0" bIns="0" rtlCol="0"/>
            <a:lstStyle/>
            <a:p>
              <a:endParaRPr/>
            </a:p>
          </p:txBody>
        </p:sp>
        <p:sp>
          <p:nvSpPr>
            <p:cNvPr id="14" name="object 14"/>
            <p:cNvSpPr/>
            <p:nvPr/>
          </p:nvSpPr>
          <p:spPr>
            <a:xfrm>
              <a:off x="6339400" y="6869380"/>
              <a:ext cx="0" cy="2050414"/>
            </a:xfrm>
            <a:custGeom>
              <a:avLst/>
              <a:gdLst/>
              <a:ahLst/>
              <a:cxnLst/>
              <a:rect l="l" t="t" r="r" b="b"/>
              <a:pathLst>
                <a:path h="2050415">
                  <a:moveTo>
                    <a:pt x="0" y="0"/>
                  </a:moveTo>
                  <a:lnTo>
                    <a:pt x="0" y="2050415"/>
                  </a:lnTo>
                </a:path>
              </a:pathLst>
            </a:custGeom>
            <a:ln w="12700">
              <a:solidFill>
                <a:srgbClr val="000000"/>
              </a:solidFill>
            </a:ln>
          </p:spPr>
          <p:txBody>
            <a:bodyPr wrap="square" lIns="0" tIns="0" rIns="0" bIns="0" rtlCol="0"/>
            <a:lstStyle/>
            <a:p>
              <a:endParaRPr/>
            </a:p>
          </p:txBody>
        </p:sp>
        <p:sp>
          <p:nvSpPr>
            <p:cNvPr id="15" name="object 15"/>
            <p:cNvSpPr/>
            <p:nvPr/>
          </p:nvSpPr>
          <p:spPr>
            <a:xfrm>
              <a:off x="418025" y="6875730"/>
              <a:ext cx="5927725" cy="0"/>
            </a:xfrm>
            <a:custGeom>
              <a:avLst/>
              <a:gdLst/>
              <a:ahLst/>
              <a:cxnLst/>
              <a:rect l="l" t="t" r="r" b="b"/>
              <a:pathLst>
                <a:path w="5927725">
                  <a:moveTo>
                    <a:pt x="0" y="0"/>
                  </a:moveTo>
                  <a:lnTo>
                    <a:pt x="5927725" y="0"/>
                  </a:lnTo>
                </a:path>
              </a:pathLst>
            </a:custGeom>
            <a:ln w="12700">
              <a:solidFill>
                <a:srgbClr val="000000"/>
              </a:solidFill>
            </a:ln>
          </p:spPr>
          <p:txBody>
            <a:bodyPr wrap="square" lIns="0" tIns="0" rIns="0" bIns="0" rtlCol="0"/>
            <a:lstStyle/>
            <a:p>
              <a:endParaRPr/>
            </a:p>
          </p:txBody>
        </p:sp>
        <p:sp>
          <p:nvSpPr>
            <p:cNvPr id="16" name="object 16"/>
            <p:cNvSpPr/>
            <p:nvPr/>
          </p:nvSpPr>
          <p:spPr>
            <a:xfrm>
              <a:off x="418025" y="8913440"/>
              <a:ext cx="5927725" cy="0"/>
            </a:xfrm>
            <a:custGeom>
              <a:avLst/>
              <a:gdLst/>
              <a:ahLst/>
              <a:cxnLst/>
              <a:rect l="l" t="t" r="r" b="b"/>
              <a:pathLst>
                <a:path w="5927725">
                  <a:moveTo>
                    <a:pt x="0" y="0"/>
                  </a:moveTo>
                  <a:lnTo>
                    <a:pt x="5927725" y="0"/>
                  </a:lnTo>
                </a:path>
              </a:pathLst>
            </a:custGeom>
            <a:ln w="12700">
              <a:solidFill>
                <a:srgbClr val="000000"/>
              </a:solidFill>
            </a:ln>
          </p:spPr>
          <p:txBody>
            <a:bodyPr wrap="square" lIns="0" tIns="0" rIns="0" bIns="0" rtlCol="0"/>
            <a:lstStyle/>
            <a:p>
              <a:endParaRPr/>
            </a:p>
          </p:txBody>
        </p:sp>
      </p:grpSp>
      <p:sp>
        <p:nvSpPr>
          <p:cNvPr id="17" name="object 17"/>
          <p:cNvSpPr txBox="1"/>
          <p:nvPr/>
        </p:nvSpPr>
        <p:spPr>
          <a:xfrm>
            <a:off x="410347" y="6564099"/>
            <a:ext cx="5547995" cy="177800"/>
          </a:xfrm>
          <a:prstGeom prst="rect">
            <a:avLst/>
          </a:prstGeom>
        </p:spPr>
        <p:txBody>
          <a:bodyPr vert="horz" wrap="square" lIns="0" tIns="12065" rIns="0" bIns="0" rtlCol="0">
            <a:spAutoFit/>
          </a:bodyPr>
          <a:lstStyle/>
          <a:p>
            <a:pPr marL="12700">
              <a:lnSpc>
                <a:spcPct val="100000"/>
              </a:lnSpc>
              <a:spcBef>
                <a:spcPts val="95"/>
              </a:spcBef>
            </a:pPr>
            <a:r>
              <a:rPr sz="1000" b="1" spc="55" dirty="0">
                <a:latin typeface="Calibri"/>
                <a:cs typeface="Calibri"/>
              </a:rPr>
              <a:t>Q14)</a:t>
            </a:r>
            <a:r>
              <a:rPr sz="1000" b="1" spc="170" dirty="0">
                <a:latin typeface="Calibri"/>
                <a:cs typeface="Calibri"/>
              </a:rPr>
              <a:t> </a:t>
            </a:r>
            <a:r>
              <a:rPr sz="1000" b="1" dirty="0">
                <a:latin typeface="Calibri"/>
                <a:cs typeface="Calibri"/>
              </a:rPr>
              <a:t>5.2</a:t>
            </a:r>
            <a:r>
              <a:rPr sz="1000" b="1" spc="155" dirty="0">
                <a:latin typeface="Calibri"/>
                <a:cs typeface="Calibri"/>
              </a:rPr>
              <a:t> </a:t>
            </a:r>
            <a:r>
              <a:rPr sz="1000" b="1" spc="130" dirty="0">
                <a:latin typeface="Calibri"/>
                <a:cs typeface="Calibri"/>
              </a:rPr>
              <a:t>Assess</a:t>
            </a:r>
            <a:r>
              <a:rPr sz="1000" b="1" spc="135" dirty="0">
                <a:latin typeface="Calibri"/>
                <a:cs typeface="Calibri"/>
              </a:rPr>
              <a:t> </a:t>
            </a:r>
            <a:r>
              <a:rPr sz="1000" dirty="0">
                <a:latin typeface="Century Gothic"/>
                <a:cs typeface="Century Gothic"/>
              </a:rPr>
              <a:t>how</a:t>
            </a:r>
            <a:r>
              <a:rPr sz="1000" spc="70" dirty="0">
                <a:latin typeface="Century Gothic"/>
                <a:cs typeface="Century Gothic"/>
              </a:rPr>
              <a:t> </a:t>
            </a:r>
            <a:r>
              <a:rPr sz="1000" dirty="0">
                <a:latin typeface="Century Gothic"/>
                <a:cs typeface="Century Gothic"/>
              </a:rPr>
              <a:t>own</a:t>
            </a:r>
            <a:r>
              <a:rPr sz="1000" spc="75" dirty="0">
                <a:latin typeface="Century Gothic"/>
                <a:cs typeface="Century Gothic"/>
              </a:rPr>
              <a:t> </a:t>
            </a:r>
            <a:r>
              <a:rPr sz="1000" dirty="0">
                <a:latin typeface="Century Gothic"/>
                <a:cs typeface="Century Gothic"/>
              </a:rPr>
              <a:t>attitudes,</a:t>
            </a:r>
            <a:r>
              <a:rPr sz="1000" spc="55" dirty="0">
                <a:latin typeface="Century Gothic"/>
                <a:cs typeface="Century Gothic"/>
              </a:rPr>
              <a:t> </a:t>
            </a:r>
            <a:r>
              <a:rPr sz="1000" dirty="0">
                <a:latin typeface="Century Gothic"/>
                <a:cs typeface="Century Gothic"/>
              </a:rPr>
              <a:t>values</a:t>
            </a:r>
            <a:r>
              <a:rPr sz="1000" spc="80" dirty="0">
                <a:latin typeface="Century Gothic"/>
                <a:cs typeface="Century Gothic"/>
              </a:rPr>
              <a:t> </a:t>
            </a:r>
            <a:r>
              <a:rPr sz="1000" spc="-10" dirty="0">
                <a:latin typeface="Century Gothic"/>
                <a:cs typeface="Century Gothic"/>
              </a:rPr>
              <a:t>and</a:t>
            </a:r>
            <a:r>
              <a:rPr sz="1000" spc="80" dirty="0">
                <a:latin typeface="Century Gothic"/>
                <a:cs typeface="Century Gothic"/>
              </a:rPr>
              <a:t> </a:t>
            </a:r>
            <a:r>
              <a:rPr sz="1000" dirty="0">
                <a:latin typeface="Century Gothic"/>
                <a:cs typeface="Century Gothic"/>
              </a:rPr>
              <a:t>behaviours</a:t>
            </a:r>
            <a:r>
              <a:rPr sz="1000" spc="95" dirty="0">
                <a:latin typeface="Century Gothic"/>
                <a:cs typeface="Century Gothic"/>
              </a:rPr>
              <a:t> </a:t>
            </a:r>
            <a:r>
              <a:rPr sz="1000" spc="-25" dirty="0">
                <a:latin typeface="Century Gothic"/>
                <a:cs typeface="Century Gothic"/>
              </a:rPr>
              <a:t>affect</a:t>
            </a:r>
            <a:r>
              <a:rPr sz="1000" spc="55" dirty="0">
                <a:latin typeface="Century Gothic"/>
                <a:cs typeface="Century Gothic"/>
              </a:rPr>
              <a:t> </a:t>
            </a:r>
            <a:r>
              <a:rPr sz="1000" dirty="0">
                <a:latin typeface="Century Gothic"/>
                <a:cs typeface="Century Gothic"/>
              </a:rPr>
              <a:t>opportunities</a:t>
            </a:r>
            <a:r>
              <a:rPr sz="1000" spc="110" dirty="0">
                <a:latin typeface="Century Gothic"/>
                <a:cs typeface="Century Gothic"/>
              </a:rPr>
              <a:t> </a:t>
            </a:r>
            <a:r>
              <a:rPr sz="1000" spc="-10" dirty="0">
                <a:latin typeface="Century Gothic"/>
                <a:cs typeface="Century Gothic"/>
              </a:rPr>
              <a:t>sought..</a:t>
            </a:r>
            <a:endParaRPr sz="1000" dirty="0">
              <a:latin typeface="Century Gothic"/>
              <a:cs typeface="Century Gothic"/>
            </a:endParaRPr>
          </a:p>
        </p:txBody>
      </p:sp>
      <p:sp>
        <p:nvSpPr>
          <p:cNvPr id="20" name="object 20"/>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21" name="object 21"/>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10</a:t>
            </a:fld>
            <a:endParaRPr spc="-25" dirty="0"/>
          </a:p>
        </p:txBody>
      </p:sp>
      <p:sp>
        <p:nvSpPr>
          <p:cNvPr id="18" name="object 18"/>
          <p:cNvSpPr txBox="1"/>
          <p:nvPr/>
        </p:nvSpPr>
        <p:spPr>
          <a:xfrm>
            <a:off x="410347" y="4022066"/>
            <a:ext cx="4737100" cy="177800"/>
          </a:xfrm>
          <a:prstGeom prst="rect">
            <a:avLst/>
          </a:prstGeom>
        </p:spPr>
        <p:txBody>
          <a:bodyPr vert="horz" wrap="square" lIns="0" tIns="12065" rIns="0" bIns="0" rtlCol="0">
            <a:spAutoFit/>
          </a:bodyPr>
          <a:lstStyle/>
          <a:p>
            <a:pPr marL="12700">
              <a:lnSpc>
                <a:spcPct val="100000"/>
              </a:lnSpc>
              <a:spcBef>
                <a:spcPts val="95"/>
              </a:spcBef>
            </a:pPr>
            <a:r>
              <a:rPr sz="1000" b="1" dirty="0">
                <a:latin typeface="Calibri"/>
                <a:cs typeface="Calibri"/>
              </a:rPr>
              <a:t>Q13)</a:t>
            </a:r>
            <a:r>
              <a:rPr sz="1000" b="1" spc="145" dirty="0">
                <a:latin typeface="Calibri"/>
                <a:cs typeface="Calibri"/>
              </a:rPr>
              <a:t> </a:t>
            </a:r>
            <a:r>
              <a:rPr sz="1000" b="1" dirty="0">
                <a:latin typeface="Calibri"/>
                <a:cs typeface="Calibri"/>
              </a:rPr>
              <a:t>5.1</a:t>
            </a:r>
            <a:r>
              <a:rPr sz="1000" b="1" spc="145" dirty="0">
                <a:latin typeface="Calibri"/>
                <a:cs typeface="Calibri"/>
              </a:rPr>
              <a:t> </a:t>
            </a:r>
            <a:r>
              <a:rPr sz="1000" b="1" spc="114" dirty="0">
                <a:latin typeface="Calibri"/>
                <a:cs typeface="Calibri"/>
              </a:rPr>
              <a:t>Explain</a:t>
            </a:r>
            <a:r>
              <a:rPr sz="1000" b="1" spc="170" dirty="0">
                <a:latin typeface="Calibri"/>
                <a:cs typeface="Calibri"/>
              </a:rPr>
              <a:t> </a:t>
            </a:r>
            <a:r>
              <a:rPr sz="1000" dirty="0">
                <a:latin typeface="Century Gothic"/>
                <a:cs typeface="Century Gothic"/>
              </a:rPr>
              <a:t>how</a:t>
            </a:r>
            <a:r>
              <a:rPr sz="1000" spc="60" dirty="0">
                <a:latin typeface="Century Gothic"/>
                <a:cs typeface="Century Gothic"/>
              </a:rPr>
              <a:t> </a:t>
            </a:r>
            <a:r>
              <a:rPr sz="1000" dirty="0">
                <a:latin typeface="Century Gothic"/>
                <a:cs typeface="Century Gothic"/>
              </a:rPr>
              <a:t>to</a:t>
            </a:r>
            <a:r>
              <a:rPr sz="1000" spc="55" dirty="0">
                <a:latin typeface="Century Gothic"/>
                <a:cs typeface="Century Gothic"/>
              </a:rPr>
              <a:t> </a:t>
            </a:r>
            <a:r>
              <a:rPr sz="1000" dirty="0">
                <a:latin typeface="Century Gothic"/>
                <a:cs typeface="Century Gothic"/>
              </a:rPr>
              <a:t>use</a:t>
            </a:r>
            <a:r>
              <a:rPr sz="1000" spc="40" dirty="0">
                <a:latin typeface="Century Gothic"/>
                <a:cs typeface="Century Gothic"/>
              </a:rPr>
              <a:t> </a:t>
            </a:r>
            <a:r>
              <a:rPr sz="1000" dirty="0">
                <a:latin typeface="Century Gothic"/>
                <a:cs typeface="Century Gothic"/>
              </a:rPr>
              <a:t>your</a:t>
            </a:r>
            <a:r>
              <a:rPr sz="1000" spc="75" dirty="0">
                <a:latin typeface="Century Gothic"/>
                <a:cs typeface="Century Gothic"/>
              </a:rPr>
              <a:t> </a:t>
            </a:r>
            <a:r>
              <a:rPr sz="1000" dirty="0">
                <a:latin typeface="Century Gothic"/>
                <a:cs typeface="Century Gothic"/>
              </a:rPr>
              <a:t>own</a:t>
            </a:r>
            <a:r>
              <a:rPr sz="1000" spc="55" dirty="0">
                <a:latin typeface="Century Gothic"/>
                <a:cs typeface="Century Gothic"/>
              </a:rPr>
              <a:t> </a:t>
            </a:r>
            <a:r>
              <a:rPr sz="1000" dirty="0">
                <a:latin typeface="Century Gothic"/>
                <a:cs typeface="Century Gothic"/>
              </a:rPr>
              <a:t>experiences</a:t>
            </a:r>
            <a:r>
              <a:rPr sz="1000" spc="100" dirty="0">
                <a:latin typeface="Century Gothic"/>
                <a:cs typeface="Century Gothic"/>
              </a:rPr>
              <a:t> </a:t>
            </a:r>
            <a:r>
              <a:rPr sz="1000" dirty="0">
                <a:latin typeface="Century Gothic"/>
                <a:cs typeface="Century Gothic"/>
              </a:rPr>
              <a:t>to</a:t>
            </a:r>
            <a:r>
              <a:rPr sz="1000" spc="40" dirty="0">
                <a:latin typeface="Century Gothic"/>
                <a:cs typeface="Century Gothic"/>
              </a:rPr>
              <a:t> </a:t>
            </a:r>
            <a:r>
              <a:rPr sz="1000" dirty="0">
                <a:latin typeface="Century Gothic"/>
                <a:cs typeface="Century Gothic"/>
              </a:rPr>
              <a:t>support</a:t>
            </a:r>
            <a:r>
              <a:rPr sz="1000" spc="65" dirty="0">
                <a:latin typeface="Century Gothic"/>
                <a:cs typeface="Century Gothic"/>
              </a:rPr>
              <a:t> </a:t>
            </a:r>
            <a:r>
              <a:rPr sz="1000" dirty="0">
                <a:latin typeface="Century Gothic"/>
                <a:cs typeface="Century Gothic"/>
              </a:rPr>
              <a:t>your</a:t>
            </a:r>
            <a:r>
              <a:rPr sz="1000" spc="50" dirty="0">
                <a:latin typeface="Century Gothic"/>
                <a:cs typeface="Century Gothic"/>
              </a:rPr>
              <a:t> </a:t>
            </a:r>
            <a:r>
              <a:rPr sz="1000" spc="-10" dirty="0">
                <a:latin typeface="Century Gothic"/>
                <a:cs typeface="Century Gothic"/>
              </a:rPr>
              <a:t>choices.</a:t>
            </a:r>
            <a:endParaRPr sz="1000" dirty="0">
              <a:latin typeface="Century Gothic"/>
              <a:cs typeface="Century Gothic"/>
            </a:endParaRPr>
          </a:p>
        </p:txBody>
      </p:sp>
      <p:sp>
        <p:nvSpPr>
          <p:cNvPr id="19" name="object 19"/>
          <p:cNvSpPr txBox="1"/>
          <p:nvPr/>
        </p:nvSpPr>
        <p:spPr>
          <a:xfrm>
            <a:off x="2250004" y="476009"/>
            <a:ext cx="2310765" cy="574040"/>
          </a:xfrm>
          <a:prstGeom prst="rect">
            <a:avLst/>
          </a:prstGeom>
        </p:spPr>
        <p:txBody>
          <a:bodyPr vert="horz" wrap="square" lIns="0" tIns="12700" rIns="0" bIns="0" rtlCol="0">
            <a:spAutoFit/>
          </a:bodyPr>
          <a:lstStyle/>
          <a:p>
            <a:pPr marL="188595" marR="5080" indent="-176530">
              <a:lnSpc>
                <a:spcPct val="100000"/>
              </a:lnSpc>
              <a:spcBef>
                <a:spcPts val="100"/>
              </a:spcBef>
            </a:pPr>
            <a:r>
              <a:rPr sz="1800" spc="229" dirty="0">
                <a:latin typeface="Calibri"/>
                <a:cs typeface="Calibri"/>
              </a:rPr>
              <a:t>IDENTIFY</a:t>
            </a:r>
            <a:r>
              <a:rPr sz="1800" spc="50" dirty="0">
                <a:latin typeface="Calibri"/>
                <a:cs typeface="Calibri"/>
              </a:rPr>
              <a:t> </a:t>
            </a:r>
            <a:r>
              <a:rPr sz="1800" spc="235" dirty="0">
                <a:latin typeface="Calibri"/>
                <a:cs typeface="Calibri"/>
              </a:rPr>
              <a:t>SUITABLE </a:t>
            </a:r>
            <a:r>
              <a:rPr sz="1800" spc="240" dirty="0">
                <a:latin typeface="Calibri"/>
                <a:cs typeface="Calibri"/>
              </a:rPr>
              <a:t>OPPORTUNITIES</a:t>
            </a:r>
            <a:endParaRPr sz="1800">
              <a:latin typeface="Calibri"/>
              <a:cs typeface="Calibri"/>
            </a:endParaRPr>
          </a:p>
        </p:txBody>
      </p:sp>
      <p:sp>
        <p:nvSpPr>
          <p:cNvPr id="22" name="TextBox 21">
            <a:extLst>
              <a:ext uri="{FF2B5EF4-FFF2-40B4-BE49-F238E27FC236}">
                <a16:creationId xmlns:a16="http://schemas.microsoft.com/office/drawing/2014/main" id="{A3E05A26-2BF5-2902-96E9-612BE977E9D6}"/>
              </a:ext>
            </a:extLst>
          </p:cNvPr>
          <p:cNvSpPr txBox="1"/>
          <p:nvPr/>
        </p:nvSpPr>
        <p:spPr>
          <a:xfrm>
            <a:off x="410347" y="4455790"/>
            <a:ext cx="5927724" cy="1754326"/>
          </a:xfrm>
          <a:prstGeom prst="rect">
            <a:avLst/>
          </a:prstGeom>
          <a:noFill/>
          <a:ln>
            <a:solidFill>
              <a:schemeClr val="tx1"/>
            </a:solidFill>
          </a:ln>
        </p:spPr>
        <p:txBody>
          <a:bodyPr wrap="square" rtlCol="0">
            <a:spAutoFit/>
          </a:bodyPr>
          <a:lstStyle/>
          <a:p>
            <a:r>
              <a:rPr lang="en-GB" dirty="0"/>
              <a:t>I can use my own experiences to support my choices by reflecting on what I have learned from education, training, and personal activities. By identifying which skills I have developed and which tasks I enjoy or perform well in, I can make informed decisions about suitable job roles and career opportunities.</a:t>
            </a:r>
          </a:p>
        </p:txBody>
      </p:sp>
      <p:sp>
        <p:nvSpPr>
          <p:cNvPr id="23" name="TextBox 22">
            <a:extLst>
              <a:ext uri="{FF2B5EF4-FFF2-40B4-BE49-F238E27FC236}">
                <a16:creationId xmlns:a16="http://schemas.microsoft.com/office/drawing/2014/main" id="{C06E533D-6C08-AB37-20B8-3E20F1F71A0F}"/>
              </a:ext>
            </a:extLst>
          </p:cNvPr>
          <p:cNvSpPr txBox="1"/>
          <p:nvPr/>
        </p:nvSpPr>
        <p:spPr>
          <a:xfrm>
            <a:off x="397306" y="6882081"/>
            <a:ext cx="5948444" cy="1600438"/>
          </a:xfrm>
          <a:prstGeom prst="rect">
            <a:avLst/>
          </a:prstGeom>
          <a:noFill/>
          <a:ln>
            <a:solidFill>
              <a:schemeClr val="tx1"/>
            </a:solidFill>
          </a:ln>
        </p:spPr>
        <p:txBody>
          <a:bodyPr wrap="square" rtlCol="0">
            <a:spAutoFit/>
          </a:bodyPr>
          <a:lstStyle/>
          <a:p>
            <a:r>
              <a:rPr lang="en-GB" sz="1400" dirty="0"/>
              <a:t>My attitudes, values, and behaviours affect the opportunities I seek because a positive attitude, strong work ethic, and willingness to learn increase my chances of accessing opportunities. Being reliable, professional, and open to feedback helps employers trust my ability to develop in a role. However, negative behaviours such as self-doubt or lack of confidence could limit opportunities, so maintaining a positive mindset and professional behaviour is important for career progression.</a:t>
            </a:r>
          </a:p>
        </p:txBody>
      </p:sp>
      <p:sp>
        <p:nvSpPr>
          <p:cNvPr id="24" name="TextBox 23">
            <a:extLst>
              <a:ext uri="{FF2B5EF4-FFF2-40B4-BE49-F238E27FC236}">
                <a16:creationId xmlns:a16="http://schemas.microsoft.com/office/drawing/2014/main" id="{06E03728-D6E3-41D2-5CD7-3F19B9742DCD}"/>
              </a:ext>
            </a:extLst>
          </p:cNvPr>
          <p:cNvSpPr txBox="1"/>
          <p:nvPr/>
        </p:nvSpPr>
        <p:spPr>
          <a:xfrm>
            <a:off x="478736" y="2176752"/>
            <a:ext cx="5978940" cy="1384995"/>
          </a:xfrm>
          <a:prstGeom prst="rect">
            <a:avLst/>
          </a:prstGeom>
          <a:noFill/>
        </p:spPr>
        <p:txBody>
          <a:bodyPr wrap="square" rtlCol="0">
            <a:spAutoFit/>
          </a:bodyPr>
          <a:lstStyle/>
          <a:p>
            <a:r>
              <a:rPr lang="en-GB" sz="1400" dirty="0"/>
              <a:t>Other initiatives, such as training courses, workshops, volunteering, </a:t>
            </a:r>
          </a:p>
          <a:p>
            <a:r>
              <a:rPr lang="en-GB" sz="1400" dirty="0"/>
              <a:t>and work experience, help develop transferable skills and qualities by</a:t>
            </a:r>
          </a:p>
          <a:p>
            <a:r>
              <a:rPr lang="en-GB" sz="1400" dirty="0"/>
              <a:t>providing structured learning and real-world practice. These initiatives</a:t>
            </a:r>
          </a:p>
          <a:p>
            <a:r>
              <a:rPr lang="en-GB" sz="1400" dirty="0"/>
              <a:t> improve communication, teamwork, confidence, and problem-solving </a:t>
            </a:r>
          </a:p>
          <a:p>
            <a:r>
              <a:rPr lang="en-GB" sz="1400" dirty="0"/>
              <a:t>skills, while also helping individuals gain experience that can be applied</a:t>
            </a:r>
          </a:p>
          <a:p>
            <a:r>
              <a:rPr lang="en-GB" sz="1400" dirty="0"/>
              <a:t> across different job roles.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6858000" cy="9906000"/>
            <a:chOff x="0" y="0"/>
            <a:chExt cx="6858000" cy="9906000"/>
          </a:xfrm>
        </p:grpSpPr>
        <p:sp>
          <p:nvSpPr>
            <p:cNvPr id="3" name="object 3"/>
            <p:cNvSpPr/>
            <p:nvPr/>
          </p:nvSpPr>
          <p:spPr>
            <a:xfrm>
              <a:off x="239268" y="4614671"/>
              <a:ext cx="6337300" cy="2978150"/>
            </a:xfrm>
            <a:custGeom>
              <a:avLst/>
              <a:gdLst/>
              <a:ahLst/>
              <a:cxnLst/>
              <a:rect l="l" t="t" r="r" b="b"/>
              <a:pathLst>
                <a:path w="6337300" h="2978150">
                  <a:moveTo>
                    <a:pt x="0" y="0"/>
                  </a:moveTo>
                  <a:lnTo>
                    <a:pt x="6336792" y="0"/>
                  </a:lnTo>
                  <a:lnTo>
                    <a:pt x="6336792" y="2977896"/>
                  </a:lnTo>
                  <a:lnTo>
                    <a:pt x="0" y="2977896"/>
                  </a:lnTo>
                  <a:lnTo>
                    <a:pt x="0" y="0"/>
                  </a:lnTo>
                  <a:close/>
                </a:path>
              </a:pathLst>
            </a:custGeom>
            <a:ln w="9143">
              <a:solidFill>
                <a:srgbClr val="000000"/>
              </a:solidFill>
            </a:ln>
          </p:spPr>
          <p:txBody>
            <a:bodyPr wrap="square" lIns="0" tIns="0" rIns="0" bIns="0" rtlCol="0"/>
            <a:lstStyle/>
            <a:p>
              <a:endParaRPr/>
            </a:p>
          </p:txBody>
        </p:sp>
        <p:sp>
          <p:nvSpPr>
            <p:cNvPr id="4" name="object 4"/>
            <p:cNvSpPr/>
            <p:nvPr/>
          </p:nvSpPr>
          <p:spPr>
            <a:xfrm>
              <a:off x="4203701" y="8339489"/>
              <a:ext cx="0" cy="1092835"/>
            </a:xfrm>
            <a:custGeom>
              <a:avLst/>
              <a:gdLst/>
              <a:ahLst/>
              <a:cxnLst/>
              <a:rect l="l" t="t" r="r" b="b"/>
              <a:pathLst>
                <a:path h="1092834">
                  <a:moveTo>
                    <a:pt x="0" y="0"/>
                  </a:moveTo>
                  <a:lnTo>
                    <a:pt x="0" y="1092695"/>
                  </a:lnTo>
                </a:path>
              </a:pathLst>
            </a:custGeom>
            <a:ln w="12700">
              <a:solidFill>
                <a:srgbClr val="000000"/>
              </a:solidFill>
            </a:ln>
          </p:spPr>
          <p:txBody>
            <a:bodyPr wrap="square" lIns="0" tIns="0" rIns="0" bIns="0" rtlCol="0"/>
            <a:lstStyle/>
            <a:p>
              <a:endParaRPr/>
            </a:p>
          </p:txBody>
        </p:sp>
        <p:sp>
          <p:nvSpPr>
            <p:cNvPr id="5" name="object 5"/>
            <p:cNvSpPr/>
            <p:nvPr/>
          </p:nvSpPr>
          <p:spPr>
            <a:xfrm>
              <a:off x="255002" y="8345839"/>
              <a:ext cx="6348730" cy="0"/>
            </a:xfrm>
            <a:custGeom>
              <a:avLst/>
              <a:gdLst/>
              <a:ahLst/>
              <a:cxnLst/>
              <a:rect l="l" t="t" r="r" b="b"/>
              <a:pathLst>
                <a:path w="6348730">
                  <a:moveTo>
                    <a:pt x="0" y="0"/>
                  </a:moveTo>
                  <a:lnTo>
                    <a:pt x="6348704" y="0"/>
                  </a:lnTo>
                </a:path>
              </a:pathLst>
            </a:custGeom>
            <a:ln w="12700">
              <a:solidFill>
                <a:srgbClr val="000000"/>
              </a:solidFill>
            </a:ln>
          </p:spPr>
          <p:txBody>
            <a:bodyPr wrap="square" lIns="0" tIns="0" rIns="0" bIns="0" rtlCol="0"/>
            <a:lstStyle/>
            <a:p>
              <a:endParaRPr/>
            </a:p>
          </p:txBody>
        </p:sp>
        <p:sp>
          <p:nvSpPr>
            <p:cNvPr id="6" name="object 6"/>
            <p:cNvSpPr/>
            <p:nvPr/>
          </p:nvSpPr>
          <p:spPr>
            <a:xfrm>
              <a:off x="255002" y="8705839"/>
              <a:ext cx="6348730" cy="0"/>
            </a:xfrm>
            <a:custGeom>
              <a:avLst/>
              <a:gdLst/>
              <a:ahLst/>
              <a:cxnLst/>
              <a:rect l="l" t="t" r="r" b="b"/>
              <a:pathLst>
                <a:path w="6348730">
                  <a:moveTo>
                    <a:pt x="0" y="0"/>
                  </a:moveTo>
                  <a:lnTo>
                    <a:pt x="6348704" y="0"/>
                  </a:lnTo>
                </a:path>
              </a:pathLst>
            </a:custGeom>
            <a:ln w="12700">
              <a:solidFill>
                <a:srgbClr val="000000"/>
              </a:solidFill>
            </a:ln>
          </p:spPr>
          <p:txBody>
            <a:bodyPr wrap="square" lIns="0" tIns="0" rIns="0" bIns="0" rtlCol="0"/>
            <a:lstStyle/>
            <a:p>
              <a:endParaRPr/>
            </a:p>
          </p:txBody>
        </p:sp>
        <p:sp>
          <p:nvSpPr>
            <p:cNvPr id="7" name="object 7"/>
            <p:cNvSpPr/>
            <p:nvPr/>
          </p:nvSpPr>
          <p:spPr>
            <a:xfrm>
              <a:off x="255002" y="9065838"/>
              <a:ext cx="6348730" cy="0"/>
            </a:xfrm>
            <a:custGeom>
              <a:avLst/>
              <a:gdLst/>
              <a:ahLst/>
              <a:cxnLst/>
              <a:rect l="l" t="t" r="r" b="b"/>
              <a:pathLst>
                <a:path w="6348730">
                  <a:moveTo>
                    <a:pt x="0" y="0"/>
                  </a:moveTo>
                  <a:lnTo>
                    <a:pt x="6348704" y="0"/>
                  </a:lnTo>
                </a:path>
              </a:pathLst>
            </a:custGeom>
            <a:ln w="12700">
              <a:solidFill>
                <a:srgbClr val="000000"/>
              </a:solidFill>
            </a:ln>
          </p:spPr>
          <p:txBody>
            <a:bodyPr wrap="square" lIns="0" tIns="0" rIns="0" bIns="0" rtlCol="0"/>
            <a:lstStyle/>
            <a:p>
              <a:endParaRPr/>
            </a:p>
          </p:txBody>
        </p:sp>
        <p:sp>
          <p:nvSpPr>
            <p:cNvPr id="8" name="object 8"/>
            <p:cNvSpPr/>
            <p:nvPr/>
          </p:nvSpPr>
          <p:spPr>
            <a:xfrm>
              <a:off x="261352" y="7585888"/>
              <a:ext cx="0" cy="1846580"/>
            </a:xfrm>
            <a:custGeom>
              <a:avLst/>
              <a:gdLst/>
              <a:ahLst/>
              <a:cxnLst/>
              <a:rect l="l" t="t" r="r" b="b"/>
              <a:pathLst>
                <a:path h="1846579">
                  <a:moveTo>
                    <a:pt x="0" y="0"/>
                  </a:moveTo>
                  <a:lnTo>
                    <a:pt x="0" y="1846300"/>
                  </a:lnTo>
                </a:path>
              </a:pathLst>
            </a:custGeom>
            <a:ln w="12700">
              <a:solidFill>
                <a:srgbClr val="000000"/>
              </a:solidFill>
            </a:ln>
          </p:spPr>
          <p:txBody>
            <a:bodyPr wrap="square" lIns="0" tIns="0" rIns="0" bIns="0" rtlCol="0"/>
            <a:lstStyle/>
            <a:p>
              <a:endParaRPr/>
            </a:p>
          </p:txBody>
        </p:sp>
        <p:sp>
          <p:nvSpPr>
            <p:cNvPr id="9" name="object 9"/>
            <p:cNvSpPr/>
            <p:nvPr/>
          </p:nvSpPr>
          <p:spPr>
            <a:xfrm>
              <a:off x="6597353" y="7585888"/>
              <a:ext cx="0" cy="1846580"/>
            </a:xfrm>
            <a:custGeom>
              <a:avLst/>
              <a:gdLst/>
              <a:ahLst/>
              <a:cxnLst/>
              <a:rect l="l" t="t" r="r" b="b"/>
              <a:pathLst>
                <a:path h="1846579">
                  <a:moveTo>
                    <a:pt x="0" y="0"/>
                  </a:moveTo>
                  <a:lnTo>
                    <a:pt x="0" y="1846300"/>
                  </a:lnTo>
                </a:path>
              </a:pathLst>
            </a:custGeom>
            <a:ln w="12700">
              <a:solidFill>
                <a:srgbClr val="000000"/>
              </a:solidFill>
            </a:ln>
          </p:spPr>
          <p:txBody>
            <a:bodyPr wrap="square" lIns="0" tIns="0" rIns="0" bIns="0" rtlCol="0"/>
            <a:lstStyle/>
            <a:p>
              <a:endParaRPr/>
            </a:p>
          </p:txBody>
        </p:sp>
        <p:sp>
          <p:nvSpPr>
            <p:cNvPr id="10" name="object 10"/>
            <p:cNvSpPr/>
            <p:nvPr/>
          </p:nvSpPr>
          <p:spPr>
            <a:xfrm>
              <a:off x="255002" y="7592238"/>
              <a:ext cx="6348730" cy="0"/>
            </a:xfrm>
            <a:custGeom>
              <a:avLst/>
              <a:gdLst/>
              <a:ahLst/>
              <a:cxnLst/>
              <a:rect l="l" t="t" r="r" b="b"/>
              <a:pathLst>
                <a:path w="6348730">
                  <a:moveTo>
                    <a:pt x="0" y="0"/>
                  </a:moveTo>
                  <a:lnTo>
                    <a:pt x="6348704" y="0"/>
                  </a:lnTo>
                </a:path>
              </a:pathLst>
            </a:custGeom>
            <a:ln w="12700">
              <a:solidFill>
                <a:srgbClr val="000000"/>
              </a:solidFill>
            </a:ln>
          </p:spPr>
          <p:txBody>
            <a:bodyPr wrap="square" lIns="0" tIns="0" rIns="0" bIns="0" rtlCol="0"/>
            <a:lstStyle/>
            <a:p>
              <a:endParaRPr/>
            </a:p>
          </p:txBody>
        </p:sp>
        <p:sp>
          <p:nvSpPr>
            <p:cNvPr id="11" name="object 11"/>
            <p:cNvSpPr/>
            <p:nvPr/>
          </p:nvSpPr>
          <p:spPr>
            <a:xfrm>
              <a:off x="255002" y="9425839"/>
              <a:ext cx="6348730" cy="0"/>
            </a:xfrm>
            <a:custGeom>
              <a:avLst/>
              <a:gdLst/>
              <a:ahLst/>
              <a:cxnLst/>
              <a:rect l="l" t="t" r="r" b="b"/>
              <a:pathLst>
                <a:path w="6348730">
                  <a:moveTo>
                    <a:pt x="0" y="0"/>
                  </a:moveTo>
                  <a:lnTo>
                    <a:pt x="6348704" y="0"/>
                  </a:lnTo>
                </a:path>
              </a:pathLst>
            </a:custGeom>
            <a:ln w="12700">
              <a:solidFill>
                <a:srgbClr val="000000"/>
              </a:solidFill>
            </a:ln>
          </p:spPr>
          <p:txBody>
            <a:bodyPr wrap="square" lIns="0" tIns="0" rIns="0" bIns="0" rtlCol="0"/>
            <a:lstStyle/>
            <a:p>
              <a:endParaRPr/>
            </a:p>
          </p:txBody>
        </p:sp>
      </p:grpSp>
      <p:sp>
        <p:nvSpPr>
          <p:cNvPr id="12" name="object 12"/>
          <p:cNvSpPr txBox="1"/>
          <p:nvPr/>
        </p:nvSpPr>
        <p:spPr>
          <a:xfrm>
            <a:off x="373739" y="7645443"/>
            <a:ext cx="5711190" cy="916305"/>
          </a:xfrm>
          <a:prstGeom prst="rect">
            <a:avLst/>
          </a:prstGeom>
        </p:spPr>
        <p:txBody>
          <a:bodyPr vert="horz" wrap="square" lIns="0" tIns="12065" rIns="0" bIns="0" rtlCol="0">
            <a:spAutoFit/>
          </a:bodyPr>
          <a:lstStyle/>
          <a:p>
            <a:pPr marL="12700" algn="just">
              <a:lnSpc>
                <a:spcPct val="100000"/>
              </a:lnSpc>
              <a:spcBef>
                <a:spcPts val="95"/>
              </a:spcBef>
            </a:pPr>
            <a:r>
              <a:rPr sz="1000" dirty="0">
                <a:latin typeface="Century Gothic"/>
                <a:cs typeface="Century Gothic"/>
              </a:rPr>
              <a:t>Confirmation</a:t>
            </a:r>
            <a:r>
              <a:rPr sz="1000" spc="45" dirty="0">
                <a:latin typeface="Century Gothic"/>
                <a:cs typeface="Century Gothic"/>
              </a:rPr>
              <a:t> </a:t>
            </a:r>
            <a:r>
              <a:rPr sz="1000" dirty="0">
                <a:latin typeface="Century Gothic"/>
                <a:cs typeface="Century Gothic"/>
              </a:rPr>
              <a:t>of</a:t>
            </a:r>
            <a:r>
              <a:rPr sz="1000" spc="15" dirty="0">
                <a:latin typeface="Century Gothic"/>
                <a:cs typeface="Century Gothic"/>
              </a:rPr>
              <a:t> </a:t>
            </a:r>
            <a:r>
              <a:rPr sz="1000" spc="-10" dirty="0">
                <a:latin typeface="Century Gothic"/>
                <a:cs typeface="Century Gothic"/>
              </a:rPr>
              <a:t>Completion</a:t>
            </a:r>
            <a:r>
              <a:rPr sz="1000" spc="165" dirty="0">
                <a:latin typeface="Century Gothic"/>
                <a:cs typeface="Century Gothic"/>
              </a:rPr>
              <a:t> </a:t>
            </a:r>
            <a:r>
              <a:rPr sz="1000" dirty="0">
                <a:latin typeface="Century Gothic"/>
                <a:cs typeface="Century Gothic"/>
              </a:rPr>
              <a:t>-</a:t>
            </a:r>
            <a:r>
              <a:rPr sz="1000" spc="135" dirty="0">
                <a:latin typeface="Century Gothic"/>
                <a:cs typeface="Century Gothic"/>
              </a:rPr>
              <a:t>  </a:t>
            </a:r>
            <a:r>
              <a:rPr sz="1000" dirty="0">
                <a:latin typeface="Century Gothic"/>
                <a:cs typeface="Century Gothic"/>
              </a:rPr>
              <a:t>All</a:t>
            </a:r>
            <a:r>
              <a:rPr sz="1000" spc="25" dirty="0">
                <a:latin typeface="Century Gothic"/>
                <a:cs typeface="Century Gothic"/>
              </a:rPr>
              <a:t> </a:t>
            </a:r>
            <a:r>
              <a:rPr sz="1000" dirty="0">
                <a:latin typeface="Century Gothic"/>
                <a:cs typeface="Century Gothic"/>
              </a:rPr>
              <a:t>learning</a:t>
            </a:r>
            <a:r>
              <a:rPr sz="1000" spc="50" dirty="0">
                <a:latin typeface="Century Gothic"/>
                <a:cs typeface="Century Gothic"/>
              </a:rPr>
              <a:t> </a:t>
            </a:r>
            <a:r>
              <a:rPr sz="1000" spc="-25" dirty="0">
                <a:latin typeface="Century Gothic"/>
                <a:cs typeface="Century Gothic"/>
              </a:rPr>
              <a:t>outcomes</a:t>
            </a:r>
            <a:r>
              <a:rPr sz="1000" spc="-114" dirty="0">
                <a:latin typeface="Century Gothic"/>
                <a:cs typeface="Century Gothic"/>
              </a:rPr>
              <a:t> </a:t>
            </a:r>
            <a:r>
              <a:rPr sz="1000" spc="-25" dirty="0">
                <a:latin typeface="Century Gothic"/>
                <a:cs typeface="Century Gothic"/>
              </a:rPr>
              <a:t>achieved</a:t>
            </a:r>
            <a:r>
              <a:rPr sz="1000" spc="20" dirty="0">
                <a:latin typeface="Century Gothic"/>
                <a:cs typeface="Century Gothic"/>
              </a:rPr>
              <a:t> </a:t>
            </a:r>
            <a:r>
              <a:rPr sz="1000" dirty="0">
                <a:latin typeface="Century Gothic"/>
                <a:cs typeface="Century Gothic"/>
              </a:rPr>
              <a:t>for</a:t>
            </a:r>
            <a:r>
              <a:rPr sz="1000" spc="45" dirty="0">
                <a:latin typeface="Century Gothic"/>
                <a:cs typeface="Century Gothic"/>
              </a:rPr>
              <a:t> </a:t>
            </a:r>
            <a:r>
              <a:rPr sz="1000" spc="70" dirty="0">
                <a:latin typeface="Century Gothic"/>
                <a:cs typeface="Century Gothic"/>
              </a:rPr>
              <a:t>this</a:t>
            </a:r>
            <a:r>
              <a:rPr sz="1000" spc="20" dirty="0">
                <a:latin typeface="Century Gothic"/>
                <a:cs typeface="Century Gothic"/>
              </a:rPr>
              <a:t> </a:t>
            </a:r>
            <a:r>
              <a:rPr sz="1000" spc="60" dirty="0">
                <a:latin typeface="Century Gothic"/>
                <a:cs typeface="Century Gothic"/>
              </a:rPr>
              <a:t>unit:</a:t>
            </a:r>
            <a:r>
              <a:rPr sz="1000" spc="90" dirty="0">
                <a:latin typeface="Century Gothic"/>
                <a:cs typeface="Century Gothic"/>
              </a:rPr>
              <a:t> </a:t>
            </a:r>
            <a:r>
              <a:rPr sz="1000" spc="114" dirty="0">
                <a:latin typeface="Century Gothic"/>
                <a:cs typeface="Century Gothic"/>
              </a:rPr>
              <a:t>YES</a:t>
            </a:r>
            <a:r>
              <a:rPr sz="1000" spc="90" dirty="0">
                <a:latin typeface="Century Gothic"/>
                <a:cs typeface="Century Gothic"/>
              </a:rPr>
              <a:t> </a:t>
            </a:r>
            <a:r>
              <a:rPr sz="1000" dirty="0">
                <a:latin typeface="Century Gothic"/>
                <a:cs typeface="Century Gothic"/>
              </a:rPr>
              <a:t>/</a:t>
            </a:r>
            <a:r>
              <a:rPr sz="1000" spc="75" dirty="0">
                <a:latin typeface="Century Gothic"/>
                <a:cs typeface="Century Gothic"/>
              </a:rPr>
              <a:t> </a:t>
            </a:r>
            <a:r>
              <a:rPr sz="1000" spc="-25" dirty="0">
                <a:latin typeface="Century Gothic"/>
                <a:cs typeface="Century Gothic"/>
              </a:rPr>
              <a:t>NO</a:t>
            </a:r>
            <a:endParaRPr sz="1000">
              <a:latin typeface="Century Gothic"/>
              <a:cs typeface="Century Gothic"/>
            </a:endParaRPr>
          </a:p>
          <a:p>
            <a:pPr marL="12700" marR="5080" algn="just">
              <a:lnSpc>
                <a:spcPct val="100000"/>
              </a:lnSpc>
            </a:pPr>
            <a:r>
              <a:rPr sz="1000" spc="70" dirty="0">
                <a:latin typeface="Century Gothic"/>
                <a:cs typeface="Century Gothic"/>
              </a:rPr>
              <a:t>The</a:t>
            </a:r>
            <a:r>
              <a:rPr sz="1000" spc="114" dirty="0">
                <a:latin typeface="Century Gothic"/>
                <a:cs typeface="Century Gothic"/>
              </a:rPr>
              <a:t> </a:t>
            </a:r>
            <a:r>
              <a:rPr sz="1000" spc="10" dirty="0">
                <a:latin typeface="Century Gothic"/>
                <a:cs typeface="Century Gothic"/>
              </a:rPr>
              <a:t>evidence</a:t>
            </a:r>
            <a:r>
              <a:rPr sz="1000" spc="120" dirty="0">
                <a:latin typeface="Century Gothic"/>
                <a:cs typeface="Century Gothic"/>
              </a:rPr>
              <a:t> </a:t>
            </a:r>
            <a:r>
              <a:rPr sz="1000" spc="10" dirty="0">
                <a:latin typeface="Century Gothic"/>
                <a:cs typeface="Century Gothic"/>
              </a:rPr>
              <a:t>of</a:t>
            </a:r>
            <a:r>
              <a:rPr sz="1000" spc="120" dirty="0">
                <a:latin typeface="Century Gothic"/>
                <a:cs typeface="Century Gothic"/>
              </a:rPr>
              <a:t> </a:t>
            </a:r>
            <a:r>
              <a:rPr sz="1000" spc="50" dirty="0">
                <a:latin typeface="Century Gothic"/>
                <a:cs typeface="Century Gothic"/>
              </a:rPr>
              <a:t>learning</a:t>
            </a:r>
            <a:r>
              <a:rPr sz="1000" spc="145" dirty="0">
                <a:latin typeface="Century Gothic"/>
                <a:cs typeface="Century Gothic"/>
              </a:rPr>
              <a:t> </a:t>
            </a:r>
            <a:r>
              <a:rPr sz="1000" spc="10" dirty="0">
                <a:latin typeface="Century Gothic"/>
                <a:cs typeface="Century Gothic"/>
              </a:rPr>
              <a:t>outcomes</a:t>
            </a:r>
            <a:r>
              <a:rPr sz="1000" spc="114" dirty="0">
                <a:latin typeface="Century Gothic"/>
                <a:cs typeface="Century Gothic"/>
              </a:rPr>
              <a:t> </a:t>
            </a:r>
            <a:r>
              <a:rPr sz="1000" spc="10" dirty="0">
                <a:latin typeface="Century Gothic"/>
                <a:cs typeface="Century Gothic"/>
              </a:rPr>
              <a:t>presented</a:t>
            </a:r>
            <a:r>
              <a:rPr sz="1000" spc="100" dirty="0">
                <a:latin typeface="Century Gothic"/>
                <a:cs typeface="Century Gothic"/>
              </a:rPr>
              <a:t> </a:t>
            </a:r>
            <a:r>
              <a:rPr sz="1000" spc="10" dirty="0">
                <a:latin typeface="Century Gothic"/>
                <a:cs typeface="Century Gothic"/>
              </a:rPr>
              <a:t>and</a:t>
            </a:r>
            <a:r>
              <a:rPr sz="1000" spc="114" dirty="0">
                <a:latin typeface="Century Gothic"/>
                <a:cs typeface="Century Gothic"/>
              </a:rPr>
              <a:t> </a:t>
            </a:r>
            <a:r>
              <a:rPr sz="1000" spc="50" dirty="0">
                <a:latin typeface="Century Gothic"/>
                <a:cs typeface="Century Gothic"/>
              </a:rPr>
              <a:t>assessed</a:t>
            </a:r>
            <a:r>
              <a:rPr sz="1000" spc="90" dirty="0">
                <a:latin typeface="Century Gothic"/>
                <a:cs typeface="Century Gothic"/>
              </a:rPr>
              <a:t> </a:t>
            </a:r>
            <a:r>
              <a:rPr sz="1000" spc="85" dirty="0">
                <a:latin typeface="Century Gothic"/>
                <a:cs typeface="Century Gothic"/>
              </a:rPr>
              <a:t>within</a:t>
            </a:r>
            <a:r>
              <a:rPr sz="1000" spc="130" dirty="0">
                <a:latin typeface="Century Gothic"/>
                <a:cs typeface="Century Gothic"/>
              </a:rPr>
              <a:t> </a:t>
            </a:r>
            <a:r>
              <a:rPr sz="1000" spc="95" dirty="0">
                <a:latin typeface="Century Gothic"/>
                <a:cs typeface="Century Gothic"/>
              </a:rPr>
              <a:t>this</a:t>
            </a:r>
            <a:r>
              <a:rPr sz="1000" spc="114" dirty="0">
                <a:latin typeface="Century Gothic"/>
                <a:cs typeface="Century Gothic"/>
              </a:rPr>
              <a:t> </a:t>
            </a:r>
            <a:r>
              <a:rPr sz="1000" spc="50" dirty="0">
                <a:latin typeface="Century Gothic"/>
                <a:cs typeface="Century Gothic"/>
              </a:rPr>
              <a:t>portfolio</a:t>
            </a:r>
            <a:r>
              <a:rPr sz="1000" spc="135" dirty="0">
                <a:latin typeface="Century Gothic"/>
                <a:cs typeface="Century Gothic"/>
              </a:rPr>
              <a:t> </a:t>
            </a:r>
            <a:r>
              <a:rPr sz="1000" spc="-25" dirty="0">
                <a:latin typeface="Century Gothic"/>
                <a:cs typeface="Century Gothic"/>
              </a:rPr>
              <a:t>are </a:t>
            </a:r>
            <a:r>
              <a:rPr sz="1000" spc="10" dirty="0">
                <a:latin typeface="Century Gothic"/>
                <a:cs typeface="Century Gothic"/>
              </a:rPr>
              <a:t>authentic</a:t>
            </a:r>
            <a:r>
              <a:rPr sz="1000" spc="130" dirty="0">
                <a:latin typeface="Century Gothic"/>
                <a:cs typeface="Century Gothic"/>
              </a:rPr>
              <a:t> </a:t>
            </a:r>
            <a:r>
              <a:rPr sz="1000" spc="10" dirty="0">
                <a:latin typeface="Century Gothic"/>
                <a:cs typeface="Century Gothic"/>
              </a:rPr>
              <a:t>to</a:t>
            </a:r>
            <a:r>
              <a:rPr sz="1000" spc="130" dirty="0">
                <a:latin typeface="Century Gothic"/>
                <a:cs typeface="Century Gothic"/>
              </a:rPr>
              <a:t> </a:t>
            </a:r>
            <a:r>
              <a:rPr sz="1000" spc="10" dirty="0">
                <a:latin typeface="Century Gothic"/>
                <a:cs typeface="Century Gothic"/>
              </a:rPr>
              <a:t>the</a:t>
            </a:r>
            <a:r>
              <a:rPr sz="1000" spc="130" dirty="0">
                <a:latin typeface="Century Gothic"/>
                <a:cs typeface="Century Gothic"/>
              </a:rPr>
              <a:t> </a:t>
            </a:r>
            <a:r>
              <a:rPr sz="1000" spc="10" dirty="0">
                <a:latin typeface="Century Gothic"/>
                <a:cs typeface="Century Gothic"/>
              </a:rPr>
              <a:t>learner,</a:t>
            </a:r>
            <a:r>
              <a:rPr sz="1000" spc="165" dirty="0">
                <a:latin typeface="Century Gothic"/>
                <a:cs typeface="Century Gothic"/>
              </a:rPr>
              <a:t> </a:t>
            </a:r>
            <a:r>
              <a:rPr sz="1000" spc="60" dirty="0">
                <a:latin typeface="Century Gothic"/>
                <a:cs typeface="Century Gothic"/>
              </a:rPr>
              <a:t>sufficient</a:t>
            </a:r>
            <a:r>
              <a:rPr sz="1000" spc="145" dirty="0">
                <a:latin typeface="Century Gothic"/>
                <a:cs typeface="Century Gothic"/>
              </a:rPr>
              <a:t> </a:t>
            </a:r>
            <a:r>
              <a:rPr sz="1000" spc="10" dirty="0">
                <a:latin typeface="Century Gothic"/>
                <a:cs typeface="Century Gothic"/>
              </a:rPr>
              <a:t>and</a:t>
            </a:r>
            <a:r>
              <a:rPr sz="1000" spc="140" dirty="0">
                <a:latin typeface="Century Gothic"/>
                <a:cs typeface="Century Gothic"/>
              </a:rPr>
              <a:t> </a:t>
            </a:r>
            <a:r>
              <a:rPr sz="1000" spc="10" dirty="0">
                <a:latin typeface="Century Gothic"/>
                <a:cs typeface="Century Gothic"/>
              </a:rPr>
              <a:t>valid</a:t>
            </a:r>
            <a:r>
              <a:rPr sz="1000" spc="165" dirty="0">
                <a:latin typeface="Century Gothic"/>
                <a:cs typeface="Century Gothic"/>
              </a:rPr>
              <a:t> </a:t>
            </a:r>
            <a:r>
              <a:rPr sz="1000" spc="75" dirty="0">
                <a:latin typeface="Century Gothic"/>
                <a:cs typeface="Century Gothic"/>
              </a:rPr>
              <a:t>in</a:t>
            </a:r>
            <a:r>
              <a:rPr sz="1000" spc="145" dirty="0">
                <a:latin typeface="Century Gothic"/>
                <a:cs typeface="Century Gothic"/>
              </a:rPr>
              <a:t> </a:t>
            </a:r>
            <a:r>
              <a:rPr sz="1000" spc="55" dirty="0">
                <a:latin typeface="Century Gothic"/>
                <a:cs typeface="Century Gothic"/>
              </a:rPr>
              <a:t>line</a:t>
            </a:r>
            <a:r>
              <a:rPr sz="1000" spc="170" dirty="0">
                <a:latin typeface="Century Gothic"/>
                <a:cs typeface="Century Gothic"/>
              </a:rPr>
              <a:t> </a:t>
            </a:r>
            <a:r>
              <a:rPr sz="1000" spc="85" dirty="0">
                <a:latin typeface="Century Gothic"/>
                <a:cs typeface="Century Gothic"/>
              </a:rPr>
              <a:t>with</a:t>
            </a:r>
            <a:r>
              <a:rPr sz="1000" spc="140" dirty="0">
                <a:latin typeface="Century Gothic"/>
                <a:cs typeface="Century Gothic"/>
              </a:rPr>
              <a:t> </a:t>
            </a:r>
            <a:r>
              <a:rPr sz="1000" spc="10" dirty="0">
                <a:latin typeface="Century Gothic"/>
                <a:cs typeface="Century Gothic"/>
              </a:rPr>
              <a:t>Awarding</a:t>
            </a:r>
            <a:r>
              <a:rPr sz="1000" spc="140" dirty="0">
                <a:latin typeface="Century Gothic"/>
                <a:cs typeface="Century Gothic"/>
              </a:rPr>
              <a:t> </a:t>
            </a:r>
            <a:r>
              <a:rPr sz="1000" spc="55" dirty="0">
                <a:latin typeface="Century Gothic"/>
                <a:cs typeface="Century Gothic"/>
              </a:rPr>
              <a:t>Body</a:t>
            </a:r>
            <a:r>
              <a:rPr sz="1000" spc="130" dirty="0">
                <a:latin typeface="Century Gothic"/>
                <a:cs typeface="Century Gothic"/>
              </a:rPr>
              <a:t> </a:t>
            </a:r>
            <a:r>
              <a:rPr sz="1000" spc="70" dirty="0">
                <a:latin typeface="Century Gothic"/>
                <a:cs typeface="Century Gothic"/>
              </a:rPr>
              <a:t>Assessment </a:t>
            </a:r>
            <a:r>
              <a:rPr sz="1000" spc="-10" dirty="0">
                <a:latin typeface="Century Gothic"/>
                <a:cs typeface="Century Gothic"/>
              </a:rPr>
              <a:t>Criteria.</a:t>
            </a:r>
            <a:endParaRPr sz="1000">
              <a:latin typeface="Century Gothic"/>
              <a:cs typeface="Century Gothic"/>
            </a:endParaRPr>
          </a:p>
          <a:p>
            <a:pPr marL="18415" algn="just">
              <a:lnSpc>
                <a:spcPct val="100000"/>
              </a:lnSpc>
              <a:spcBef>
                <a:spcPts val="1135"/>
              </a:spcBef>
              <a:tabLst>
                <a:tab pos="3966845" algn="l"/>
              </a:tabLst>
            </a:pPr>
            <a:r>
              <a:rPr sz="900" spc="45" dirty="0">
                <a:latin typeface="Century Gothic"/>
                <a:cs typeface="Century Gothic"/>
              </a:rPr>
              <a:t>Learner</a:t>
            </a:r>
            <a:r>
              <a:rPr sz="900" spc="75" dirty="0">
                <a:latin typeface="Century Gothic"/>
                <a:cs typeface="Century Gothic"/>
              </a:rPr>
              <a:t> </a:t>
            </a:r>
            <a:r>
              <a:rPr sz="900" spc="40" dirty="0">
                <a:latin typeface="Century Gothic"/>
                <a:cs typeface="Century Gothic"/>
              </a:rPr>
              <a:t>signature:</a:t>
            </a:r>
            <a:r>
              <a:rPr sz="900" dirty="0">
                <a:latin typeface="Century Gothic"/>
                <a:cs typeface="Century Gothic"/>
              </a:rPr>
              <a:t>	</a:t>
            </a:r>
            <a:r>
              <a:rPr sz="900" spc="-10" dirty="0">
                <a:latin typeface="Century Gothic"/>
                <a:cs typeface="Century Gothic"/>
              </a:rPr>
              <a:t>Date:</a:t>
            </a:r>
            <a:endParaRPr sz="900">
              <a:latin typeface="Century Gothic"/>
              <a:cs typeface="Century Gothic"/>
            </a:endParaRPr>
          </a:p>
        </p:txBody>
      </p:sp>
      <p:sp>
        <p:nvSpPr>
          <p:cNvPr id="13" name="object 13"/>
          <p:cNvSpPr txBox="1"/>
          <p:nvPr/>
        </p:nvSpPr>
        <p:spPr>
          <a:xfrm>
            <a:off x="395290" y="8759088"/>
            <a:ext cx="1167130" cy="162560"/>
          </a:xfrm>
          <a:prstGeom prst="rect">
            <a:avLst/>
          </a:prstGeom>
        </p:spPr>
        <p:txBody>
          <a:bodyPr vert="horz" wrap="square" lIns="0" tIns="12700" rIns="0" bIns="0" rtlCol="0">
            <a:spAutoFit/>
          </a:bodyPr>
          <a:lstStyle/>
          <a:p>
            <a:pPr marL="12700">
              <a:lnSpc>
                <a:spcPct val="100000"/>
              </a:lnSpc>
              <a:spcBef>
                <a:spcPts val="100"/>
              </a:spcBef>
            </a:pPr>
            <a:r>
              <a:rPr sz="900" spc="10" dirty="0">
                <a:latin typeface="Century Gothic"/>
                <a:cs typeface="Century Gothic"/>
              </a:rPr>
              <a:t>Assessor</a:t>
            </a:r>
            <a:r>
              <a:rPr sz="900" spc="290" dirty="0">
                <a:latin typeface="Century Gothic"/>
                <a:cs typeface="Century Gothic"/>
              </a:rPr>
              <a:t> </a:t>
            </a:r>
            <a:r>
              <a:rPr sz="900" spc="40" dirty="0">
                <a:latin typeface="Century Gothic"/>
                <a:cs typeface="Century Gothic"/>
              </a:rPr>
              <a:t>signature:</a:t>
            </a:r>
            <a:endParaRPr sz="900">
              <a:latin typeface="Century Gothic"/>
              <a:cs typeface="Century Gothic"/>
            </a:endParaRPr>
          </a:p>
        </p:txBody>
      </p:sp>
      <p:sp>
        <p:nvSpPr>
          <p:cNvPr id="14" name="object 14"/>
          <p:cNvSpPr txBox="1"/>
          <p:nvPr/>
        </p:nvSpPr>
        <p:spPr>
          <a:xfrm>
            <a:off x="4328467" y="8759088"/>
            <a:ext cx="332105" cy="162560"/>
          </a:xfrm>
          <a:prstGeom prst="rect">
            <a:avLst/>
          </a:prstGeom>
        </p:spPr>
        <p:txBody>
          <a:bodyPr vert="horz" wrap="square" lIns="0" tIns="12700" rIns="0" bIns="0" rtlCol="0">
            <a:spAutoFit/>
          </a:bodyPr>
          <a:lstStyle/>
          <a:p>
            <a:pPr marL="12700">
              <a:lnSpc>
                <a:spcPct val="100000"/>
              </a:lnSpc>
              <a:spcBef>
                <a:spcPts val="100"/>
              </a:spcBef>
            </a:pPr>
            <a:r>
              <a:rPr sz="900" spc="-10" dirty="0">
                <a:latin typeface="Century Gothic"/>
                <a:cs typeface="Century Gothic"/>
              </a:rPr>
              <a:t>Date:</a:t>
            </a:r>
            <a:endParaRPr sz="900">
              <a:latin typeface="Century Gothic"/>
              <a:cs typeface="Century Gothic"/>
            </a:endParaRPr>
          </a:p>
        </p:txBody>
      </p:sp>
      <p:sp>
        <p:nvSpPr>
          <p:cNvPr id="15" name="object 15"/>
          <p:cNvSpPr txBox="1"/>
          <p:nvPr/>
        </p:nvSpPr>
        <p:spPr>
          <a:xfrm>
            <a:off x="395290" y="9119133"/>
            <a:ext cx="886460" cy="162560"/>
          </a:xfrm>
          <a:prstGeom prst="rect">
            <a:avLst/>
          </a:prstGeom>
        </p:spPr>
        <p:txBody>
          <a:bodyPr vert="horz" wrap="square" lIns="0" tIns="12700" rIns="0" bIns="0" rtlCol="0">
            <a:spAutoFit/>
          </a:bodyPr>
          <a:lstStyle/>
          <a:p>
            <a:pPr marL="12700">
              <a:lnSpc>
                <a:spcPct val="100000"/>
              </a:lnSpc>
              <a:spcBef>
                <a:spcPts val="100"/>
              </a:spcBef>
            </a:pPr>
            <a:r>
              <a:rPr sz="900" dirty="0">
                <a:latin typeface="Century Gothic"/>
                <a:cs typeface="Century Gothic"/>
              </a:rPr>
              <a:t>IQA</a:t>
            </a:r>
            <a:r>
              <a:rPr sz="900" spc="50" dirty="0">
                <a:latin typeface="Century Gothic"/>
                <a:cs typeface="Century Gothic"/>
              </a:rPr>
              <a:t> </a:t>
            </a:r>
            <a:r>
              <a:rPr sz="900" spc="40" dirty="0">
                <a:latin typeface="Century Gothic"/>
                <a:cs typeface="Century Gothic"/>
              </a:rPr>
              <a:t>signature:</a:t>
            </a:r>
            <a:endParaRPr sz="900">
              <a:latin typeface="Century Gothic"/>
              <a:cs typeface="Century Gothic"/>
            </a:endParaRPr>
          </a:p>
        </p:txBody>
      </p:sp>
      <p:sp>
        <p:nvSpPr>
          <p:cNvPr id="16" name="object 16"/>
          <p:cNvSpPr txBox="1"/>
          <p:nvPr/>
        </p:nvSpPr>
        <p:spPr>
          <a:xfrm>
            <a:off x="4328581" y="9119133"/>
            <a:ext cx="332105" cy="162560"/>
          </a:xfrm>
          <a:prstGeom prst="rect">
            <a:avLst/>
          </a:prstGeom>
        </p:spPr>
        <p:txBody>
          <a:bodyPr vert="horz" wrap="square" lIns="0" tIns="12700" rIns="0" bIns="0" rtlCol="0">
            <a:spAutoFit/>
          </a:bodyPr>
          <a:lstStyle/>
          <a:p>
            <a:pPr marL="12700">
              <a:lnSpc>
                <a:spcPct val="100000"/>
              </a:lnSpc>
              <a:spcBef>
                <a:spcPts val="100"/>
              </a:spcBef>
            </a:pPr>
            <a:r>
              <a:rPr sz="900" spc="-10" dirty="0">
                <a:latin typeface="Century Gothic"/>
                <a:cs typeface="Century Gothic"/>
              </a:rPr>
              <a:t>Date:</a:t>
            </a:r>
            <a:endParaRPr sz="900">
              <a:latin typeface="Century Gothic"/>
              <a:cs typeface="Century Gothic"/>
            </a:endParaRPr>
          </a:p>
        </p:txBody>
      </p:sp>
      <p:grpSp>
        <p:nvGrpSpPr>
          <p:cNvPr id="17" name="object 17"/>
          <p:cNvGrpSpPr/>
          <p:nvPr/>
        </p:nvGrpSpPr>
        <p:grpSpPr>
          <a:xfrm>
            <a:off x="220596" y="1290270"/>
            <a:ext cx="6374130" cy="2234565"/>
            <a:chOff x="220596" y="1290270"/>
            <a:chExt cx="6374130" cy="2234565"/>
          </a:xfrm>
        </p:grpSpPr>
        <p:sp>
          <p:nvSpPr>
            <p:cNvPr id="18" name="object 18"/>
            <p:cNvSpPr/>
            <p:nvPr/>
          </p:nvSpPr>
          <p:spPr>
            <a:xfrm>
              <a:off x="239649" y="1309318"/>
              <a:ext cx="6336030" cy="2196465"/>
            </a:xfrm>
            <a:custGeom>
              <a:avLst/>
              <a:gdLst/>
              <a:ahLst/>
              <a:cxnLst/>
              <a:rect l="l" t="t" r="r" b="b"/>
              <a:pathLst>
                <a:path w="6336030" h="2196465">
                  <a:moveTo>
                    <a:pt x="6335992" y="1476248"/>
                  </a:moveTo>
                  <a:lnTo>
                    <a:pt x="1799488" y="1476248"/>
                  </a:lnTo>
                  <a:lnTo>
                    <a:pt x="863396" y="1476248"/>
                  </a:lnTo>
                  <a:lnTo>
                    <a:pt x="0" y="1476248"/>
                  </a:lnTo>
                  <a:lnTo>
                    <a:pt x="0" y="1836242"/>
                  </a:lnTo>
                  <a:lnTo>
                    <a:pt x="0" y="2196236"/>
                  </a:lnTo>
                  <a:lnTo>
                    <a:pt x="863384" y="2196236"/>
                  </a:lnTo>
                  <a:lnTo>
                    <a:pt x="1799488" y="2196236"/>
                  </a:lnTo>
                  <a:lnTo>
                    <a:pt x="6335992" y="2196236"/>
                  </a:lnTo>
                  <a:lnTo>
                    <a:pt x="6335992" y="1836242"/>
                  </a:lnTo>
                  <a:lnTo>
                    <a:pt x="6335992" y="1476248"/>
                  </a:lnTo>
                  <a:close/>
                </a:path>
                <a:path w="6336030" h="2196465">
                  <a:moveTo>
                    <a:pt x="6335992" y="756246"/>
                  </a:moveTo>
                  <a:lnTo>
                    <a:pt x="1799488" y="756246"/>
                  </a:lnTo>
                  <a:lnTo>
                    <a:pt x="863396" y="756246"/>
                  </a:lnTo>
                  <a:lnTo>
                    <a:pt x="0" y="756246"/>
                  </a:lnTo>
                  <a:lnTo>
                    <a:pt x="0" y="1116241"/>
                  </a:lnTo>
                  <a:lnTo>
                    <a:pt x="0" y="1476235"/>
                  </a:lnTo>
                  <a:lnTo>
                    <a:pt x="863384" y="1476235"/>
                  </a:lnTo>
                  <a:lnTo>
                    <a:pt x="1799488" y="1476235"/>
                  </a:lnTo>
                  <a:lnTo>
                    <a:pt x="6335992" y="1476235"/>
                  </a:lnTo>
                  <a:lnTo>
                    <a:pt x="6335992" y="1116241"/>
                  </a:lnTo>
                  <a:lnTo>
                    <a:pt x="6335992" y="756246"/>
                  </a:lnTo>
                  <a:close/>
                </a:path>
                <a:path w="6336030" h="2196465">
                  <a:moveTo>
                    <a:pt x="6335992" y="0"/>
                  </a:moveTo>
                  <a:lnTo>
                    <a:pt x="1799488" y="0"/>
                  </a:lnTo>
                  <a:lnTo>
                    <a:pt x="863396" y="0"/>
                  </a:lnTo>
                  <a:lnTo>
                    <a:pt x="0" y="0"/>
                  </a:lnTo>
                  <a:lnTo>
                    <a:pt x="0" y="396240"/>
                  </a:lnTo>
                  <a:lnTo>
                    <a:pt x="0" y="756234"/>
                  </a:lnTo>
                  <a:lnTo>
                    <a:pt x="863384" y="756234"/>
                  </a:lnTo>
                  <a:lnTo>
                    <a:pt x="1799488" y="756234"/>
                  </a:lnTo>
                  <a:lnTo>
                    <a:pt x="6335992" y="756234"/>
                  </a:lnTo>
                  <a:lnTo>
                    <a:pt x="6335992" y="396240"/>
                  </a:lnTo>
                  <a:lnTo>
                    <a:pt x="6335992" y="0"/>
                  </a:lnTo>
                  <a:close/>
                </a:path>
              </a:pathLst>
            </a:custGeom>
            <a:solidFill>
              <a:srgbClr val="FFFFFF"/>
            </a:solidFill>
          </p:spPr>
          <p:txBody>
            <a:bodyPr wrap="square" lIns="0" tIns="0" rIns="0" bIns="0" rtlCol="0"/>
            <a:lstStyle/>
            <a:p>
              <a:endParaRPr/>
            </a:p>
          </p:txBody>
        </p:sp>
        <p:sp>
          <p:nvSpPr>
            <p:cNvPr id="19" name="object 19"/>
            <p:cNvSpPr/>
            <p:nvPr/>
          </p:nvSpPr>
          <p:spPr>
            <a:xfrm>
              <a:off x="1103039" y="1299795"/>
              <a:ext cx="0" cy="2215515"/>
            </a:xfrm>
            <a:custGeom>
              <a:avLst/>
              <a:gdLst/>
              <a:ahLst/>
              <a:cxnLst/>
              <a:rect l="l" t="t" r="r" b="b"/>
              <a:pathLst>
                <a:path h="2215515">
                  <a:moveTo>
                    <a:pt x="0" y="0"/>
                  </a:moveTo>
                  <a:lnTo>
                    <a:pt x="0" y="2215286"/>
                  </a:lnTo>
                </a:path>
              </a:pathLst>
            </a:custGeom>
            <a:ln w="19050">
              <a:solidFill>
                <a:srgbClr val="000000"/>
              </a:solidFill>
            </a:ln>
          </p:spPr>
          <p:txBody>
            <a:bodyPr wrap="square" lIns="0" tIns="0" rIns="0" bIns="0" rtlCol="0"/>
            <a:lstStyle/>
            <a:p>
              <a:endParaRPr/>
            </a:p>
          </p:txBody>
        </p:sp>
        <p:sp>
          <p:nvSpPr>
            <p:cNvPr id="20" name="object 20"/>
            <p:cNvSpPr/>
            <p:nvPr/>
          </p:nvSpPr>
          <p:spPr>
            <a:xfrm>
              <a:off x="2039142" y="1299795"/>
              <a:ext cx="0" cy="2215515"/>
            </a:xfrm>
            <a:custGeom>
              <a:avLst/>
              <a:gdLst/>
              <a:ahLst/>
              <a:cxnLst/>
              <a:rect l="l" t="t" r="r" b="b"/>
              <a:pathLst>
                <a:path h="2215515">
                  <a:moveTo>
                    <a:pt x="0" y="0"/>
                  </a:moveTo>
                  <a:lnTo>
                    <a:pt x="0" y="2215286"/>
                  </a:lnTo>
                </a:path>
              </a:pathLst>
            </a:custGeom>
            <a:ln w="19050">
              <a:solidFill>
                <a:srgbClr val="000000"/>
              </a:solidFill>
            </a:ln>
          </p:spPr>
          <p:txBody>
            <a:bodyPr wrap="square" lIns="0" tIns="0" rIns="0" bIns="0" rtlCol="0"/>
            <a:lstStyle/>
            <a:p>
              <a:endParaRPr/>
            </a:p>
          </p:txBody>
        </p:sp>
        <p:sp>
          <p:nvSpPr>
            <p:cNvPr id="21" name="object 21"/>
            <p:cNvSpPr/>
            <p:nvPr/>
          </p:nvSpPr>
          <p:spPr>
            <a:xfrm>
              <a:off x="230121" y="1705560"/>
              <a:ext cx="6355080" cy="0"/>
            </a:xfrm>
            <a:custGeom>
              <a:avLst/>
              <a:gdLst/>
              <a:ahLst/>
              <a:cxnLst/>
              <a:rect l="l" t="t" r="r" b="b"/>
              <a:pathLst>
                <a:path w="6355080">
                  <a:moveTo>
                    <a:pt x="0" y="0"/>
                  </a:moveTo>
                  <a:lnTo>
                    <a:pt x="6355054" y="0"/>
                  </a:lnTo>
                </a:path>
              </a:pathLst>
            </a:custGeom>
            <a:ln w="19050">
              <a:solidFill>
                <a:srgbClr val="000000"/>
              </a:solidFill>
            </a:ln>
          </p:spPr>
          <p:txBody>
            <a:bodyPr wrap="square" lIns="0" tIns="0" rIns="0" bIns="0" rtlCol="0"/>
            <a:lstStyle/>
            <a:p>
              <a:endParaRPr/>
            </a:p>
          </p:txBody>
        </p:sp>
        <p:sp>
          <p:nvSpPr>
            <p:cNvPr id="22" name="object 22"/>
            <p:cNvSpPr/>
            <p:nvPr/>
          </p:nvSpPr>
          <p:spPr>
            <a:xfrm>
              <a:off x="230121" y="2065561"/>
              <a:ext cx="6355080" cy="0"/>
            </a:xfrm>
            <a:custGeom>
              <a:avLst/>
              <a:gdLst/>
              <a:ahLst/>
              <a:cxnLst/>
              <a:rect l="l" t="t" r="r" b="b"/>
              <a:pathLst>
                <a:path w="6355080">
                  <a:moveTo>
                    <a:pt x="0" y="0"/>
                  </a:moveTo>
                  <a:lnTo>
                    <a:pt x="6355054" y="0"/>
                  </a:lnTo>
                </a:path>
              </a:pathLst>
            </a:custGeom>
            <a:ln w="19050">
              <a:solidFill>
                <a:srgbClr val="000000"/>
              </a:solidFill>
            </a:ln>
          </p:spPr>
          <p:txBody>
            <a:bodyPr wrap="square" lIns="0" tIns="0" rIns="0" bIns="0" rtlCol="0"/>
            <a:lstStyle/>
            <a:p>
              <a:endParaRPr/>
            </a:p>
          </p:txBody>
        </p:sp>
        <p:sp>
          <p:nvSpPr>
            <p:cNvPr id="23" name="object 23"/>
            <p:cNvSpPr/>
            <p:nvPr/>
          </p:nvSpPr>
          <p:spPr>
            <a:xfrm>
              <a:off x="230121" y="2425560"/>
              <a:ext cx="6355080" cy="0"/>
            </a:xfrm>
            <a:custGeom>
              <a:avLst/>
              <a:gdLst/>
              <a:ahLst/>
              <a:cxnLst/>
              <a:rect l="l" t="t" r="r" b="b"/>
              <a:pathLst>
                <a:path w="6355080">
                  <a:moveTo>
                    <a:pt x="0" y="0"/>
                  </a:moveTo>
                  <a:lnTo>
                    <a:pt x="6355054" y="0"/>
                  </a:lnTo>
                </a:path>
              </a:pathLst>
            </a:custGeom>
            <a:ln w="19050">
              <a:solidFill>
                <a:srgbClr val="000000"/>
              </a:solidFill>
            </a:ln>
          </p:spPr>
          <p:txBody>
            <a:bodyPr wrap="square" lIns="0" tIns="0" rIns="0" bIns="0" rtlCol="0"/>
            <a:lstStyle/>
            <a:p>
              <a:endParaRPr/>
            </a:p>
          </p:txBody>
        </p:sp>
        <p:sp>
          <p:nvSpPr>
            <p:cNvPr id="24" name="object 24"/>
            <p:cNvSpPr/>
            <p:nvPr/>
          </p:nvSpPr>
          <p:spPr>
            <a:xfrm>
              <a:off x="230121" y="2785560"/>
              <a:ext cx="6355080" cy="0"/>
            </a:xfrm>
            <a:custGeom>
              <a:avLst/>
              <a:gdLst/>
              <a:ahLst/>
              <a:cxnLst/>
              <a:rect l="l" t="t" r="r" b="b"/>
              <a:pathLst>
                <a:path w="6355080">
                  <a:moveTo>
                    <a:pt x="0" y="0"/>
                  </a:moveTo>
                  <a:lnTo>
                    <a:pt x="6355054" y="0"/>
                  </a:lnTo>
                </a:path>
              </a:pathLst>
            </a:custGeom>
            <a:ln w="19050">
              <a:solidFill>
                <a:srgbClr val="000000"/>
              </a:solidFill>
            </a:ln>
          </p:spPr>
          <p:txBody>
            <a:bodyPr wrap="square" lIns="0" tIns="0" rIns="0" bIns="0" rtlCol="0"/>
            <a:lstStyle/>
            <a:p>
              <a:endParaRPr/>
            </a:p>
          </p:txBody>
        </p:sp>
        <p:sp>
          <p:nvSpPr>
            <p:cNvPr id="25" name="object 25"/>
            <p:cNvSpPr/>
            <p:nvPr/>
          </p:nvSpPr>
          <p:spPr>
            <a:xfrm>
              <a:off x="230121" y="3145560"/>
              <a:ext cx="6355080" cy="0"/>
            </a:xfrm>
            <a:custGeom>
              <a:avLst/>
              <a:gdLst/>
              <a:ahLst/>
              <a:cxnLst/>
              <a:rect l="l" t="t" r="r" b="b"/>
              <a:pathLst>
                <a:path w="6355080">
                  <a:moveTo>
                    <a:pt x="0" y="0"/>
                  </a:moveTo>
                  <a:lnTo>
                    <a:pt x="6355054" y="0"/>
                  </a:lnTo>
                </a:path>
              </a:pathLst>
            </a:custGeom>
            <a:ln w="19050">
              <a:solidFill>
                <a:srgbClr val="000000"/>
              </a:solidFill>
            </a:ln>
          </p:spPr>
          <p:txBody>
            <a:bodyPr wrap="square" lIns="0" tIns="0" rIns="0" bIns="0" rtlCol="0"/>
            <a:lstStyle/>
            <a:p>
              <a:endParaRPr/>
            </a:p>
          </p:txBody>
        </p:sp>
        <p:sp>
          <p:nvSpPr>
            <p:cNvPr id="26" name="object 26"/>
            <p:cNvSpPr/>
            <p:nvPr/>
          </p:nvSpPr>
          <p:spPr>
            <a:xfrm>
              <a:off x="239646" y="1299795"/>
              <a:ext cx="0" cy="2215515"/>
            </a:xfrm>
            <a:custGeom>
              <a:avLst/>
              <a:gdLst/>
              <a:ahLst/>
              <a:cxnLst/>
              <a:rect l="l" t="t" r="r" b="b"/>
              <a:pathLst>
                <a:path h="2215515">
                  <a:moveTo>
                    <a:pt x="0" y="0"/>
                  </a:moveTo>
                  <a:lnTo>
                    <a:pt x="0" y="2215286"/>
                  </a:lnTo>
                </a:path>
              </a:pathLst>
            </a:custGeom>
            <a:ln w="19050">
              <a:solidFill>
                <a:srgbClr val="000000"/>
              </a:solidFill>
            </a:ln>
          </p:spPr>
          <p:txBody>
            <a:bodyPr wrap="square" lIns="0" tIns="0" rIns="0" bIns="0" rtlCol="0"/>
            <a:lstStyle/>
            <a:p>
              <a:endParaRPr/>
            </a:p>
          </p:txBody>
        </p:sp>
        <p:sp>
          <p:nvSpPr>
            <p:cNvPr id="27" name="object 27"/>
            <p:cNvSpPr/>
            <p:nvPr/>
          </p:nvSpPr>
          <p:spPr>
            <a:xfrm>
              <a:off x="6575646" y="1299795"/>
              <a:ext cx="0" cy="2215515"/>
            </a:xfrm>
            <a:custGeom>
              <a:avLst/>
              <a:gdLst/>
              <a:ahLst/>
              <a:cxnLst/>
              <a:rect l="l" t="t" r="r" b="b"/>
              <a:pathLst>
                <a:path h="2215515">
                  <a:moveTo>
                    <a:pt x="0" y="0"/>
                  </a:moveTo>
                  <a:lnTo>
                    <a:pt x="0" y="2215286"/>
                  </a:lnTo>
                </a:path>
              </a:pathLst>
            </a:custGeom>
            <a:ln w="19050">
              <a:solidFill>
                <a:srgbClr val="000000"/>
              </a:solidFill>
            </a:ln>
          </p:spPr>
          <p:txBody>
            <a:bodyPr wrap="square" lIns="0" tIns="0" rIns="0" bIns="0" rtlCol="0"/>
            <a:lstStyle/>
            <a:p>
              <a:endParaRPr/>
            </a:p>
          </p:txBody>
        </p:sp>
        <p:sp>
          <p:nvSpPr>
            <p:cNvPr id="28" name="object 28"/>
            <p:cNvSpPr/>
            <p:nvPr/>
          </p:nvSpPr>
          <p:spPr>
            <a:xfrm>
              <a:off x="230121" y="1309320"/>
              <a:ext cx="6355080" cy="0"/>
            </a:xfrm>
            <a:custGeom>
              <a:avLst/>
              <a:gdLst/>
              <a:ahLst/>
              <a:cxnLst/>
              <a:rect l="l" t="t" r="r" b="b"/>
              <a:pathLst>
                <a:path w="6355080">
                  <a:moveTo>
                    <a:pt x="0" y="0"/>
                  </a:moveTo>
                  <a:lnTo>
                    <a:pt x="6355054" y="0"/>
                  </a:lnTo>
                </a:path>
              </a:pathLst>
            </a:custGeom>
            <a:ln w="19050">
              <a:solidFill>
                <a:srgbClr val="000000"/>
              </a:solidFill>
            </a:ln>
          </p:spPr>
          <p:txBody>
            <a:bodyPr wrap="square" lIns="0" tIns="0" rIns="0" bIns="0" rtlCol="0"/>
            <a:lstStyle/>
            <a:p>
              <a:endParaRPr/>
            </a:p>
          </p:txBody>
        </p:sp>
        <p:sp>
          <p:nvSpPr>
            <p:cNvPr id="29" name="object 29"/>
            <p:cNvSpPr/>
            <p:nvPr/>
          </p:nvSpPr>
          <p:spPr>
            <a:xfrm>
              <a:off x="230121" y="3496035"/>
              <a:ext cx="6355080" cy="19050"/>
            </a:xfrm>
            <a:custGeom>
              <a:avLst/>
              <a:gdLst/>
              <a:ahLst/>
              <a:cxnLst/>
              <a:rect l="l" t="t" r="r" b="b"/>
              <a:pathLst>
                <a:path w="6355080" h="19050">
                  <a:moveTo>
                    <a:pt x="0" y="19050"/>
                  </a:moveTo>
                  <a:lnTo>
                    <a:pt x="6355054" y="19050"/>
                  </a:lnTo>
                  <a:lnTo>
                    <a:pt x="6355054" y="0"/>
                  </a:lnTo>
                  <a:lnTo>
                    <a:pt x="0" y="0"/>
                  </a:lnTo>
                  <a:lnTo>
                    <a:pt x="0" y="19050"/>
                  </a:lnTo>
                  <a:close/>
                </a:path>
              </a:pathLst>
            </a:custGeom>
            <a:solidFill>
              <a:srgbClr val="000000"/>
            </a:solidFill>
          </p:spPr>
          <p:txBody>
            <a:bodyPr wrap="square" lIns="0" tIns="0" rIns="0" bIns="0" rtlCol="0"/>
            <a:lstStyle/>
            <a:p>
              <a:endParaRPr/>
            </a:p>
          </p:txBody>
        </p:sp>
      </p:grpSp>
      <p:sp>
        <p:nvSpPr>
          <p:cNvPr id="30" name="object 30"/>
          <p:cNvSpPr txBox="1"/>
          <p:nvPr/>
        </p:nvSpPr>
        <p:spPr>
          <a:xfrm>
            <a:off x="318386" y="1336244"/>
            <a:ext cx="692785" cy="330200"/>
          </a:xfrm>
          <a:prstGeom prst="rect">
            <a:avLst/>
          </a:prstGeom>
        </p:spPr>
        <p:txBody>
          <a:bodyPr vert="horz" wrap="square" lIns="0" tIns="12065" rIns="0" bIns="0" rtlCol="0">
            <a:spAutoFit/>
          </a:bodyPr>
          <a:lstStyle/>
          <a:p>
            <a:pPr marL="12700" marR="5080">
              <a:lnSpc>
                <a:spcPct val="100000"/>
              </a:lnSpc>
              <a:spcBef>
                <a:spcPts val="95"/>
              </a:spcBef>
            </a:pPr>
            <a:r>
              <a:rPr sz="1000" spc="-10" dirty="0">
                <a:latin typeface="Century Gothic"/>
                <a:cs typeface="Century Gothic"/>
              </a:rPr>
              <a:t>Learning Outcomes</a:t>
            </a:r>
            <a:endParaRPr sz="1000">
              <a:latin typeface="Century Gothic"/>
              <a:cs typeface="Century Gothic"/>
            </a:endParaRPr>
          </a:p>
        </p:txBody>
      </p:sp>
      <p:sp>
        <p:nvSpPr>
          <p:cNvPr id="31" name="object 31"/>
          <p:cNvSpPr txBox="1"/>
          <p:nvPr/>
        </p:nvSpPr>
        <p:spPr>
          <a:xfrm>
            <a:off x="1181820" y="1336244"/>
            <a:ext cx="614045" cy="330200"/>
          </a:xfrm>
          <a:prstGeom prst="rect">
            <a:avLst/>
          </a:prstGeom>
        </p:spPr>
        <p:txBody>
          <a:bodyPr vert="horz" wrap="square" lIns="0" tIns="12065" rIns="0" bIns="0" rtlCol="0">
            <a:spAutoFit/>
          </a:bodyPr>
          <a:lstStyle/>
          <a:p>
            <a:pPr marL="12700" marR="5080">
              <a:lnSpc>
                <a:spcPct val="100000"/>
              </a:lnSpc>
              <a:spcBef>
                <a:spcPts val="95"/>
              </a:spcBef>
            </a:pPr>
            <a:r>
              <a:rPr sz="1000" spc="-20" dirty="0">
                <a:latin typeface="Century Gothic"/>
                <a:cs typeface="Century Gothic"/>
              </a:rPr>
              <a:t>Date </a:t>
            </a:r>
            <a:r>
              <a:rPr sz="1000" spc="-25" dirty="0">
                <a:latin typeface="Century Gothic"/>
                <a:cs typeface="Century Gothic"/>
              </a:rPr>
              <a:t>Achieved</a:t>
            </a:r>
            <a:endParaRPr sz="1000">
              <a:latin typeface="Century Gothic"/>
              <a:cs typeface="Century Gothic"/>
            </a:endParaRPr>
          </a:p>
        </p:txBody>
      </p:sp>
      <p:sp>
        <p:nvSpPr>
          <p:cNvPr id="32" name="object 32"/>
          <p:cNvSpPr txBox="1"/>
          <p:nvPr/>
        </p:nvSpPr>
        <p:spPr>
          <a:xfrm>
            <a:off x="2117861" y="1336244"/>
            <a:ext cx="3065780" cy="177800"/>
          </a:xfrm>
          <a:prstGeom prst="rect">
            <a:avLst/>
          </a:prstGeom>
        </p:spPr>
        <p:txBody>
          <a:bodyPr vert="horz" wrap="square" lIns="0" tIns="12065" rIns="0" bIns="0" rtlCol="0">
            <a:spAutoFit/>
          </a:bodyPr>
          <a:lstStyle/>
          <a:p>
            <a:pPr marL="12700">
              <a:lnSpc>
                <a:spcPct val="100000"/>
              </a:lnSpc>
              <a:spcBef>
                <a:spcPts val="95"/>
              </a:spcBef>
            </a:pPr>
            <a:r>
              <a:rPr sz="1000" dirty="0">
                <a:latin typeface="Century Gothic"/>
                <a:cs typeface="Century Gothic"/>
              </a:rPr>
              <a:t>Not</a:t>
            </a:r>
            <a:r>
              <a:rPr sz="1000" spc="45" dirty="0">
                <a:latin typeface="Century Gothic"/>
                <a:cs typeface="Century Gothic"/>
              </a:rPr>
              <a:t> </a:t>
            </a:r>
            <a:r>
              <a:rPr sz="1000" spc="-20" dirty="0">
                <a:latin typeface="Century Gothic"/>
                <a:cs typeface="Century Gothic"/>
              </a:rPr>
              <a:t>Achieved</a:t>
            </a:r>
            <a:r>
              <a:rPr sz="1000" spc="30" dirty="0">
                <a:latin typeface="Century Gothic"/>
                <a:cs typeface="Century Gothic"/>
              </a:rPr>
              <a:t> </a:t>
            </a:r>
            <a:r>
              <a:rPr sz="1000" dirty="0">
                <a:latin typeface="Century Gothic"/>
                <a:cs typeface="Century Gothic"/>
              </a:rPr>
              <a:t>–</a:t>
            </a:r>
            <a:r>
              <a:rPr sz="1000" spc="50" dirty="0">
                <a:latin typeface="Century Gothic"/>
                <a:cs typeface="Century Gothic"/>
              </a:rPr>
              <a:t> </a:t>
            </a:r>
            <a:r>
              <a:rPr sz="1000" spc="45" dirty="0">
                <a:latin typeface="Century Gothic"/>
                <a:cs typeface="Century Gothic"/>
              </a:rPr>
              <a:t>Assessment</a:t>
            </a:r>
            <a:r>
              <a:rPr sz="1000" spc="15" dirty="0">
                <a:latin typeface="Century Gothic"/>
                <a:cs typeface="Century Gothic"/>
              </a:rPr>
              <a:t> </a:t>
            </a:r>
            <a:r>
              <a:rPr sz="1000" dirty="0">
                <a:latin typeface="Century Gothic"/>
                <a:cs typeface="Century Gothic"/>
              </a:rPr>
              <a:t>criteria</a:t>
            </a:r>
            <a:r>
              <a:rPr sz="1000" spc="50" dirty="0">
                <a:latin typeface="Century Gothic"/>
                <a:cs typeface="Century Gothic"/>
              </a:rPr>
              <a:t> </a:t>
            </a:r>
            <a:r>
              <a:rPr sz="1000" spc="-10" dirty="0">
                <a:latin typeface="Century Gothic"/>
                <a:cs typeface="Century Gothic"/>
              </a:rPr>
              <a:t>outstanding</a:t>
            </a:r>
            <a:endParaRPr sz="1000">
              <a:latin typeface="Century Gothic"/>
              <a:cs typeface="Century Gothic"/>
            </a:endParaRPr>
          </a:p>
        </p:txBody>
      </p:sp>
      <p:sp>
        <p:nvSpPr>
          <p:cNvPr id="33" name="object 33"/>
          <p:cNvSpPr txBox="1"/>
          <p:nvPr/>
        </p:nvSpPr>
        <p:spPr>
          <a:xfrm>
            <a:off x="596257" y="1757037"/>
            <a:ext cx="148590" cy="1679575"/>
          </a:xfrm>
          <a:prstGeom prst="rect">
            <a:avLst/>
          </a:prstGeom>
        </p:spPr>
        <p:txBody>
          <a:bodyPr vert="horz" wrap="square" lIns="0" tIns="12700" rIns="0" bIns="0" rtlCol="0">
            <a:spAutoFit/>
          </a:bodyPr>
          <a:lstStyle/>
          <a:p>
            <a:pPr marL="40005">
              <a:lnSpc>
                <a:spcPct val="100000"/>
              </a:lnSpc>
              <a:spcBef>
                <a:spcPts val="100"/>
              </a:spcBef>
            </a:pPr>
            <a:r>
              <a:rPr sz="1400" b="1" spc="-50" dirty="0">
                <a:latin typeface="Calibri"/>
                <a:cs typeface="Calibri"/>
              </a:rPr>
              <a:t>1</a:t>
            </a:r>
            <a:endParaRPr sz="1400">
              <a:latin typeface="Calibri"/>
              <a:cs typeface="Calibri"/>
            </a:endParaRPr>
          </a:p>
          <a:p>
            <a:pPr marL="21590">
              <a:lnSpc>
                <a:spcPct val="100000"/>
              </a:lnSpc>
              <a:spcBef>
                <a:spcPts val="1155"/>
              </a:spcBef>
            </a:pPr>
            <a:r>
              <a:rPr sz="1400" b="1" spc="60" dirty="0">
                <a:latin typeface="Calibri"/>
                <a:cs typeface="Calibri"/>
              </a:rPr>
              <a:t>2</a:t>
            </a:r>
            <a:endParaRPr sz="1400">
              <a:latin typeface="Calibri"/>
              <a:cs typeface="Calibri"/>
            </a:endParaRPr>
          </a:p>
          <a:p>
            <a:pPr marL="21590">
              <a:lnSpc>
                <a:spcPct val="100000"/>
              </a:lnSpc>
              <a:spcBef>
                <a:spcPts val="1155"/>
              </a:spcBef>
            </a:pPr>
            <a:r>
              <a:rPr sz="1400" b="1" spc="60" dirty="0">
                <a:latin typeface="Calibri"/>
                <a:cs typeface="Calibri"/>
              </a:rPr>
              <a:t>3</a:t>
            </a:r>
            <a:endParaRPr sz="1400">
              <a:latin typeface="Calibri"/>
              <a:cs typeface="Calibri"/>
            </a:endParaRPr>
          </a:p>
          <a:p>
            <a:pPr marL="12700">
              <a:lnSpc>
                <a:spcPct val="100000"/>
              </a:lnSpc>
              <a:spcBef>
                <a:spcPts val="1155"/>
              </a:spcBef>
            </a:pPr>
            <a:r>
              <a:rPr sz="1400" b="1" spc="195" dirty="0">
                <a:latin typeface="Calibri"/>
                <a:cs typeface="Calibri"/>
              </a:rPr>
              <a:t>4</a:t>
            </a:r>
            <a:endParaRPr sz="1400">
              <a:latin typeface="Calibri"/>
              <a:cs typeface="Calibri"/>
            </a:endParaRPr>
          </a:p>
          <a:p>
            <a:pPr marL="21590">
              <a:lnSpc>
                <a:spcPct val="100000"/>
              </a:lnSpc>
              <a:spcBef>
                <a:spcPts val="1155"/>
              </a:spcBef>
            </a:pPr>
            <a:r>
              <a:rPr sz="1400" b="1" spc="60" dirty="0">
                <a:latin typeface="Calibri"/>
                <a:cs typeface="Calibri"/>
              </a:rPr>
              <a:t>5</a:t>
            </a:r>
            <a:endParaRPr sz="1400">
              <a:latin typeface="Calibri"/>
              <a:cs typeface="Calibri"/>
            </a:endParaRPr>
          </a:p>
        </p:txBody>
      </p:sp>
      <p:grpSp>
        <p:nvGrpSpPr>
          <p:cNvPr id="34" name="object 34"/>
          <p:cNvGrpSpPr/>
          <p:nvPr/>
        </p:nvGrpSpPr>
        <p:grpSpPr>
          <a:xfrm>
            <a:off x="220596" y="3504378"/>
            <a:ext cx="6374130" cy="1111885"/>
            <a:chOff x="220596" y="3504378"/>
            <a:chExt cx="6374130" cy="1111885"/>
          </a:xfrm>
        </p:grpSpPr>
        <p:sp>
          <p:nvSpPr>
            <p:cNvPr id="35" name="object 35"/>
            <p:cNvSpPr/>
            <p:nvPr/>
          </p:nvSpPr>
          <p:spPr>
            <a:xfrm>
              <a:off x="640021" y="3853691"/>
              <a:ext cx="0" cy="753110"/>
            </a:xfrm>
            <a:custGeom>
              <a:avLst/>
              <a:gdLst/>
              <a:ahLst/>
              <a:cxnLst/>
              <a:rect l="l" t="t" r="r" b="b"/>
              <a:pathLst>
                <a:path h="753110">
                  <a:moveTo>
                    <a:pt x="0" y="0"/>
                  </a:moveTo>
                  <a:lnTo>
                    <a:pt x="0" y="752640"/>
                  </a:lnTo>
                </a:path>
              </a:pathLst>
            </a:custGeom>
            <a:ln w="19050">
              <a:solidFill>
                <a:srgbClr val="000000"/>
              </a:solidFill>
            </a:ln>
          </p:spPr>
          <p:txBody>
            <a:bodyPr wrap="square" lIns="0" tIns="0" rIns="0" bIns="0" rtlCol="0"/>
            <a:lstStyle/>
            <a:p>
              <a:endParaRPr/>
            </a:p>
          </p:txBody>
        </p:sp>
        <p:sp>
          <p:nvSpPr>
            <p:cNvPr id="36" name="object 36"/>
            <p:cNvSpPr/>
            <p:nvPr/>
          </p:nvSpPr>
          <p:spPr>
            <a:xfrm>
              <a:off x="4847805" y="3513903"/>
              <a:ext cx="0" cy="1092835"/>
            </a:xfrm>
            <a:custGeom>
              <a:avLst/>
              <a:gdLst/>
              <a:ahLst/>
              <a:cxnLst/>
              <a:rect l="l" t="t" r="r" b="b"/>
              <a:pathLst>
                <a:path h="1092835">
                  <a:moveTo>
                    <a:pt x="0" y="0"/>
                  </a:moveTo>
                  <a:lnTo>
                    <a:pt x="0" y="1092428"/>
                  </a:lnTo>
                </a:path>
              </a:pathLst>
            </a:custGeom>
            <a:ln w="19050">
              <a:solidFill>
                <a:srgbClr val="000000"/>
              </a:solidFill>
            </a:ln>
          </p:spPr>
          <p:txBody>
            <a:bodyPr wrap="square" lIns="0" tIns="0" rIns="0" bIns="0" rtlCol="0"/>
            <a:lstStyle/>
            <a:p>
              <a:endParaRPr/>
            </a:p>
          </p:txBody>
        </p:sp>
        <p:sp>
          <p:nvSpPr>
            <p:cNvPr id="37" name="object 37"/>
            <p:cNvSpPr/>
            <p:nvPr/>
          </p:nvSpPr>
          <p:spPr>
            <a:xfrm>
              <a:off x="5711727" y="3513903"/>
              <a:ext cx="0" cy="1092835"/>
            </a:xfrm>
            <a:custGeom>
              <a:avLst/>
              <a:gdLst/>
              <a:ahLst/>
              <a:cxnLst/>
              <a:rect l="l" t="t" r="r" b="b"/>
              <a:pathLst>
                <a:path h="1092835">
                  <a:moveTo>
                    <a:pt x="0" y="0"/>
                  </a:moveTo>
                  <a:lnTo>
                    <a:pt x="0" y="1092428"/>
                  </a:lnTo>
                </a:path>
              </a:pathLst>
            </a:custGeom>
            <a:ln w="19050">
              <a:solidFill>
                <a:srgbClr val="000000"/>
              </a:solidFill>
            </a:ln>
          </p:spPr>
          <p:txBody>
            <a:bodyPr wrap="square" lIns="0" tIns="0" rIns="0" bIns="0" rtlCol="0"/>
            <a:lstStyle/>
            <a:p>
              <a:endParaRPr/>
            </a:p>
          </p:txBody>
        </p:sp>
        <p:sp>
          <p:nvSpPr>
            <p:cNvPr id="38" name="object 38"/>
            <p:cNvSpPr/>
            <p:nvPr/>
          </p:nvSpPr>
          <p:spPr>
            <a:xfrm>
              <a:off x="230121" y="3863216"/>
              <a:ext cx="6355080" cy="0"/>
            </a:xfrm>
            <a:custGeom>
              <a:avLst/>
              <a:gdLst/>
              <a:ahLst/>
              <a:cxnLst/>
              <a:rect l="l" t="t" r="r" b="b"/>
              <a:pathLst>
                <a:path w="6355080">
                  <a:moveTo>
                    <a:pt x="0" y="0"/>
                  </a:moveTo>
                  <a:lnTo>
                    <a:pt x="6355054" y="0"/>
                  </a:lnTo>
                </a:path>
              </a:pathLst>
            </a:custGeom>
            <a:ln w="19050">
              <a:solidFill>
                <a:srgbClr val="000000"/>
              </a:solidFill>
            </a:ln>
          </p:spPr>
          <p:txBody>
            <a:bodyPr wrap="square" lIns="0" tIns="0" rIns="0" bIns="0" rtlCol="0"/>
            <a:lstStyle/>
            <a:p>
              <a:endParaRPr/>
            </a:p>
          </p:txBody>
        </p:sp>
        <p:sp>
          <p:nvSpPr>
            <p:cNvPr id="39" name="object 39"/>
            <p:cNvSpPr/>
            <p:nvPr/>
          </p:nvSpPr>
          <p:spPr>
            <a:xfrm>
              <a:off x="230121" y="4107747"/>
              <a:ext cx="6355080" cy="0"/>
            </a:xfrm>
            <a:custGeom>
              <a:avLst/>
              <a:gdLst/>
              <a:ahLst/>
              <a:cxnLst/>
              <a:rect l="l" t="t" r="r" b="b"/>
              <a:pathLst>
                <a:path w="6355080">
                  <a:moveTo>
                    <a:pt x="0" y="0"/>
                  </a:moveTo>
                  <a:lnTo>
                    <a:pt x="6355054" y="0"/>
                  </a:lnTo>
                </a:path>
              </a:pathLst>
            </a:custGeom>
            <a:ln w="19050">
              <a:solidFill>
                <a:srgbClr val="000000"/>
              </a:solidFill>
            </a:ln>
          </p:spPr>
          <p:txBody>
            <a:bodyPr wrap="square" lIns="0" tIns="0" rIns="0" bIns="0" rtlCol="0"/>
            <a:lstStyle/>
            <a:p>
              <a:endParaRPr/>
            </a:p>
          </p:txBody>
        </p:sp>
        <p:sp>
          <p:nvSpPr>
            <p:cNvPr id="40" name="object 40"/>
            <p:cNvSpPr/>
            <p:nvPr/>
          </p:nvSpPr>
          <p:spPr>
            <a:xfrm>
              <a:off x="230121" y="4352278"/>
              <a:ext cx="6355080" cy="0"/>
            </a:xfrm>
            <a:custGeom>
              <a:avLst/>
              <a:gdLst/>
              <a:ahLst/>
              <a:cxnLst/>
              <a:rect l="l" t="t" r="r" b="b"/>
              <a:pathLst>
                <a:path w="6355080">
                  <a:moveTo>
                    <a:pt x="0" y="0"/>
                  </a:moveTo>
                  <a:lnTo>
                    <a:pt x="6355054" y="0"/>
                  </a:lnTo>
                </a:path>
              </a:pathLst>
            </a:custGeom>
            <a:ln w="19050">
              <a:solidFill>
                <a:srgbClr val="000000"/>
              </a:solidFill>
            </a:ln>
          </p:spPr>
          <p:txBody>
            <a:bodyPr wrap="square" lIns="0" tIns="0" rIns="0" bIns="0" rtlCol="0"/>
            <a:lstStyle/>
            <a:p>
              <a:endParaRPr/>
            </a:p>
          </p:txBody>
        </p:sp>
        <p:sp>
          <p:nvSpPr>
            <p:cNvPr id="41" name="object 41"/>
            <p:cNvSpPr/>
            <p:nvPr/>
          </p:nvSpPr>
          <p:spPr>
            <a:xfrm>
              <a:off x="239646" y="3513903"/>
              <a:ext cx="0" cy="1092835"/>
            </a:xfrm>
            <a:custGeom>
              <a:avLst/>
              <a:gdLst/>
              <a:ahLst/>
              <a:cxnLst/>
              <a:rect l="l" t="t" r="r" b="b"/>
              <a:pathLst>
                <a:path h="1092835">
                  <a:moveTo>
                    <a:pt x="0" y="0"/>
                  </a:moveTo>
                  <a:lnTo>
                    <a:pt x="0" y="1092428"/>
                  </a:lnTo>
                </a:path>
              </a:pathLst>
            </a:custGeom>
            <a:ln w="19050">
              <a:solidFill>
                <a:srgbClr val="000000"/>
              </a:solidFill>
            </a:ln>
          </p:spPr>
          <p:txBody>
            <a:bodyPr wrap="square" lIns="0" tIns="0" rIns="0" bIns="0" rtlCol="0"/>
            <a:lstStyle/>
            <a:p>
              <a:endParaRPr/>
            </a:p>
          </p:txBody>
        </p:sp>
        <p:sp>
          <p:nvSpPr>
            <p:cNvPr id="42" name="object 42"/>
            <p:cNvSpPr/>
            <p:nvPr/>
          </p:nvSpPr>
          <p:spPr>
            <a:xfrm>
              <a:off x="6575648" y="3513903"/>
              <a:ext cx="0" cy="1092835"/>
            </a:xfrm>
            <a:custGeom>
              <a:avLst/>
              <a:gdLst/>
              <a:ahLst/>
              <a:cxnLst/>
              <a:rect l="l" t="t" r="r" b="b"/>
              <a:pathLst>
                <a:path h="1092835">
                  <a:moveTo>
                    <a:pt x="0" y="0"/>
                  </a:moveTo>
                  <a:lnTo>
                    <a:pt x="0" y="1092428"/>
                  </a:lnTo>
                </a:path>
              </a:pathLst>
            </a:custGeom>
            <a:ln w="19050">
              <a:solidFill>
                <a:srgbClr val="000000"/>
              </a:solidFill>
            </a:ln>
          </p:spPr>
          <p:txBody>
            <a:bodyPr wrap="square" lIns="0" tIns="0" rIns="0" bIns="0" rtlCol="0"/>
            <a:lstStyle/>
            <a:p>
              <a:endParaRPr/>
            </a:p>
          </p:txBody>
        </p:sp>
        <p:sp>
          <p:nvSpPr>
            <p:cNvPr id="43" name="object 43"/>
            <p:cNvSpPr/>
            <p:nvPr/>
          </p:nvSpPr>
          <p:spPr>
            <a:xfrm>
              <a:off x="230121" y="3513903"/>
              <a:ext cx="6355080" cy="19050"/>
            </a:xfrm>
            <a:custGeom>
              <a:avLst/>
              <a:gdLst/>
              <a:ahLst/>
              <a:cxnLst/>
              <a:rect l="l" t="t" r="r" b="b"/>
              <a:pathLst>
                <a:path w="6355080" h="19050">
                  <a:moveTo>
                    <a:pt x="0" y="19050"/>
                  </a:moveTo>
                  <a:lnTo>
                    <a:pt x="6355054" y="19050"/>
                  </a:lnTo>
                  <a:lnTo>
                    <a:pt x="6355054" y="0"/>
                  </a:lnTo>
                  <a:lnTo>
                    <a:pt x="0" y="0"/>
                  </a:lnTo>
                  <a:lnTo>
                    <a:pt x="0" y="19050"/>
                  </a:lnTo>
                  <a:close/>
                </a:path>
              </a:pathLst>
            </a:custGeom>
            <a:solidFill>
              <a:srgbClr val="000000"/>
            </a:solidFill>
          </p:spPr>
          <p:txBody>
            <a:bodyPr wrap="square" lIns="0" tIns="0" rIns="0" bIns="0" rtlCol="0"/>
            <a:lstStyle/>
            <a:p>
              <a:endParaRPr/>
            </a:p>
          </p:txBody>
        </p:sp>
        <p:sp>
          <p:nvSpPr>
            <p:cNvPr id="44" name="object 44"/>
            <p:cNvSpPr/>
            <p:nvPr/>
          </p:nvSpPr>
          <p:spPr>
            <a:xfrm>
              <a:off x="230121" y="4596810"/>
              <a:ext cx="6355080" cy="0"/>
            </a:xfrm>
            <a:custGeom>
              <a:avLst/>
              <a:gdLst/>
              <a:ahLst/>
              <a:cxnLst/>
              <a:rect l="l" t="t" r="r" b="b"/>
              <a:pathLst>
                <a:path w="6355080">
                  <a:moveTo>
                    <a:pt x="0" y="0"/>
                  </a:moveTo>
                  <a:lnTo>
                    <a:pt x="6355054" y="0"/>
                  </a:lnTo>
                </a:path>
              </a:pathLst>
            </a:custGeom>
            <a:ln w="19050">
              <a:solidFill>
                <a:srgbClr val="000000"/>
              </a:solidFill>
            </a:ln>
          </p:spPr>
          <p:txBody>
            <a:bodyPr wrap="square" lIns="0" tIns="0" rIns="0" bIns="0" rtlCol="0"/>
            <a:lstStyle/>
            <a:p>
              <a:endParaRPr/>
            </a:p>
          </p:txBody>
        </p:sp>
      </p:grpSp>
      <p:sp>
        <p:nvSpPr>
          <p:cNvPr id="45" name="object 45"/>
          <p:cNvSpPr txBox="1"/>
          <p:nvPr/>
        </p:nvSpPr>
        <p:spPr>
          <a:xfrm>
            <a:off x="286749" y="3515300"/>
            <a:ext cx="3532504" cy="177800"/>
          </a:xfrm>
          <a:prstGeom prst="rect">
            <a:avLst/>
          </a:prstGeom>
        </p:spPr>
        <p:txBody>
          <a:bodyPr vert="horz" wrap="square" lIns="0" tIns="12065" rIns="0" bIns="0" rtlCol="0">
            <a:spAutoFit/>
          </a:bodyPr>
          <a:lstStyle/>
          <a:p>
            <a:pPr marL="12700">
              <a:lnSpc>
                <a:spcPct val="100000"/>
              </a:lnSpc>
              <a:spcBef>
                <a:spcPts val="95"/>
              </a:spcBef>
            </a:pPr>
            <a:r>
              <a:rPr sz="1000" dirty="0">
                <a:latin typeface="Century Gothic"/>
                <a:cs typeface="Century Gothic"/>
              </a:rPr>
              <a:t>Action</a:t>
            </a:r>
            <a:r>
              <a:rPr sz="1000" spc="-25" dirty="0">
                <a:latin typeface="Century Gothic"/>
                <a:cs typeface="Century Gothic"/>
              </a:rPr>
              <a:t> </a:t>
            </a:r>
            <a:r>
              <a:rPr sz="1000" dirty="0">
                <a:latin typeface="Arial"/>
                <a:cs typeface="Arial"/>
              </a:rPr>
              <a:t>Plan–</a:t>
            </a:r>
            <a:r>
              <a:rPr sz="1000" spc="-20" dirty="0">
                <a:latin typeface="Arial"/>
                <a:cs typeface="Arial"/>
              </a:rPr>
              <a:t> </a:t>
            </a:r>
            <a:r>
              <a:rPr sz="1000" dirty="0">
                <a:latin typeface="Arial"/>
                <a:cs typeface="Arial"/>
              </a:rPr>
              <a:t>to</a:t>
            </a:r>
            <a:r>
              <a:rPr sz="1000" spc="-20" dirty="0">
                <a:latin typeface="Arial"/>
                <a:cs typeface="Arial"/>
              </a:rPr>
              <a:t> </a:t>
            </a:r>
            <a:r>
              <a:rPr sz="1000" dirty="0">
                <a:latin typeface="Arial"/>
                <a:cs typeface="Arial"/>
              </a:rPr>
              <a:t>include</a:t>
            </a:r>
            <a:r>
              <a:rPr sz="1000" spc="-25" dirty="0">
                <a:latin typeface="Arial"/>
                <a:cs typeface="Arial"/>
              </a:rPr>
              <a:t> </a:t>
            </a:r>
            <a:r>
              <a:rPr sz="1000" dirty="0">
                <a:latin typeface="Arial"/>
                <a:cs typeface="Arial"/>
              </a:rPr>
              <a:t>attendance</a:t>
            </a:r>
            <a:r>
              <a:rPr sz="1000" spc="-45" dirty="0">
                <a:latin typeface="Arial"/>
                <a:cs typeface="Arial"/>
              </a:rPr>
              <a:t> </a:t>
            </a:r>
            <a:r>
              <a:rPr sz="1000" dirty="0">
                <a:latin typeface="Arial"/>
                <a:cs typeface="Arial"/>
              </a:rPr>
              <a:t>and</a:t>
            </a:r>
            <a:r>
              <a:rPr sz="1000" spc="-20" dirty="0">
                <a:latin typeface="Arial"/>
                <a:cs typeface="Arial"/>
              </a:rPr>
              <a:t> </a:t>
            </a:r>
            <a:r>
              <a:rPr sz="1000" dirty="0">
                <a:latin typeface="Arial"/>
                <a:cs typeface="Arial"/>
              </a:rPr>
              <a:t>learner</a:t>
            </a:r>
            <a:r>
              <a:rPr sz="1000" spc="-15" dirty="0">
                <a:latin typeface="Arial"/>
                <a:cs typeface="Arial"/>
              </a:rPr>
              <a:t> </a:t>
            </a:r>
            <a:r>
              <a:rPr sz="1000" spc="-10" dirty="0">
                <a:latin typeface="Arial"/>
                <a:cs typeface="Arial"/>
              </a:rPr>
              <a:t>improvements</a:t>
            </a:r>
            <a:endParaRPr sz="1000">
              <a:latin typeface="Arial"/>
              <a:cs typeface="Arial"/>
            </a:endParaRPr>
          </a:p>
        </p:txBody>
      </p:sp>
      <p:sp>
        <p:nvSpPr>
          <p:cNvPr id="46" name="object 46"/>
          <p:cNvSpPr txBox="1"/>
          <p:nvPr/>
        </p:nvSpPr>
        <p:spPr>
          <a:xfrm>
            <a:off x="4894853" y="3491773"/>
            <a:ext cx="438150" cy="376555"/>
          </a:xfrm>
          <a:prstGeom prst="rect">
            <a:avLst/>
          </a:prstGeom>
        </p:spPr>
        <p:txBody>
          <a:bodyPr vert="horz" wrap="square" lIns="0" tIns="12700" rIns="0" bIns="0" rtlCol="0">
            <a:spAutoFit/>
          </a:bodyPr>
          <a:lstStyle/>
          <a:p>
            <a:pPr marL="12700" marR="5080">
              <a:lnSpc>
                <a:spcPct val="114999"/>
              </a:lnSpc>
              <a:spcBef>
                <a:spcPts val="100"/>
              </a:spcBef>
            </a:pPr>
            <a:r>
              <a:rPr sz="1000" spc="-10" dirty="0">
                <a:latin typeface="Century Gothic"/>
                <a:cs typeface="Century Gothic"/>
              </a:rPr>
              <a:t>Target </a:t>
            </a:r>
            <a:r>
              <a:rPr sz="1000" spc="-20" dirty="0">
                <a:latin typeface="Century Gothic"/>
                <a:cs typeface="Century Gothic"/>
              </a:rPr>
              <a:t>Date</a:t>
            </a:r>
            <a:endParaRPr sz="1000">
              <a:latin typeface="Century Gothic"/>
              <a:cs typeface="Century Gothic"/>
            </a:endParaRPr>
          </a:p>
        </p:txBody>
      </p:sp>
      <p:sp>
        <p:nvSpPr>
          <p:cNvPr id="47" name="object 47"/>
          <p:cNvSpPr txBox="1"/>
          <p:nvPr/>
        </p:nvSpPr>
        <p:spPr>
          <a:xfrm>
            <a:off x="5758793" y="3515300"/>
            <a:ext cx="73914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entury Gothic"/>
                <a:cs typeface="Century Gothic"/>
              </a:rPr>
              <a:t>Completed</a:t>
            </a:r>
            <a:endParaRPr sz="1000">
              <a:latin typeface="Century Gothic"/>
              <a:cs typeface="Century Gothic"/>
            </a:endParaRPr>
          </a:p>
        </p:txBody>
      </p:sp>
      <p:sp>
        <p:nvSpPr>
          <p:cNvPr id="48" name="object 48"/>
          <p:cNvSpPr txBox="1"/>
          <p:nvPr/>
        </p:nvSpPr>
        <p:spPr>
          <a:xfrm>
            <a:off x="287906" y="3810593"/>
            <a:ext cx="3562350" cy="2219960"/>
          </a:xfrm>
          <a:prstGeom prst="rect">
            <a:avLst/>
          </a:prstGeom>
        </p:spPr>
        <p:txBody>
          <a:bodyPr vert="horz" wrap="square" lIns="0" tIns="89535" rIns="0" bIns="0" rtlCol="0">
            <a:spAutoFit/>
          </a:bodyPr>
          <a:lstStyle/>
          <a:p>
            <a:pPr marL="126364">
              <a:lnSpc>
                <a:spcPct val="100000"/>
              </a:lnSpc>
              <a:spcBef>
                <a:spcPts val="705"/>
              </a:spcBef>
            </a:pPr>
            <a:r>
              <a:rPr sz="1100" spc="-50" dirty="0">
                <a:latin typeface="Century Gothic"/>
                <a:cs typeface="Century Gothic"/>
              </a:rPr>
              <a:t>1</a:t>
            </a:r>
            <a:endParaRPr sz="1100">
              <a:latin typeface="Century Gothic"/>
              <a:cs typeface="Century Gothic"/>
            </a:endParaRPr>
          </a:p>
          <a:p>
            <a:pPr marL="111125">
              <a:lnSpc>
                <a:spcPct val="100000"/>
              </a:lnSpc>
              <a:spcBef>
                <a:spcPts val="605"/>
              </a:spcBef>
            </a:pPr>
            <a:r>
              <a:rPr sz="1100" spc="-50" dirty="0">
                <a:latin typeface="Century Gothic"/>
                <a:cs typeface="Century Gothic"/>
              </a:rPr>
              <a:t>2</a:t>
            </a:r>
            <a:endParaRPr sz="1100">
              <a:latin typeface="Century Gothic"/>
              <a:cs typeface="Century Gothic"/>
            </a:endParaRPr>
          </a:p>
          <a:p>
            <a:pPr marL="111125">
              <a:lnSpc>
                <a:spcPct val="100000"/>
              </a:lnSpc>
              <a:spcBef>
                <a:spcPts val="605"/>
              </a:spcBef>
            </a:pPr>
            <a:r>
              <a:rPr sz="1100" spc="-50" dirty="0">
                <a:latin typeface="Century Gothic"/>
                <a:cs typeface="Century Gothic"/>
              </a:rPr>
              <a:t>3</a:t>
            </a:r>
            <a:endParaRPr sz="1100">
              <a:latin typeface="Century Gothic"/>
              <a:cs typeface="Century Gothic"/>
            </a:endParaRPr>
          </a:p>
          <a:p>
            <a:pPr marL="12700">
              <a:lnSpc>
                <a:spcPct val="100000"/>
              </a:lnSpc>
              <a:spcBef>
                <a:spcPts val="700"/>
              </a:spcBef>
            </a:pPr>
            <a:r>
              <a:rPr sz="1000" u="sng" dirty="0">
                <a:uFill>
                  <a:solidFill>
                    <a:srgbClr val="000000"/>
                  </a:solidFill>
                </a:uFill>
                <a:latin typeface="Century Gothic"/>
                <a:cs typeface="Century Gothic"/>
              </a:rPr>
              <a:t>Learner</a:t>
            </a:r>
            <a:r>
              <a:rPr sz="1000" u="sng" spc="145" dirty="0">
                <a:uFill>
                  <a:solidFill>
                    <a:srgbClr val="000000"/>
                  </a:solidFill>
                </a:uFill>
                <a:latin typeface="Century Gothic"/>
                <a:cs typeface="Century Gothic"/>
              </a:rPr>
              <a:t> </a:t>
            </a:r>
            <a:r>
              <a:rPr sz="1000" u="sng" spc="-10" dirty="0">
                <a:uFill>
                  <a:solidFill>
                    <a:srgbClr val="000000"/>
                  </a:solidFill>
                </a:uFill>
                <a:latin typeface="Century Gothic"/>
                <a:cs typeface="Century Gothic"/>
              </a:rPr>
              <a:t>Feedback:</a:t>
            </a:r>
            <a:endParaRPr sz="1000">
              <a:latin typeface="Century Gothic"/>
              <a:cs typeface="Century Gothic"/>
            </a:endParaRPr>
          </a:p>
          <a:p>
            <a:pPr marL="12700">
              <a:lnSpc>
                <a:spcPct val="100000"/>
              </a:lnSpc>
            </a:pPr>
            <a:r>
              <a:rPr sz="1000" dirty="0">
                <a:latin typeface="Century Gothic"/>
                <a:cs typeface="Century Gothic"/>
              </a:rPr>
              <a:t>Outline</a:t>
            </a:r>
            <a:r>
              <a:rPr sz="1000" spc="75" dirty="0">
                <a:latin typeface="Century Gothic"/>
                <a:cs typeface="Century Gothic"/>
              </a:rPr>
              <a:t> </a:t>
            </a:r>
            <a:r>
              <a:rPr sz="1000" dirty="0">
                <a:latin typeface="Century Gothic"/>
                <a:cs typeface="Century Gothic"/>
              </a:rPr>
              <a:t>two</a:t>
            </a:r>
            <a:r>
              <a:rPr sz="1000" spc="65" dirty="0">
                <a:latin typeface="Century Gothic"/>
                <a:cs typeface="Century Gothic"/>
              </a:rPr>
              <a:t> </a:t>
            </a:r>
            <a:r>
              <a:rPr sz="1000" dirty="0">
                <a:latin typeface="Century Gothic"/>
                <a:cs typeface="Century Gothic"/>
              </a:rPr>
              <a:t>main</a:t>
            </a:r>
            <a:r>
              <a:rPr sz="1000" spc="75" dirty="0">
                <a:latin typeface="Century Gothic"/>
                <a:cs typeface="Century Gothic"/>
              </a:rPr>
              <a:t> </a:t>
            </a:r>
            <a:r>
              <a:rPr sz="1000" dirty="0">
                <a:latin typeface="Century Gothic"/>
                <a:cs typeface="Century Gothic"/>
              </a:rPr>
              <a:t>aspects</a:t>
            </a:r>
            <a:r>
              <a:rPr sz="1000" spc="55" dirty="0">
                <a:latin typeface="Century Gothic"/>
                <a:cs typeface="Century Gothic"/>
              </a:rPr>
              <a:t> </a:t>
            </a:r>
            <a:r>
              <a:rPr sz="1000" dirty="0">
                <a:latin typeface="Century Gothic"/>
                <a:cs typeface="Century Gothic"/>
              </a:rPr>
              <a:t>you</a:t>
            </a:r>
            <a:r>
              <a:rPr sz="1000" spc="65" dirty="0">
                <a:latin typeface="Century Gothic"/>
                <a:cs typeface="Century Gothic"/>
              </a:rPr>
              <a:t> </a:t>
            </a:r>
            <a:r>
              <a:rPr sz="1000" spc="-20" dirty="0">
                <a:latin typeface="Century Gothic"/>
                <a:cs typeface="Century Gothic"/>
              </a:rPr>
              <a:t>have</a:t>
            </a:r>
            <a:r>
              <a:rPr sz="1000" spc="65" dirty="0">
                <a:latin typeface="Century Gothic"/>
                <a:cs typeface="Century Gothic"/>
              </a:rPr>
              <a:t> </a:t>
            </a:r>
            <a:r>
              <a:rPr sz="1000" dirty="0">
                <a:latin typeface="Century Gothic"/>
                <a:cs typeface="Century Gothic"/>
              </a:rPr>
              <a:t>learnt</a:t>
            </a:r>
            <a:r>
              <a:rPr sz="1000" spc="70" dirty="0">
                <a:latin typeface="Century Gothic"/>
                <a:cs typeface="Century Gothic"/>
              </a:rPr>
              <a:t> </a:t>
            </a:r>
            <a:r>
              <a:rPr sz="1000" dirty="0">
                <a:latin typeface="Century Gothic"/>
                <a:cs typeface="Century Gothic"/>
              </a:rPr>
              <a:t>from</a:t>
            </a:r>
            <a:r>
              <a:rPr sz="1000" spc="75" dirty="0">
                <a:latin typeface="Century Gothic"/>
                <a:cs typeface="Century Gothic"/>
              </a:rPr>
              <a:t> </a:t>
            </a:r>
            <a:r>
              <a:rPr sz="1000" spc="65" dirty="0">
                <a:latin typeface="Century Gothic"/>
                <a:cs typeface="Century Gothic"/>
              </a:rPr>
              <a:t>this</a:t>
            </a:r>
            <a:r>
              <a:rPr sz="1000" spc="70" dirty="0">
                <a:latin typeface="Century Gothic"/>
                <a:cs typeface="Century Gothic"/>
              </a:rPr>
              <a:t> </a:t>
            </a:r>
            <a:r>
              <a:rPr sz="1000" spc="35" dirty="0">
                <a:latin typeface="Century Gothic"/>
                <a:cs typeface="Century Gothic"/>
              </a:rPr>
              <a:t>unit</a:t>
            </a:r>
            <a:endParaRPr sz="1000">
              <a:latin typeface="Century Gothic"/>
              <a:cs typeface="Century Gothic"/>
            </a:endParaRPr>
          </a:p>
          <a:p>
            <a:pPr marL="12700">
              <a:lnSpc>
                <a:spcPct val="100000"/>
              </a:lnSpc>
              <a:spcBef>
                <a:spcPts val="1200"/>
              </a:spcBef>
            </a:pPr>
            <a:r>
              <a:rPr sz="1000" spc="-50" dirty="0">
                <a:latin typeface="Century Gothic"/>
                <a:cs typeface="Century Gothic"/>
              </a:rPr>
              <a:t>&gt;</a:t>
            </a:r>
            <a:endParaRPr sz="1000">
              <a:latin typeface="Century Gothic"/>
              <a:cs typeface="Century Gothic"/>
            </a:endParaRPr>
          </a:p>
          <a:p>
            <a:pPr>
              <a:lnSpc>
                <a:spcPct val="100000"/>
              </a:lnSpc>
              <a:spcBef>
                <a:spcPts val="1175"/>
              </a:spcBef>
            </a:pPr>
            <a:endParaRPr sz="1000">
              <a:latin typeface="Century Gothic"/>
              <a:cs typeface="Century Gothic"/>
            </a:endParaRPr>
          </a:p>
          <a:p>
            <a:pPr marL="12700">
              <a:lnSpc>
                <a:spcPct val="100000"/>
              </a:lnSpc>
            </a:pPr>
            <a:r>
              <a:rPr sz="1000" spc="-50" dirty="0">
                <a:latin typeface="Century Gothic"/>
                <a:cs typeface="Century Gothic"/>
              </a:rPr>
              <a:t>&gt;</a:t>
            </a:r>
            <a:endParaRPr sz="1000">
              <a:latin typeface="Century Gothic"/>
              <a:cs typeface="Century Gothic"/>
            </a:endParaRPr>
          </a:p>
          <a:p>
            <a:pPr marL="12700">
              <a:lnSpc>
                <a:spcPct val="100000"/>
              </a:lnSpc>
              <a:spcBef>
                <a:spcPts val="1200"/>
              </a:spcBef>
            </a:pPr>
            <a:r>
              <a:rPr sz="1000" dirty="0">
                <a:latin typeface="Century Gothic"/>
                <a:cs typeface="Century Gothic"/>
              </a:rPr>
              <a:t>What</a:t>
            </a:r>
            <a:r>
              <a:rPr sz="1000" spc="40" dirty="0">
                <a:latin typeface="Century Gothic"/>
                <a:cs typeface="Century Gothic"/>
              </a:rPr>
              <a:t> </a:t>
            </a:r>
            <a:r>
              <a:rPr sz="1000" dirty="0">
                <a:latin typeface="Century Gothic"/>
                <a:cs typeface="Century Gothic"/>
              </a:rPr>
              <a:t>did</a:t>
            </a:r>
            <a:r>
              <a:rPr sz="1000" spc="50" dirty="0">
                <a:latin typeface="Century Gothic"/>
                <a:cs typeface="Century Gothic"/>
              </a:rPr>
              <a:t> </a:t>
            </a:r>
            <a:r>
              <a:rPr sz="1000" dirty="0">
                <a:latin typeface="Century Gothic"/>
                <a:cs typeface="Century Gothic"/>
              </a:rPr>
              <a:t>you</a:t>
            </a:r>
            <a:r>
              <a:rPr sz="1000" spc="35" dirty="0">
                <a:latin typeface="Century Gothic"/>
                <a:cs typeface="Century Gothic"/>
              </a:rPr>
              <a:t> </a:t>
            </a:r>
            <a:r>
              <a:rPr sz="1000" dirty="0">
                <a:latin typeface="Century Gothic"/>
                <a:cs typeface="Century Gothic"/>
              </a:rPr>
              <a:t>find</a:t>
            </a:r>
            <a:r>
              <a:rPr sz="1000" spc="60" dirty="0">
                <a:latin typeface="Century Gothic"/>
                <a:cs typeface="Century Gothic"/>
              </a:rPr>
              <a:t> </a:t>
            </a:r>
            <a:r>
              <a:rPr sz="1000" spc="55" dirty="0">
                <a:latin typeface="Century Gothic"/>
                <a:cs typeface="Century Gothic"/>
              </a:rPr>
              <a:t>most</a:t>
            </a:r>
            <a:r>
              <a:rPr sz="1000" spc="25" dirty="0">
                <a:latin typeface="Century Gothic"/>
                <a:cs typeface="Century Gothic"/>
              </a:rPr>
              <a:t> </a:t>
            </a:r>
            <a:r>
              <a:rPr sz="1000" dirty="0">
                <a:latin typeface="Century Gothic"/>
                <a:cs typeface="Century Gothic"/>
              </a:rPr>
              <a:t>challenging</a:t>
            </a:r>
            <a:r>
              <a:rPr sz="1000" spc="100" dirty="0">
                <a:latin typeface="Century Gothic"/>
                <a:cs typeface="Century Gothic"/>
              </a:rPr>
              <a:t> </a:t>
            </a:r>
            <a:r>
              <a:rPr sz="1000" dirty="0">
                <a:latin typeface="Century Gothic"/>
                <a:cs typeface="Century Gothic"/>
              </a:rPr>
              <a:t>about</a:t>
            </a:r>
            <a:r>
              <a:rPr sz="1000" spc="40" dirty="0">
                <a:latin typeface="Century Gothic"/>
                <a:cs typeface="Century Gothic"/>
              </a:rPr>
              <a:t> </a:t>
            </a:r>
            <a:r>
              <a:rPr sz="1000" spc="65" dirty="0">
                <a:latin typeface="Century Gothic"/>
                <a:cs typeface="Century Gothic"/>
              </a:rPr>
              <a:t>this</a:t>
            </a:r>
            <a:r>
              <a:rPr sz="1000" spc="45" dirty="0">
                <a:latin typeface="Century Gothic"/>
                <a:cs typeface="Century Gothic"/>
              </a:rPr>
              <a:t> </a:t>
            </a:r>
            <a:r>
              <a:rPr sz="1000" spc="-10" dirty="0">
                <a:latin typeface="Century Gothic"/>
                <a:cs typeface="Century Gothic"/>
              </a:rPr>
              <a:t>unit?</a:t>
            </a:r>
            <a:endParaRPr sz="1000">
              <a:latin typeface="Century Gothic"/>
              <a:cs typeface="Century Gothic"/>
            </a:endParaRPr>
          </a:p>
        </p:txBody>
      </p:sp>
      <p:pic>
        <p:nvPicPr>
          <p:cNvPr id="49" name="object 49" descr="A close up of a sign  Description automatically generated"/>
          <p:cNvPicPr/>
          <p:nvPr/>
        </p:nvPicPr>
        <p:blipFill>
          <a:blip r:embed="rId2" cstate="print"/>
          <a:stretch>
            <a:fillRect/>
          </a:stretch>
        </p:blipFill>
        <p:spPr>
          <a:xfrm>
            <a:off x="5634228" y="457200"/>
            <a:ext cx="888491" cy="539495"/>
          </a:xfrm>
          <a:prstGeom prst="rect">
            <a:avLst/>
          </a:prstGeom>
        </p:spPr>
      </p:pic>
      <p:sp>
        <p:nvSpPr>
          <p:cNvPr id="50" name="object 50"/>
          <p:cNvSpPr txBox="1"/>
          <p:nvPr/>
        </p:nvSpPr>
        <p:spPr>
          <a:xfrm>
            <a:off x="2045271" y="115989"/>
            <a:ext cx="2687320" cy="1057275"/>
          </a:xfrm>
          <a:prstGeom prst="rect">
            <a:avLst/>
          </a:prstGeom>
        </p:spPr>
        <p:txBody>
          <a:bodyPr vert="horz" wrap="square" lIns="0" tIns="12700" rIns="0" bIns="0" rtlCol="0">
            <a:spAutoFit/>
          </a:bodyPr>
          <a:lstStyle/>
          <a:p>
            <a:pPr marL="424815" marR="418465" algn="ctr">
              <a:lnSpc>
                <a:spcPct val="106200"/>
              </a:lnSpc>
              <a:spcBef>
                <a:spcPts val="100"/>
              </a:spcBef>
            </a:pPr>
            <a:r>
              <a:rPr sz="1400" b="1" spc="185" dirty="0">
                <a:latin typeface="Calibri"/>
                <a:cs typeface="Calibri"/>
              </a:rPr>
              <a:t>IDENTIFY</a:t>
            </a:r>
            <a:r>
              <a:rPr sz="1400" b="1" spc="95" dirty="0">
                <a:latin typeface="Calibri"/>
                <a:cs typeface="Calibri"/>
              </a:rPr>
              <a:t> </a:t>
            </a:r>
            <a:r>
              <a:rPr sz="1400" b="1" spc="190" dirty="0">
                <a:latin typeface="Calibri"/>
                <a:cs typeface="Calibri"/>
              </a:rPr>
              <a:t>SUITABLE </a:t>
            </a:r>
            <a:r>
              <a:rPr sz="1400" b="1" spc="185" dirty="0">
                <a:latin typeface="Calibri"/>
                <a:cs typeface="Calibri"/>
              </a:rPr>
              <a:t>OPPORTUNITIES</a:t>
            </a:r>
            <a:endParaRPr sz="1400">
              <a:latin typeface="Calibri"/>
              <a:cs typeface="Calibri"/>
            </a:endParaRPr>
          </a:p>
          <a:p>
            <a:pPr algn="ctr">
              <a:lnSpc>
                <a:spcPct val="100000"/>
              </a:lnSpc>
              <a:spcBef>
                <a:spcPts val="1090"/>
              </a:spcBef>
            </a:pPr>
            <a:r>
              <a:rPr sz="1400" b="1" spc="80" dirty="0">
                <a:latin typeface="Calibri"/>
                <a:cs typeface="Calibri"/>
              </a:rPr>
              <a:t>K/617/5730</a:t>
            </a:r>
            <a:endParaRPr sz="1400">
              <a:latin typeface="Calibri"/>
              <a:cs typeface="Calibri"/>
            </a:endParaRPr>
          </a:p>
          <a:p>
            <a:pPr algn="ctr">
              <a:lnSpc>
                <a:spcPct val="100000"/>
              </a:lnSpc>
              <a:spcBef>
                <a:spcPts val="105"/>
              </a:spcBef>
            </a:pPr>
            <a:r>
              <a:rPr sz="1400" b="1" spc="175" dirty="0">
                <a:latin typeface="Calibri"/>
                <a:cs typeface="Calibri"/>
              </a:rPr>
              <a:t>Assessment</a:t>
            </a:r>
            <a:r>
              <a:rPr sz="1400" b="1" spc="95" dirty="0">
                <a:latin typeface="Calibri"/>
                <a:cs typeface="Calibri"/>
              </a:rPr>
              <a:t> </a:t>
            </a:r>
            <a:r>
              <a:rPr sz="1400" b="1" spc="210" dirty="0">
                <a:latin typeface="Calibri"/>
                <a:cs typeface="Calibri"/>
              </a:rPr>
              <a:t>Feedback</a:t>
            </a:r>
            <a:r>
              <a:rPr sz="1400" b="1" spc="65" dirty="0">
                <a:latin typeface="Calibri"/>
                <a:cs typeface="Calibri"/>
              </a:rPr>
              <a:t> </a:t>
            </a:r>
            <a:r>
              <a:rPr sz="1400" b="1" spc="170" dirty="0">
                <a:latin typeface="Calibri"/>
                <a:cs typeface="Calibri"/>
              </a:rPr>
              <a:t>Sheet</a:t>
            </a:r>
            <a:endParaRPr sz="1400">
              <a:latin typeface="Calibri"/>
              <a:cs typeface="Calibri"/>
            </a:endParaRPr>
          </a:p>
        </p:txBody>
      </p:sp>
      <p:sp>
        <p:nvSpPr>
          <p:cNvPr id="51" name="object 51"/>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52" name="object 52"/>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11</a:t>
            </a:fld>
            <a:endParaRPr spc="-25" dirty="0"/>
          </a:p>
        </p:txBody>
      </p:sp>
      <p:sp>
        <p:nvSpPr>
          <p:cNvPr id="53" name="TextBox 52">
            <a:extLst>
              <a:ext uri="{FF2B5EF4-FFF2-40B4-BE49-F238E27FC236}">
                <a16:creationId xmlns:a16="http://schemas.microsoft.com/office/drawing/2014/main" id="{2AD8138C-3B87-5FDB-B038-148FC8B02BCB}"/>
              </a:ext>
            </a:extLst>
          </p:cNvPr>
          <p:cNvSpPr txBox="1"/>
          <p:nvPr/>
        </p:nvSpPr>
        <p:spPr>
          <a:xfrm>
            <a:off x="353412" y="6025519"/>
            <a:ext cx="6047387" cy="1470377"/>
          </a:xfrm>
          <a:prstGeom prst="rect">
            <a:avLst/>
          </a:prstGeom>
          <a:noFill/>
          <a:ln>
            <a:solidFill>
              <a:schemeClr val="tx1"/>
            </a:solidFill>
          </a:ln>
        </p:spPr>
        <p:txBody>
          <a:bodyPr wrap="square" rtlCol="0">
            <a:spAutoFit/>
          </a:bodyPr>
          <a:lstStyle/>
          <a:p>
            <a:endParaRPr lang="en-GB" dirty="0"/>
          </a:p>
        </p:txBody>
      </p:sp>
      <p:sp>
        <p:nvSpPr>
          <p:cNvPr id="54" name="TextBox 53">
            <a:extLst>
              <a:ext uri="{FF2B5EF4-FFF2-40B4-BE49-F238E27FC236}">
                <a16:creationId xmlns:a16="http://schemas.microsoft.com/office/drawing/2014/main" id="{EAEB85B8-C3EE-2949-415B-6AF5F19F3A88}"/>
              </a:ext>
            </a:extLst>
          </p:cNvPr>
          <p:cNvSpPr txBox="1"/>
          <p:nvPr/>
        </p:nvSpPr>
        <p:spPr>
          <a:xfrm>
            <a:off x="289509" y="4987275"/>
            <a:ext cx="6208423" cy="456095"/>
          </a:xfrm>
          <a:prstGeom prst="rect">
            <a:avLst/>
          </a:prstGeom>
          <a:noFill/>
          <a:ln>
            <a:solidFill>
              <a:schemeClr val="tx1"/>
            </a:solidFill>
          </a:ln>
        </p:spPr>
        <p:txBody>
          <a:bodyPr wrap="square" rtlCol="0">
            <a:spAutoFit/>
          </a:bodyPr>
          <a:lstStyle/>
          <a:p>
            <a:endParaRPr lang="en-GB" dirty="0"/>
          </a:p>
        </p:txBody>
      </p:sp>
      <p:sp>
        <p:nvSpPr>
          <p:cNvPr id="55" name="TextBox 54">
            <a:extLst>
              <a:ext uri="{FF2B5EF4-FFF2-40B4-BE49-F238E27FC236}">
                <a16:creationId xmlns:a16="http://schemas.microsoft.com/office/drawing/2014/main" id="{A40DEF6A-5E62-FBE2-00AC-17F30CEAE34A}"/>
              </a:ext>
            </a:extLst>
          </p:cNvPr>
          <p:cNvSpPr txBox="1"/>
          <p:nvPr/>
        </p:nvSpPr>
        <p:spPr>
          <a:xfrm>
            <a:off x="289509" y="5420672"/>
            <a:ext cx="6208423" cy="456095"/>
          </a:xfrm>
          <a:prstGeom prst="rect">
            <a:avLst/>
          </a:prstGeom>
          <a:noFill/>
          <a:ln>
            <a:solidFill>
              <a:schemeClr val="tx1"/>
            </a:solidFill>
          </a:ln>
        </p:spPr>
        <p:txBody>
          <a:bodyPr wrap="square" rtlCol="0">
            <a:spAutoFit/>
          </a:bodyPr>
          <a:lstStyle/>
          <a:p>
            <a:endParaRPr lang="en-GB" dirty="0"/>
          </a:p>
        </p:txBody>
      </p:sp>
      <p:sp>
        <p:nvSpPr>
          <p:cNvPr id="56" name="TextBox 55">
            <a:extLst>
              <a:ext uri="{FF2B5EF4-FFF2-40B4-BE49-F238E27FC236}">
                <a16:creationId xmlns:a16="http://schemas.microsoft.com/office/drawing/2014/main" id="{F1226D51-DE8F-F756-821D-D27AF3076889}"/>
              </a:ext>
            </a:extLst>
          </p:cNvPr>
          <p:cNvSpPr txBox="1"/>
          <p:nvPr/>
        </p:nvSpPr>
        <p:spPr>
          <a:xfrm>
            <a:off x="1599319" y="8363415"/>
            <a:ext cx="2534139" cy="369332"/>
          </a:xfrm>
          <a:prstGeom prst="rect">
            <a:avLst/>
          </a:prstGeom>
          <a:noFill/>
          <a:ln>
            <a:solidFill>
              <a:schemeClr val="tx1"/>
            </a:solidFill>
          </a:ln>
        </p:spPr>
        <p:txBody>
          <a:bodyPr wrap="square" rtlCol="0">
            <a:spAutoFit/>
          </a:bodyPr>
          <a:lstStyle/>
          <a:p>
            <a:r>
              <a:rPr lang="en-GB" dirty="0"/>
              <a:t>NOOR SABA</a:t>
            </a:r>
          </a:p>
        </p:txBody>
      </p:sp>
      <p:sp>
        <p:nvSpPr>
          <p:cNvPr id="57" name="TextBox 56">
            <a:extLst>
              <a:ext uri="{FF2B5EF4-FFF2-40B4-BE49-F238E27FC236}">
                <a16:creationId xmlns:a16="http://schemas.microsoft.com/office/drawing/2014/main" id="{76E0DC32-D1CE-DCC6-5EA7-1941DC51D796}"/>
              </a:ext>
            </a:extLst>
          </p:cNvPr>
          <p:cNvSpPr txBox="1"/>
          <p:nvPr/>
        </p:nvSpPr>
        <p:spPr>
          <a:xfrm>
            <a:off x="1607204" y="8730895"/>
            <a:ext cx="2534139" cy="291526"/>
          </a:xfrm>
          <a:prstGeom prst="rect">
            <a:avLst/>
          </a:prstGeom>
          <a:noFill/>
          <a:ln>
            <a:solidFill>
              <a:schemeClr val="tx1"/>
            </a:solidFill>
          </a:ln>
        </p:spPr>
        <p:txBody>
          <a:bodyPr wrap="square" rtlCol="0">
            <a:spAutoFit/>
          </a:bodyPr>
          <a:lstStyle/>
          <a:p>
            <a:endParaRPr lang="en-GB" dirty="0"/>
          </a:p>
        </p:txBody>
      </p:sp>
      <p:sp>
        <p:nvSpPr>
          <p:cNvPr id="58" name="TextBox 57">
            <a:extLst>
              <a:ext uri="{FF2B5EF4-FFF2-40B4-BE49-F238E27FC236}">
                <a16:creationId xmlns:a16="http://schemas.microsoft.com/office/drawing/2014/main" id="{92221CDE-164D-7EE5-FD4E-24E09249BF65}"/>
              </a:ext>
            </a:extLst>
          </p:cNvPr>
          <p:cNvSpPr txBox="1"/>
          <p:nvPr/>
        </p:nvSpPr>
        <p:spPr>
          <a:xfrm>
            <a:off x="4660573" y="8335759"/>
            <a:ext cx="1915074" cy="369332"/>
          </a:xfrm>
          <a:prstGeom prst="rect">
            <a:avLst/>
          </a:prstGeom>
          <a:noFill/>
          <a:ln>
            <a:solidFill>
              <a:schemeClr val="tx1"/>
            </a:solidFill>
          </a:ln>
        </p:spPr>
        <p:txBody>
          <a:bodyPr wrap="square" rtlCol="0">
            <a:spAutoFit/>
          </a:bodyPr>
          <a:lstStyle/>
          <a:p>
            <a:r>
              <a:rPr lang="en-GB"/>
              <a:t>8 JAN 2026</a:t>
            </a:r>
            <a:endParaRPr lang="en-GB" dirty="0"/>
          </a:p>
        </p:txBody>
      </p:sp>
      <p:sp>
        <p:nvSpPr>
          <p:cNvPr id="59" name="TextBox 58">
            <a:extLst>
              <a:ext uri="{FF2B5EF4-FFF2-40B4-BE49-F238E27FC236}">
                <a16:creationId xmlns:a16="http://schemas.microsoft.com/office/drawing/2014/main" id="{CA61E114-340F-26C7-A8B6-7690A20BCF22}"/>
              </a:ext>
            </a:extLst>
          </p:cNvPr>
          <p:cNvSpPr txBox="1"/>
          <p:nvPr/>
        </p:nvSpPr>
        <p:spPr>
          <a:xfrm>
            <a:off x="4668458" y="8703239"/>
            <a:ext cx="1915074" cy="309781"/>
          </a:xfrm>
          <a:prstGeom prst="rect">
            <a:avLst/>
          </a:prstGeom>
          <a:noFill/>
          <a:ln>
            <a:solidFill>
              <a:schemeClr val="tx1"/>
            </a:solidFill>
          </a:ln>
        </p:spPr>
        <p:txBody>
          <a:bodyPr wrap="square" rtlCol="0">
            <a:spAutoFit/>
          </a:bodyPr>
          <a:lstStyle/>
          <a:p>
            <a:endParaRPr lang="en-GB" dirty="0"/>
          </a:p>
        </p:txBody>
      </p:sp>
      <p:sp>
        <p:nvSpPr>
          <p:cNvPr id="60" name="TextBox 59">
            <a:extLst>
              <a:ext uri="{FF2B5EF4-FFF2-40B4-BE49-F238E27FC236}">
                <a16:creationId xmlns:a16="http://schemas.microsoft.com/office/drawing/2014/main" id="{DA6B2206-2DA6-CBF7-BA40-E6A5DC054DFD}"/>
              </a:ext>
            </a:extLst>
          </p:cNvPr>
          <p:cNvSpPr txBox="1"/>
          <p:nvPr/>
        </p:nvSpPr>
        <p:spPr>
          <a:xfrm>
            <a:off x="1081605" y="3176635"/>
            <a:ext cx="905884" cy="281549"/>
          </a:xfrm>
          <a:prstGeom prst="rect">
            <a:avLst/>
          </a:prstGeom>
          <a:noFill/>
          <a:ln>
            <a:solidFill>
              <a:schemeClr val="tx1"/>
            </a:solidFill>
          </a:ln>
        </p:spPr>
        <p:txBody>
          <a:bodyPr wrap="square" rtlCol="0">
            <a:spAutoFit/>
          </a:bodyPr>
          <a:lstStyle/>
          <a:p>
            <a:endParaRPr lang="en-GB" dirty="0"/>
          </a:p>
        </p:txBody>
      </p:sp>
      <p:sp>
        <p:nvSpPr>
          <p:cNvPr id="61" name="TextBox 60">
            <a:extLst>
              <a:ext uri="{FF2B5EF4-FFF2-40B4-BE49-F238E27FC236}">
                <a16:creationId xmlns:a16="http://schemas.microsoft.com/office/drawing/2014/main" id="{70AA3C3D-9D94-CD6B-BF6D-6556450B8C58}"/>
              </a:ext>
            </a:extLst>
          </p:cNvPr>
          <p:cNvSpPr txBox="1"/>
          <p:nvPr/>
        </p:nvSpPr>
        <p:spPr>
          <a:xfrm>
            <a:off x="1147117" y="2792684"/>
            <a:ext cx="905884" cy="281549"/>
          </a:xfrm>
          <a:prstGeom prst="rect">
            <a:avLst/>
          </a:prstGeom>
          <a:noFill/>
          <a:ln>
            <a:solidFill>
              <a:schemeClr val="tx1"/>
            </a:solidFill>
          </a:ln>
        </p:spPr>
        <p:txBody>
          <a:bodyPr wrap="square" rtlCol="0">
            <a:spAutoFit/>
          </a:bodyPr>
          <a:lstStyle/>
          <a:p>
            <a:endParaRPr lang="en-GB" dirty="0"/>
          </a:p>
        </p:txBody>
      </p:sp>
      <p:sp>
        <p:nvSpPr>
          <p:cNvPr id="62" name="TextBox 61">
            <a:extLst>
              <a:ext uri="{FF2B5EF4-FFF2-40B4-BE49-F238E27FC236}">
                <a16:creationId xmlns:a16="http://schemas.microsoft.com/office/drawing/2014/main" id="{2ECF06CF-836C-C385-3FD9-B46975926A03}"/>
              </a:ext>
            </a:extLst>
          </p:cNvPr>
          <p:cNvSpPr txBox="1"/>
          <p:nvPr/>
        </p:nvSpPr>
        <p:spPr>
          <a:xfrm>
            <a:off x="1147117" y="2465635"/>
            <a:ext cx="905884" cy="281549"/>
          </a:xfrm>
          <a:prstGeom prst="rect">
            <a:avLst/>
          </a:prstGeom>
          <a:noFill/>
          <a:ln>
            <a:solidFill>
              <a:schemeClr val="tx1"/>
            </a:solidFill>
          </a:ln>
        </p:spPr>
        <p:txBody>
          <a:bodyPr wrap="square" rtlCol="0">
            <a:spAutoFit/>
          </a:bodyPr>
          <a:lstStyle/>
          <a:p>
            <a:endParaRPr lang="en-GB" dirty="0"/>
          </a:p>
        </p:txBody>
      </p:sp>
      <p:sp>
        <p:nvSpPr>
          <p:cNvPr id="63" name="TextBox 62">
            <a:extLst>
              <a:ext uri="{FF2B5EF4-FFF2-40B4-BE49-F238E27FC236}">
                <a16:creationId xmlns:a16="http://schemas.microsoft.com/office/drawing/2014/main" id="{B49D4DB7-0FC7-43A1-0369-9B46FB59E0DB}"/>
              </a:ext>
            </a:extLst>
          </p:cNvPr>
          <p:cNvSpPr txBox="1"/>
          <p:nvPr/>
        </p:nvSpPr>
        <p:spPr>
          <a:xfrm>
            <a:off x="1133258" y="2078165"/>
            <a:ext cx="905884" cy="281549"/>
          </a:xfrm>
          <a:prstGeom prst="rect">
            <a:avLst/>
          </a:prstGeom>
          <a:noFill/>
          <a:ln>
            <a:solidFill>
              <a:schemeClr val="tx1"/>
            </a:solidFill>
          </a:ln>
        </p:spPr>
        <p:txBody>
          <a:bodyPr wrap="square" rtlCol="0">
            <a:spAutoFit/>
          </a:bodyPr>
          <a:lstStyle/>
          <a:p>
            <a:endParaRPr lang="en-GB" dirty="0"/>
          </a:p>
        </p:txBody>
      </p:sp>
      <p:sp>
        <p:nvSpPr>
          <p:cNvPr id="64" name="TextBox 63">
            <a:extLst>
              <a:ext uri="{FF2B5EF4-FFF2-40B4-BE49-F238E27FC236}">
                <a16:creationId xmlns:a16="http://schemas.microsoft.com/office/drawing/2014/main" id="{FFB08AA3-53AD-B94D-5E08-CA749F37F3BA}"/>
              </a:ext>
            </a:extLst>
          </p:cNvPr>
          <p:cNvSpPr txBox="1"/>
          <p:nvPr/>
        </p:nvSpPr>
        <p:spPr>
          <a:xfrm>
            <a:off x="1111283" y="1723168"/>
            <a:ext cx="905884" cy="281549"/>
          </a:xfrm>
          <a:prstGeom prst="rect">
            <a:avLst/>
          </a:prstGeom>
          <a:noFill/>
          <a:ln>
            <a:solidFill>
              <a:schemeClr val="tx1"/>
            </a:solidFill>
          </a:ln>
        </p:spPr>
        <p:txBody>
          <a:bodyPr wrap="square" rtlCol="0">
            <a:spAutoFit/>
          </a:bodyPr>
          <a:lstStyle/>
          <a:p>
            <a:endParaRPr lang="en-GB"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83</TotalTime>
  <Words>1663</Words>
  <Application>Microsoft Office PowerPoint</Application>
  <PresentationFormat>A4 Paper (210x297 mm)</PresentationFormat>
  <Paragraphs>228</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Century Gothic</vt:lpstr>
      <vt:lpstr>Roboto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Jaguar Land Rover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rfloyd@cidori.co.uk</dc:creator>
  <cp:lastModifiedBy>Noor Saba</cp:lastModifiedBy>
  <cp:revision>3</cp:revision>
  <dcterms:created xsi:type="dcterms:W3CDTF">2026-01-03T11:25:24Z</dcterms:created>
  <dcterms:modified xsi:type="dcterms:W3CDTF">2026-01-08T18:10:10Z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0x010100A82A3E5E3D9D9045A5F96B015EF80881</vt:lpwstr>
  </property>
  <property fmtid="{D5CDD505-2E9C-101B-9397-08002B2CF9AE}" pid="3" name="Created">
    <vt:filetime>2022-11-14T00:00:00Z</vt:filetime>
  </property>
  <property fmtid="{D5CDD505-2E9C-101B-9397-08002B2CF9AE}" pid="4" name="Creator">
    <vt:lpwstr>Acrobat PDFMaker 22 for PowerPoint</vt:lpwstr>
  </property>
  <property fmtid="{D5CDD505-2E9C-101B-9397-08002B2CF9AE}" pid="5" name="LastSaved">
    <vt:filetime>2026-01-03T00:00:00Z</vt:filetime>
  </property>
  <property fmtid="{D5CDD505-2E9C-101B-9397-08002B2CF9AE}" pid="6" name="Producer">
    <vt:lpwstr>Portico Consulting Ltd using ABCpdf</vt:lpwstr>
  </property>
</Properties>
</file>